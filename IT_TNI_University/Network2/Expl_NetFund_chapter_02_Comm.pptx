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69" roundtripDataSignature="AMtx7mhC7S0SGT8c4hwK4K05wb7iedR1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ED1DB0-2295-4FA4-8470-A42A97C32719}">
  <a:tblStyle styleId="{02ED1DB0-2295-4FA4-8470-A42A97C3271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49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DC49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4pPr>
            <a:lvl5pPr lvl="4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5pPr>
            <a:lvl6pPr lvl="5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6pPr>
            <a:lvl7pPr lvl="6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7pPr>
            <a:lvl8pPr lvl="7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8pPr>
            <a:lvl9pPr lvl="8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5"/>
          <p:cNvSpPr txBox="1"/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" type="body"/>
          </p:nvPr>
        </p:nvSpPr>
        <p:spPr>
          <a:xfrm>
            <a:off x="1524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2" type="body"/>
          </p:nvPr>
        </p:nvSpPr>
        <p:spPr>
          <a:xfrm>
            <a:off x="46482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 rot="5400000">
            <a:off x="4724400" y="2209800"/>
            <a:ext cx="63246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 rot="5400000">
            <a:off x="228600" y="76200"/>
            <a:ext cx="6324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" type="body"/>
          </p:nvPr>
        </p:nvSpPr>
        <p:spPr>
          <a:xfrm rot="5400000">
            <a:off x="2019300" y="-495300"/>
            <a:ext cx="51054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Tahoma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7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9pPr>
          </a:lstStyle>
          <a:p/>
        </p:txBody>
      </p:sp>
      <p:sp>
        <p:nvSpPr>
          <p:cNvPr id="40" name="Google Shape;40;p7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  <p:sp>
        <p:nvSpPr>
          <p:cNvPr id="48" name="Google Shape;48;p7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5"/>
          <p:cNvSpPr txBox="1"/>
          <p:nvPr>
            <p:ph idx="1" type="body"/>
          </p:nvPr>
        </p:nvSpPr>
        <p:spPr>
          <a:xfrm>
            <a:off x="1524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  <p:sp>
        <p:nvSpPr>
          <p:cNvPr id="53" name="Google Shape;53;p75"/>
          <p:cNvSpPr txBox="1"/>
          <p:nvPr>
            <p:ph idx="2" type="body"/>
          </p:nvPr>
        </p:nvSpPr>
        <p:spPr>
          <a:xfrm>
            <a:off x="4648200" y="1371600"/>
            <a:ext cx="434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1C3854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3"/>
          <p:cNvSpPr txBox="1"/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3"/>
          <p:cNvSpPr/>
          <p:nvPr/>
        </p:nvSpPr>
        <p:spPr>
          <a:xfrm>
            <a:off x="0" y="990600"/>
            <a:ext cx="9144000" cy="228600"/>
          </a:xfrm>
          <a:prstGeom prst="rect">
            <a:avLst/>
          </a:prstGeom>
          <a:gradFill>
            <a:gsLst>
              <a:gs pos="0">
                <a:srgbClr val="1C3854">
                  <a:alpha val="60000"/>
                </a:srgbClr>
              </a:gs>
              <a:gs pos="50000">
                <a:srgbClr val="DDDDDD"/>
              </a:gs>
              <a:gs pos="100000">
                <a:srgbClr val="1C3854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63"/>
          <p:cNvSpPr txBox="1"/>
          <p:nvPr/>
        </p:nvSpPr>
        <p:spPr>
          <a:xfrm>
            <a:off x="0" y="6521450"/>
            <a:ext cx="10668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CCNA1-</a:t>
            </a:r>
            <a:fld id="{00000000-1234-1234-1234-123412341234}" type="slidenum"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" name="Google Shape;14;p63"/>
          <p:cNvSpPr txBox="1"/>
          <p:nvPr/>
        </p:nvSpPr>
        <p:spPr>
          <a:xfrm>
            <a:off x="8153400" y="6553200"/>
            <a:ext cx="685800" cy="182562"/>
          </a:xfrm>
          <a:prstGeom prst="rect">
            <a:avLst/>
          </a:prstGeom>
          <a:noFill/>
          <a:ln>
            <a:noFill/>
          </a:ln>
        </p:spPr>
        <p:txBody>
          <a:bodyPr anchorCtr="1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3.jpg"/><Relationship Id="rId5" Type="http://schemas.openxmlformats.org/officeDocument/2006/relationships/image" Target="../media/image9.jpg"/><Relationship Id="rId6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Relationship Id="rId6" Type="http://schemas.openxmlformats.org/officeDocument/2006/relationships/image" Target="../media/image24.jpg"/><Relationship Id="rId7" Type="http://schemas.openxmlformats.org/officeDocument/2006/relationships/image" Target="../media/image20.jpg"/><Relationship Id="rId8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Relationship Id="rId6" Type="http://schemas.openxmlformats.org/officeDocument/2006/relationships/image" Target="../media/image24.jpg"/><Relationship Id="rId7" Type="http://schemas.openxmlformats.org/officeDocument/2006/relationships/image" Target="../media/image20.jpg"/><Relationship Id="rId8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Relationship Id="rId4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www.iso.org/" TargetMode="External"/><Relationship Id="rId4" Type="http://schemas.openxmlformats.org/officeDocument/2006/relationships/image" Target="../media/image3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Chapter 2</a:t>
            </a:r>
            <a:endParaRPr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1371600" y="38862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Communicating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 The Network</a:t>
            </a:r>
            <a:endParaRPr/>
          </a:p>
        </p:txBody>
      </p:sp>
      <p:grpSp>
        <p:nvGrpSpPr>
          <p:cNvPr id="63" name="Google Shape;63;p1"/>
          <p:cNvGrpSpPr/>
          <p:nvPr/>
        </p:nvGrpSpPr>
        <p:grpSpPr>
          <a:xfrm>
            <a:off x="2209800" y="0"/>
            <a:ext cx="4495800" cy="2362200"/>
            <a:chOff x="1200" y="0"/>
            <a:chExt cx="2832" cy="1488"/>
          </a:xfrm>
        </p:grpSpPr>
        <p:pic>
          <p:nvPicPr>
            <p:cNvPr descr="acadtrans" id="64" name="Google Shape;6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76" y="192"/>
              <a:ext cx="1056" cy="1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cclogo" id="65" name="Google Shape;6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00" y="0"/>
              <a:ext cx="1373" cy="14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Note for Instructors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15240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These presentations are the result of a collaboration among the instructors at St. Clair College in Windsor, Ontario.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Thanks must go out to Rick Graziani of Cabrillo College. His material and additional information was used as a reference in their creation.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If anyone finds any errors or omissions, please let me know at: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tdame@stclaircollege.ca.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Platform for Communications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Elements of Communication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152400" y="12954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People communicate in many different ways.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Vocal, a look, a hand signal, body language…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of the methods have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three things in common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</a:t>
            </a:r>
            <a:r>
              <a:rPr b="0" i="0" lang="en-US" sz="2400" u="none">
                <a:solidFill>
                  <a:srgbClr val="0099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the message or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sender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the message or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 a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b="0" i="0" lang="en-US" sz="2400" u="non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consists of the media that provides the pathway for the message.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Elements of Communication</a:t>
            </a:r>
            <a:endParaRPr/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152400" y="1295400"/>
            <a:ext cx="88392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Devices communicate in exactly the same way.</a:t>
            </a:r>
            <a:endParaRPr/>
          </a:p>
        </p:txBody>
      </p:sp>
      <p:pic>
        <p:nvPicPr>
          <p:cNvPr descr="Elements01"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438400"/>
            <a:ext cx="8661400" cy="2984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5"/>
          <p:cNvCxnSpPr/>
          <p:nvPr/>
        </p:nvCxnSpPr>
        <p:spPr>
          <a:xfrm>
            <a:off x="1143000" y="35814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2" name="Google Shape;92;p5"/>
          <p:cNvCxnSpPr/>
          <p:nvPr/>
        </p:nvCxnSpPr>
        <p:spPr>
          <a:xfrm flipH="1">
            <a:off x="1524000" y="3352800"/>
            <a:ext cx="533400" cy="76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3" name="Google Shape;93;p5"/>
          <p:cNvCxnSpPr/>
          <p:nvPr/>
        </p:nvCxnSpPr>
        <p:spPr>
          <a:xfrm>
            <a:off x="3276600" y="3352800"/>
            <a:ext cx="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4" name="Google Shape;94;p5"/>
          <p:cNvCxnSpPr/>
          <p:nvPr/>
        </p:nvCxnSpPr>
        <p:spPr>
          <a:xfrm>
            <a:off x="4648200" y="38100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5" name="Google Shape;95;p5"/>
          <p:cNvCxnSpPr/>
          <p:nvPr/>
        </p:nvCxnSpPr>
        <p:spPr>
          <a:xfrm>
            <a:off x="6019800" y="3352800"/>
            <a:ext cx="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6" name="Google Shape;96;p5"/>
          <p:cNvCxnSpPr/>
          <p:nvPr/>
        </p:nvCxnSpPr>
        <p:spPr>
          <a:xfrm>
            <a:off x="7010400" y="3352800"/>
            <a:ext cx="609600" cy="762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7" name="Google Shape;97;p5"/>
          <p:cNvCxnSpPr/>
          <p:nvPr/>
        </p:nvCxnSpPr>
        <p:spPr>
          <a:xfrm>
            <a:off x="8077200" y="35814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the Messages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152400" y="14478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theory, a network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communication could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 sent as one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continuous stream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1’s and 0’s.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other device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would be able to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send or receive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messages on the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same network.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Significant delays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Inefficient use of the channel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lost message entirely retransmitted.</a:t>
            </a:r>
            <a:endParaRPr/>
          </a:p>
        </p:txBody>
      </p:sp>
      <p:pic>
        <p:nvPicPr>
          <p:cNvPr descr="Elements02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1600200"/>
            <a:ext cx="5486400" cy="3490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ements03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0600" y="1619250"/>
            <a:ext cx="5461000" cy="345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the Messages</a:t>
            </a:r>
            <a:endParaRPr/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152400" y="13716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better approach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called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data stream is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divided into smaller,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more manageable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segments.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Segmentation has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two benefits: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Multiplexing:</a:t>
            </a:r>
            <a:endParaRPr/>
          </a:p>
          <a:p>
            <a:pPr indent="-341312" lvl="2" marL="131127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Different transmissions can be interleaved on the network.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the Messages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152400" y="3886200"/>
            <a:ext cx="883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Segmentation and Reliability: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Increases the reliability of network communications. 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Separate pieces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each message can travel across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different paths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destination. 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Path fails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or congested,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alternate path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can be used. 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 of the message fails to make it to the destination,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only the missing parts need to be retransmitted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Elements04"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914400"/>
            <a:ext cx="5562600" cy="300513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/>
          <p:nvPr/>
        </p:nvSpPr>
        <p:spPr>
          <a:xfrm>
            <a:off x="381000" y="1600200"/>
            <a:ext cx="2438400" cy="1590675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 switched network like the Internet.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5638800" y="1828800"/>
            <a:ext cx="457200" cy="4572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72000" y="1752600"/>
            <a:ext cx="381000" cy="381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the Messages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152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Segmentation Disadvantage: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Added level of complexity.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label is a unique sequence number.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Handled by protocols that format and address the message.</a:t>
            </a:r>
            <a:endParaRPr/>
          </a:p>
        </p:txBody>
      </p:sp>
      <p:pic>
        <p:nvPicPr>
          <p:cNvPr descr="Elements05"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990600"/>
            <a:ext cx="5600700" cy="381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Components of the Network</a:t>
            </a:r>
            <a:endParaRPr/>
          </a:p>
        </p:txBody>
      </p:sp>
      <p:pic>
        <p:nvPicPr>
          <p:cNvPr descr="Component01"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95400"/>
            <a:ext cx="8191500" cy="473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onent02" id="135" name="Google Shape;1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295400"/>
            <a:ext cx="8191500" cy="473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onent03" id="136" name="Google Shape;13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295400"/>
            <a:ext cx="8191500" cy="473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onent04" id="137" name="Google Shape;13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1295400"/>
            <a:ext cx="8191500" cy="4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End Devices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152400" y="4495800"/>
            <a:ext cx="8839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 Stations, Servers, Laptops, Printers, VoIP Phones, Security Cameras, PDAs......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device that allows us to interface with the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End devices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are referred to as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hosts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are either the source or destination of a message.</a:t>
            </a:r>
            <a:endParaRPr/>
          </a:p>
        </p:txBody>
      </p:sp>
      <p:pic>
        <p:nvPicPr>
          <p:cNvPr descr="Component05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95400"/>
            <a:ext cx="7442200" cy="31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1219200" y="19050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2362200" y="19812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828800" y="15240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219200" y="25146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752600" y="29718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6553200" y="19812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7162800" y="15240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7772400" y="19050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7772400" y="25146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7239000" y="2971800"/>
            <a:ext cx="457200" cy="533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End Devices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152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End Devices: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host can be a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client, a server or</a:t>
            </a:r>
            <a:b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software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installed on the device determines its role.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Servers: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 that enables them to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provide information and services (E-mail, Web Pages)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other hosts on the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Client: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 installed that enables them to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request and display the information obtained from the server.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descr="Component05"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3000" y="990600"/>
            <a:ext cx="5461000" cy="22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5791200" y="1143000"/>
            <a:ext cx="990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4724400" y="1524000"/>
            <a:ext cx="381000" cy="381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7772400" y="1524000"/>
            <a:ext cx="381000" cy="381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267200" y="11430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3810000" y="14478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3810000" y="19050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8153400" y="11430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4267200" y="22098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8610600" y="14478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8610600" y="19050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8229600" y="2209800"/>
            <a:ext cx="381000" cy="381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5791200" y="1524000"/>
            <a:ext cx="990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/>
          </a:p>
        </p:txBody>
      </p:sp>
      <p:pic>
        <p:nvPicPr>
          <p:cNvPr descr="old_apple" id="174" name="Google Shape;1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838200"/>
            <a:ext cx="7810500" cy="553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Intermediary Devices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52400" y="4495800"/>
            <a:ext cx="8839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Routers, Switches, Hubs, Wireless Access Points, Communication Servers, Security Devices.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device that provides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connectivity to the network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connectivity to other networks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links between network segments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Component05"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95400"/>
            <a:ext cx="7137400" cy="298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/>
          <p:nvPr/>
        </p:nvSpPr>
        <p:spPr>
          <a:xfrm>
            <a:off x="5257800" y="31242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4343400" y="27432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3352800" y="31242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4267200" y="35814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2057400" y="21336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6553200" y="2133600"/>
            <a:ext cx="762000" cy="685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Intermediary Devices</a:t>
            </a:r>
            <a:endParaRPr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152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Manage data as it flows through the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Some use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destination host address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interconnection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find the best path through the network. </a:t>
            </a:r>
            <a:endParaRPr/>
          </a:p>
        </p:txBody>
      </p:sp>
      <p:grpSp>
        <p:nvGrpSpPr>
          <p:cNvPr id="194" name="Google Shape;194;p14"/>
          <p:cNvGrpSpPr/>
          <p:nvPr/>
        </p:nvGrpSpPr>
        <p:grpSpPr>
          <a:xfrm>
            <a:off x="685800" y="2971800"/>
            <a:ext cx="1752600" cy="1701800"/>
            <a:chOff x="384" y="1872"/>
            <a:chExt cx="1104" cy="1072"/>
          </a:xfrm>
        </p:grpSpPr>
        <p:sp>
          <p:nvSpPr>
            <p:cNvPr id="195" name="Google Shape;195;p14"/>
            <p:cNvSpPr txBox="1"/>
            <p:nvPr/>
          </p:nvSpPr>
          <p:spPr>
            <a:xfrm>
              <a:off x="384" y="1872"/>
              <a:ext cx="110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Routers</a:t>
              </a:r>
              <a:endParaRPr/>
            </a:p>
          </p:txBody>
        </p:sp>
        <p:pic>
          <p:nvPicPr>
            <p:cNvPr descr="Elements08" id="196" name="Google Shape;19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" y="2160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14"/>
          <p:cNvGrpSpPr/>
          <p:nvPr/>
        </p:nvGrpSpPr>
        <p:grpSpPr>
          <a:xfrm>
            <a:off x="2667000" y="3810000"/>
            <a:ext cx="2133600" cy="1625600"/>
            <a:chOff x="1248" y="2928"/>
            <a:chExt cx="1344" cy="1024"/>
          </a:xfrm>
        </p:grpSpPr>
        <p:sp>
          <p:nvSpPr>
            <p:cNvPr id="198" name="Google Shape;198;p14"/>
            <p:cNvSpPr txBox="1"/>
            <p:nvPr/>
          </p:nvSpPr>
          <p:spPr>
            <a:xfrm>
              <a:off x="1248" y="2928"/>
              <a:ext cx="134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Access Points</a:t>
              </a:r>
              <a:endParaRPr/>
            </a:p>
          </p:txBody>
        </p:sp>
        <p:pic>
          <p:nvPicPr>
            <p:cNvPr descr="Elements09" id="199" name="Google Shape;19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2" y="3168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14"/>
          <p:cNvGrpSpPr/>
          <p:nvPr/>
        </p:nvGrpSpPr>
        <p:grpSpPr>
          <a:xfrm>
            <a:off x="4800600" y="2895600"/>
            <a:ext cx="1752600" cy="1625600"/>
            <a:chOff x="2208" y="1776"/>
            <a:chExt cx="1104" cy="1024"/>
          </a:xfrm>
        </p:grpSpPr>
        <p:sp>
          <p:nvSpPr>
            <p:cNvPr id="201" name="Google Shape;201;p14"/>
            <p:cNvSpPr txBox="1"/>
            <p:nvPr/>
          </p:nvSpPr>
          <p:spPr>
            <a:xfrm>
              <a:off x="2208" y="1776"/>
              <a:ext cx="110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Switches</a:t>
              </a:r>
              <a:endParaRPr/>
            </a:p>
          </p:txBody>
        </p:sp>
        <p:pic>
          <p:nvPicPr>
            <p:cNvPr descr="Elements10" id="202" name="Google Shape;20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56" y="2016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14"/>
          <p:cNvGrpSpPr/>
          <p:nvPr/>
        </p:nvGrpSpPr>
        <p:grpSpPr>
          <a:xfrm>
            <a:off x="914400" y="4800600"/>
            <a:ext cx="1905000" cy="1625600"/>
            <a:chOff x="240" y="2928"/>
            <a:chExt cx="1200" cy="1024"/>
          </a:xfrm>
        </p:grpSpPr>
        <p:pic>
          <p:nvPicPr>
            <p:cNvPr descr="Elements11" id="204" name="Google Shape;20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8" y="3168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4"/>
            <p:cNvSpPr txBox="1"/>
            <p:nvPr/>
          </p:nvSpPr>
          <p:spPr>
            <a:xfrm>
              <a:off x="240" y="2928"/>
              <a:ext cx="120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Hubs</a:t>
              </a:r>
              <a:endParaRPr/>
            </a:p>
          </p:txBody>
        </p:sp>
      </p:grpSp>
      <p:grpSp>
        <p:nvGrpSpPr>
          <p:cNvPr id="206" name="Google Shape;206;p14"/>
          <p:cNvGrpSpPr/>
          <p:nvPr/>
        </p:nvGrpSpPr>
        <p:grpSpPr>
          <a:xfrm>
            <a:off x="5486400" y="4800600"/>
            <a:ext cx="1905000" cy="1625600"/>
            <a:chOff x="3120" y="3072"/>
            <a:chExt cx="1200" cy="1024"/>
          </a:xfrm>
        </p:grpSpPr>
        <p:sp>
          <p:nvSpPr>
            <p:cNvPr id="207" name="Google Shape;207;p14"/>
            <p:cNvSpPr txBox="1"/>
            <p:nvPr/>
          </p:nvSpPr>
          <p:spPr>
            <a:xfrm>
              <a:off x="3120" y="3072"/>
              <a:ext cx="120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Multiplexers</a:t>
              </a:r>
              <a:endParaRPr/>
            </a:p>
          </p:txBody>
        </p:sp>
        <p:pic>
          <p:nvPicPr>
            <p:cNvPr descr="Elements12" id="208" name="Google Shape;20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16" y="3312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14"/>
          <p:cNvGrpSpPr/>
          <p:nvPr/>
        </p:nvGrpSpPr>
        <p:grpSpPr>
          <a:xfrm>
            <a:off x="6858000" y="3124200"/>
            <a:ext cx="1905000" cy="1625600"/>
            <a:chOff x="4032" y="1920"/>
            <a:chExt cx="1200" cy="1024"/>
          </a:xfrm>
        </p:grpSpPr>
        <p:sp>
          <p:nvSpPr>
            <p:cNvPr id="210" name="Google Shape;210;p14"/>
            <p:cNvSpPr txBox="1"/>
            <p:nvPr/>
          </p:nvSpPr>
          <p:spPr>
            <a:xfrm>
              <a:off x="4032" y="1920"/>
              <a:ext cx="120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Firewalls</a:t>
              </a:r>
              <a:endParaRPr/>
            </a:p>
          </p:txBody>
        </p:sp>
        <p:pic>
          <p:nvPicPr>
            <p:cNvPr descr="Elements13" id="211" name="Google Shape;211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28" y="2160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Intermediary Devices</a:t>
            </a:r>
            <a:endParaRPr/>
          </a:p>
        </p:txBody>
      </p:sp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152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Regenerate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retransmit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signals.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Maintain information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about what pathways exist through the network and internetwork.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Notify other devices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errors and communication failures.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Direct data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along alternate pathways when there is a link failure.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Classify and direct messages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according to QoS priorities.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Permit or deny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flow of data, based on security settings.</a:t>
            </a:r>
            <a:endParaRPr/>
          </a:p>
        </p:txBody>
      </p:sp>
      <p:grpSp>
        <p:nvGrpSpPr>
          <p:cNvPr id="218" name="Google Shape;218;p15"/>
          <p:cNvGrpSpPr/>
          <p:nvPr/>
        </p:nvGrpSpPr>
        <p:grpSpPr>
          <a:xfrm>
            <a:off x="228600" y="4800600"/>
            <a:ext cx="8712200" cy="1600200"/>
            <a:chOff x="192" y="2976"/>
            <a:chExt cx="5680" cy="1072"/>
          </a:xfrm>
        </p:grpSpPr>
        <p:pic>
          <p:nvPicPr>
            <p:cNvPr descr="Elements08" id="219" name="Google Shape;21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" y="3024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lements09" id="220" name="Google Shape;22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4" y="3168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lements10" id="221" name="Google Shape;22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64" y="3024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lements11" id="222" name="Google Shape;22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24" y="3264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lements12" id="223" name="Google Shape;223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84" y="2976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lements13" id="224" name="Google Shape;224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48" y="3168"/>
              <a:ext cx="1024" cy="7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/>
          </a:p>
        </p:txBody>
      </p:sp>
      <p:sp>
        <p:nvSpPr>
          <p:cNvPr id="230" name="Google Shape;230;p16"/>
          <p:cNvSpPr txBox="1"/>
          <p:nvPr>
            <p:ph idx="1" type="body"/>
          </p:nvPr>
        </p:nvSpPr>
        <p:spPr>
          <a:xfrm>
            <a:off x="152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medium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provides the channel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over which the messages travel from source to destination.</a:t>
            </a:r>
            <a:endParaRPr/>
          </a:p>
        </p:txBody>
      </p:sp>
      <p:pic>
        <p:nvPicPr>
          <p:cNvPr descr="Elements14" id="231" name="Google Shape;2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6477000" cy="45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/>
          <p:nvPr/>
        </p:nvSpPr>
        <p:spPr>
          <a:xfrm>
            <a:off x="6324600" y="2133600"/>
            <a:ext cx="205740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6880" y="-20420"/>
                </a:moveTo>
                <a:lnTo>
                  <a:pt x="4320" y="-5180"/>
                </a:lnTo>
                <a:lnTo>
                  <a:pt x="4320" y="-960"/>
                </a:lnTo>
              </a:path>
            </a:pathLst>
          </a:cu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Metallic wires within cables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152400" y="2286000"/>
            <a:ext cx="1981200" cy="80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58012" y="56658"/>
                </a:moveTo>
                <a:lnTo>
                  <a:pt x="3703" y="41497"/>
                </a:lnTo>
                <a:lnTo>
                  <a:pt x="3703" y="26917"/>
                </a:lnTo>
              </a:path>
            </a:pathLst>
          </a:cu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Glass or plastic fibers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828800" y="4876800"/>
            <a:ext cx="2438400" cy="739775"/>
          </a:xfrm>
          <a:prstGeom prst="rect">
            <a:avLst/>
          </a:pr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Wireless Transmission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152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signal encoding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that must occur is different for each type of media.</a:t>
            </a:r>
            <a:endParaRPr/>
          </a:p>
        </p:txBody>
      </p:sp>
      <p:pic>
        <p:nvPicPr>
          <p:cNvPr descr="Elements14" id="241" name="Google Shape;2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133600"/>
            <a:ext cx="6477000" cy="45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/>
          <p:nvPr/>
        </p:nvSpPr>
        <p:spPr>
          <a:xfrm>
            <a:off x="6400800" y="1752600"/>
            <a:ext cx="2057400" cy="106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28388" y="-22660"/>
                </a:moveTo>
                <a:lnTo>
                  <a:pt x="2777" y="-5660"/>
                </a:lnTo>
                <a:lnTo>
                  <a:pt x="2777" y="-960"/>
                </a:lnTo>
              </a:path>
            </a:pathLst>
          </a:cu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Electrical impulses with specific patterns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304800" y="3429000"/>
            <a:ext cx="2667000" cy="99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16283" y="40608"/>
                </a:moveTo>
                <a:lnTo>
                  <a:pt x="2990" y="33496"/>
                </a:lnTo>
                <a:lnTo>
                  <a:pt x="2990" y="26660"/>
                </a:lnTo>
              </a:path>
            </a:pathLst>
          </a:cu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Pulses of light in the infrared or visible ranges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2057400" y="4953000"/>
            <a:ext cx="3048000" cy="739775"/>
          </a:xfrm>
          <a:prstGeom prst="rect">
            <a:avLst/>
          </a:prstGeom>
          <a:solidFill>
            <a:srgbClr val="2E5C8A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Patterns of electromagnetic waves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152400" y="1295400"/>
            <a:ext cx="8839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99FF33"/>
                </a:solidFill>
                <a:latin typeface="Arial"/>
                <a:ea typeface="Arial"/>
                <a:cs typeface="Arial"/>
                <a:sym typeface="Arial"/>
              </a:rPr>
              <a:t>Different network media have different features and benefits.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99FF33"/>
                </a:solidFill>
                <a:latin typeface="Arial"/>
                <a:ea typeface="Arial"/>
                <a:cs typeface="Arial"/>
                <a:sym typeface="Arial"/>
              </a:rPr>
              <a:t>Not all network media are appropriate for the same purpose.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must make the appropriate choice to provide the proper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channel.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Distance it can carry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signal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 of the media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Installation costs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Cost of connectors and devices   </a:t>
            </a:r>
            <a:endParaRPr/>
          </a:p>
        </p:txBody>
      </p:sp>
      <p:pic>
        <p:nvPicPr>
          <p:cNvPr descr="Elements14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3048000"/>
            <a:ext cx="4343400" cy="30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LANs, WANs and Internetworks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Local Area Networks</a:t>
            </a:r>
            <a:endParaRPr/>
          </a:p>
        </p:txBody>
      </p:sp>
      <p:sp>
        <p:nvSpPr>
          <p:cNvPr id="263" name="Google Shape;263;p20"/>
          <p:cNvSpPr txBox="1"/>
          <p:nvPr>
            <p:ph idx="1" type="body"/>
          </p:nvPr>
        </p:nvSpPr>
        <p:spPr>
          <a:xfrm>
            <a:off x="152400" y="12954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individual network usually spans a single geographical area, providing services and applications to people within a common organizational structure, such as a single business, campus or region.</a:t>
            </a:r>
            <a:endParaRPr/>
          </a:p>
        </p:txBody>
      </p:sp>
      <p:pic>
        <p:nvPicPr>
          <p:cNvPr descr="LanWan01" id="264" name="Google Shape;2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895600"/>
            <a:ext cx="5842000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nWan02" id="265" name="Google Shape;2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914400"/>
            <a:ext cx="7115175" cy="53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Wide Area Networks</a:t>
            </a:r>
            <a:endParaRPr/>
          </a:p>
        </p:txBody>
      </p:sp>
      <p:sp>
        <p:nvSpPr>
          <p:cNvPr id="271" name="Google Shape;271;p21"/>
          <p:cNvSpPr txBox="1"/>
          <p:nvPr>
            <p:ph idx="1" type="body"/>
          </p:nvPr>
        </p:nvSpPr>
        <p:spPr>
          <a:xfrm>
            <a:off x="152400" y="12954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Networks that connect LANs in geographically separated locations.  Usually implemented with leased connections through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telecommunications service provider (TSP)</a:t>
            </a: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TSP traditionally transports voice and data on different networks.  Now, providers are offering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converged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network services.</a:t>
            </a:r>
            <a:endParaRPr/>
          </a:p>
        </p:txBody>
      </p:sp>
      <p:pic>
        <p:nvPicPr>
          <p:cNvPr descr="LanWan03" id="272" name="Google Shape;2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925900"/>
            <a:ext cx="7010400" cy="2627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3733800" y="4419600"/>
            <a:ext cx="175260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HDLC, PPP, T1, DS3, OC3, ISDN, Frame Relay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Internet : A Network of Networks</a:t>
            </a:r>
            <a:endParaRPr/>
          </a:p>
        </p:txBody>
      </p:sp>
      <p:sp>
        <p:nvSpPr>
          <p:cNvPr id="279" name="Google Shape;279;p22"/>
          <p:cNvSpPr txBox="1"/>
          <p:nvPr>
            <p:ph idx="1" type="body"/>
          </p:nvPr>
        </p:nvSpPr>
        <p:spPr>
          <a:xfrm>
            <a:off x="152400" y="4876800"/>
            <a:ext cx="88392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Internet Service Providers (ISPs)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connect their customers to the Internet through their network infrastructure.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Internet, then, is a collection of ISPs co-operating with each other to form one large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converged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internetwork.</a:t>
            </a:r>
            <a:endParaRPr/>
          </a:p>
        </p:txBody>
      </p:sp>
      <p:pic>
        <p:nvPicPr>
          <p:cNvPr descr="Internet01"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838200"/>
            <a:ext cx="5257800" cy="4017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02"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1143000"/>
            <a:ext cx="6934200" cy="4776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Representations</a:t>
            </a:r>
            <a:endParaRPr/>
          </a:p>
        </p:txBody>
      </p:sp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152400" y="5562600"/>
            <a:ext cx="883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Specialized terminology is used to describe how these devices and media connect to one another. </a:t>
            </a:r>
            <a:endParaRPr/>
          </a:p>
        </p:txBody>
      </p:sp>
      <p:pic>
        <p:nvPicPr>
          <p:cNvPr descr="NetRep01" id="288" name="Google Shape;2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066800"/>
            <a:ext cx="7150100" cy="437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Representations</a:t>
            </a:r>
            <a:endParaRPr/>
          </a:p>
        </p:txBody>
      </p:sp>
      <p:sp>
        <p:nvSpPr>
          <p:cNvPr id="294" name="Google Shape;294;p24"/>
          <p:cNvSpPr txBox="1"/>
          <p:nvPr>
            <p:ph idx="1" type="body"/>
          </p:nvPr>
        </p:nvSpPr>
        <p:spPr>
          <a:xfrm>
            <a:off x="228600" y="1600200"/>
            <a:ext cx="5410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Interface Card (NIC):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Provides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connection to the network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the PC or other host device. </a:t>
            </a:r>
            <a:endParaRPr/>
          </a:p>
        </p:txBody>
      </p:sp>
      <p:pic>
        <p:nvPicPr>
          <p:cNvPr descr="NetRep02" id="295" name="Google Shape;2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066800"/>
            <a:ext cx="2860675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228600" y="4038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Physical Port:</a:t>
            </a:r>
            <a:endParaRPr/>
          </a:p>
          <a:p>
            <a:pPr indent="-288924" lvl="1" marL="8556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connector or outlet on a networking device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 the media is connected to a host or other networking device.</a:t>
            </a:r>
            <a:endParaRPr/>
          </a:p>
        </p:txBody>
      </p:sp>
      <p:pic>
        <p:nvPicPr>
          <p:cNvPr descr="NetRep04" id="297" name="Google Shape;2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4114800"/>
            <a:ext cx="2743200" cy="192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Representations</a:t>
            </a:r>
            <a:endParaRPr/>
          </a:p>
        </p:txBody>
      </p:sp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228600" y="4267200"/>
            <a:ext cx="8686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Interface: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Specialized ports on an internetworking device that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connect to individual networks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are used to interconnect networks, the ports on a router are referred to as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network interfaces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pic>
        <p:nvPicPr>
          <p:cNvPr descr="NetRep03" id="304" name="Google Shape;30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73152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Rules That Govern Communications</a:t>
            </a:r>
            <a:endParaRPr/>
          </a:p>
        </p:txBody>
      </p:sp>
      <p:sp>
        <p:nvSpPr>
          <p:cNvPr id="316" name="Google Shape;316;p27"/>
          <p:cNvSpPr txBox="1"/>
          <p:nvPr>
            <p:ph idx="1" type="body"/>
          </p:nvPr>
        </p:nvSpPr>
        <p:spPr>
          <a:xfrm>
            <a:off x="228600" y="12954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Protocols: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Are the rules that govern communications.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1752600" y="2438400"/>
            <a:ext cx="6096000" cy="461962"/>
          </a:xfrm>
          <a:prstGeom prst="rect">
            <a:avLst/>
          </a:prstGeom>
          <a:solidFill>
            <a:srgbClr val="0099FF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format or structure of the message.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1219200" y="4343400"/>
            <a:ext cx="6934200" cy="860425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and when error and system messages are passed between devices.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066800" y="5486400"/>
            <a:ext cx="7391400" cy="495300"/>
          </a:xfrm>
          <a:prstGeom prst="rect">
            <a:avLst/>
          </a:prstGeom>
          <a:solidFill>
            <a:srgbClr val="29527B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setup and termination of data transfer sessions.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1143000" y="3200400"/>
            <a:ext cx="7010400" cy="860425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method by which networking devices share information about pathways with other networks.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Suites</a:t>
            </a:r>
            <a:endParaRPr/>
          </a:p>
        </p:txBody>
      </p:sp>
      <p:sp>
        <p:nvSpPr>
          <p:cNvPr id="326" name="Google Shape;326;p28"/>
          <p:cNvSpPr txBox="1"/>
          <p:nvPr>
            <p:ph idx="1" type="body"/>
          </p:nvPr>
        </p:nvSpPr>
        <p:spPr>
          <a:xfrm>
            <a:off x="228600" y="1371600"/>
            <a:ext cx="8686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Suite: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group of inter-related protocols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that are necessary to perform a communication function.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Cannot function without a set of standards that network vendors can follow.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Institute of Electrical and Electronics Engineers (IEEE): </a:t>
            </a:r>
            <a:endParaRPr/>
          </a:p>
          <a:p>
            <a:pPr indent="-341312" lvl="2" marL="13112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Develops standards in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telecommunications, information technology and power generation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1312" lvl="2" marL="13112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Examples: </a:t>
            </a:r>
            <a:r>
              <a:rPr b="0" i="0" lang="en-US" sz="2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802.3 (Ethernet), 802.11 (WLAN)</a:t>
            </a:r>
            <a:endParaRPr/>
          </a:p>
          <a:p>
            <a:pPr indent="-288924" lvl="1" marL="8556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Internet Engineering Task Force (IETF)</a:t>
            </a:r>
            <a:endParaRPr/>
          </a:p>
          <a:p>
            <a:pPr indent="-341312" lvl="2" marL="13112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Internet standards, RFCs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(Request for Comments)</a:t>
            </a:r>
            <a:endParaRPr/>
          </a:p>
          <a:p>
            <a:pPr indent="-341312" lvl="2" marL="13112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Example: TCP, IP, HTTP, FTP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ite01"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838200"/>
            <a:ext cx="6858000" cy="576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ite05" id="332" name="Google Shape;3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57400"/>
            <a:ext cx="8763000" cy="241458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Interaction of Protocols</a:t>
            </a:r>
            <a:endParaRPr/>
          </a:p>
        </p:txBody>
      </p:sp>
      <p:grpSp>
        <p:nvGrpSpPr>
          <p:cNvPr id="334" name="Google Shape;334;p29"/>
          <p:cNvGrpSpPr/>
          <p:nvPr/>
        </p:nvGrpSpPr>
        <p:grpSpPr>
          <a:xfrm>
            <a:off x="1524000" y="2209800"/>
            <a:ext cx="5257800" cy="685800"/>
            <a:chOff x="960" y="1392"/>
            <a:chExt cx="3312" cy="432"/>
          </a:xfrm>
        </p:grpSpPr>
        <p:sp>
          <p:nvSpPr>
            <p:cNvPr id="335" name="Google Shape;335;p29"/>
            <p:cNvSpPr txBox="1"/>
            <p:nvPr/>
          </p:nvSpPr>
          <p:spPr>
            <a:xfrm>
              <a:off x="1392" y="1392"/>
              <a:ext cx="2880" cy="288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29"/>
            <p:cNvCxnSpPr/>
            <p:nvPr/>
          </p:nvCxnSpPr>
          <p:spPr>
            <a:xfrm flipH="1" rot="10800000">
              <a:off x="960" y="1632"/>
              <a:ext cx="336" cy="19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37" name="Google Shape;337;p29"/>
          <p:cNvGrpSpPr/>
          <p:nvPr/>
        </p:nvGrpSpPr>
        <p:grpSpPr>
          <a:xfrm>
            <a:off x="1524000" y="2743200"/>
            <a:ext cx="5257800" cy="381000"/>
            <a:chOff x="960" y="1728"/>
            <a:chExt cx="3312" cy="240"/>
          </a:xfrm>
        </p:grpSpPr>
        <p:sp>
          <p:nvSpPr>
            <p:cNvPr id="338" name="Google Shape;338;p29"/>
            <p:cNvSpPr txBox="1"/>
            <p:nvPr/>
          </p:nvSpPr>
          <p:spPr>
            <a:xfrm>
              <a:off x="1392" y="1728"/>
              <a:ext cx="2880" cy="24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29"/>
            <p:cNvCxnSpPr/>
            <p:nvPr/>
          </p:nvCxnSpPr>
          <p:spPr>
            <a:xfrm>
              <a:off x="960" y="1872"/>
              <a:ext cx="336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40" name="Google Shape;340;p29"/>
          <p:cNvGrpSpPr/>
          <p:nvPr/>
        </p:nvGrpSpPr>
        <p:grpSpPr>
          <a:xfrm>
            <a:off x="1524000" y="3124200"/>
            <a:ext cx="5257800" cy="533400"/>
            <a:chOff x="960" y="1968"/>
            <a:chExt cx="3312" cy="336"/>
          </a:xfrm>
        </p:grpSpPr>
        <p:sp>
          <p:nvSpPr>
            <p:cNvPr id="341" name="Google Shape;341;p29"/>
            <p:cNvSpPr txBox="1"/>
            <p:nvPr/>
          </p:nvSpPr>
          <p:spPr>
            <a:xfrm>
              <a:off x="1392" y="2064"/>
              <a:ext cx="2880" cy="24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342;p29"/>
            <p:cNvCxnSpPr/>
            <p:nvPr/>
          </p:nvCxnSpPr>
          <p:spPr>
            <a:xfrm>
              <a:off x="960" y="1968"/>
              <a:ext cx="288" cy="144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43" name="Google Shape;343;p29"/>
          <p:cNvGrpSpPr/>
          <p:nvPr/>
        </p:nvGrpSpPr>
        <p:grpSpPr>
          <a:xfrm>
            <a:off x="1524000" y="3352800"/>
            <a:ext cx="5257800" cy="838200"/>
            <a:chOff x="960" y="2112"/>
            <a:chExt cx="3312" cy="528"/>
          </a:xfrm>
        </p:grpSpPr>
        <p:sp>
          <p:nvSpPr>
            <p:cNvPr id="344" name="Google Shape;344;p29"/>
            <p:cNvSpPr txBox="1"/>
            <p:nvPr/>
          </p:nvSpPr>
          <p:spPr>
            <a:xfrm>
              <a:off x="1392" y="2400"/>
              <a:ext cx="2880" cy="24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29"/>
            <p:cNvCxnSpPr/>
            <p:nvPr/>
          </p:nvCxnSpPr>
          <p:spPr>
            <a:xfrm>
              <a:off x="960" y="2112"/>
              <a:ext cx="336" cy="33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46" name="Google Shape;346;p29"/>
          <p:cNvGrpSpPr/>
          <p:nvPr/>
        </p:nvGrpSpPr>
        <p:grpSpPr>
          <a:xfrm>
            <a:off x="2209800" y="2209800"/>
            <a:ext cx="5257800" cy="685800"/>
            <a:chOff x="1392" y="1392"/>
            <a:chExt cx="3312" cy="432"/>
          </a:xfrm>
        </p:grpSpPr>
        <p:sp>
          <p:nvSpPr>
            <p:cNvPr id="347" name="Google Shape;347;p29"/>
            <p:cNvSpPr txBox="1"/>
            <p:nvPr/>
          </p:nvSpPr>
          <p:spPr>
            <a:xfrm>
              <a:off x="1392" y="1392"/>
              <a:ext cx="2880" cy="288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29"/>
            <p:cNvCxnSpPr/>
            <p:nvPr/>
          </p:nvCxnSpPr>
          <p:spPr>
            <a:xfrm rot="10800000">
              <a:off x="4368" y="1584"/>
              <a:ext cx="336" cy="24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49" name="Google Shape;349;p29"/>
          <p:cNvGrpSpPr/>
          <p:nvPr/>
        </p:nvGrpSpPr>
        <p:grpSpPr>
          <a:xfrm>
            <a:off x="2209800" y="2743200"/>
            <a:ext cx="5257800" cy="381000"/>
            <a:chOff x="1392" y="1728"/>
            <a:chExt cx="3312" cy="240"/>
          </a:xfrm>
        </p:grpSpPr>
        <p:sp>
          <p:nvSpPr>
            <p:cNvPr id="350" name="Google Shape;350;p29"/>
            <p:cNvSpPr txBox="1"/>
            <p:nvPr/>
          </p:nvSpPr>
          <p:spPr>
            <a:xfrm>
              <a:off x="1392" y="1728"/>
              <a:ext cx="2880" cy="24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1" name="Google Shape;351;p29"/>
            <p:cNvCxnSpPr/>
            <p:nvPr/>
          </p:nvCxnSpPr>
          <p:spPr>
            <a:xfrm rot="10800000">
              <a:off x="4368" y="1872"/>
              <a:ext cx="336" cy="96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52" name="Google Shape;352;p29"/>
          <p:cNvGrpSpPr/>
          <p:nvPr/>
        </p:nvGrpSpPr>
        <p:grpSpPr>
          <a:xfrm>
            <a:off x="2209800" y="3276600"/>
            <a:ext cx="5257800" cy="381000"/>
            <a:chOff x="1392" y="1728"/>
            <a:chExt cx="3312" cy="240"/>
          </a:xfrm>
        </p:grpSpPr>
        <p:sp>
          <p:nvSpPr>
            <p:cNvPr id="353" name="Google Shape;353;p29"/>
            <p:cNvSpPr txBox="1"/>
            <p:nvPr/>
          </p:nvSpPr>
          <p:spPr>
            <a:xfrm>
              <a:off x="1392" y="1728"/>
              <a:ext cx="2880" cy="24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4" name="Google Shape;354;p29"/>
            <p:cNvCxnSpPr/>
            <p:nvPr/>
          </p:nvCxnSpPr>
          <p:spPr>
            <a:xfrm rot="10800000">
              <a:off x="4368" y="1824"/>
              <a:ext cx="336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55" name="Google Shape;355;p29"/>
          <p:cNvGrpSpPr/>
          <p:nvPr/>
        </p:nvGrpSpPr>
        <p:grpSpPr>
          <a:xfrm>
            <a:off x="2209800" y="3657600"/>
            <a:ext cx="5181600" cy="533400"/>
            <a:chOff x="1392" y="2304"/>
            <a:chExt cx="3264" cy="336"/>
          </a:xfrm>
        </p:grpSpPr>
        <p:sp>
          <p:nvSpPr>
            <p:cNvPr id="356" name="Google Shape;356;p29"/>
            <p:cNvSpPr txBox="1"/>
            <p:nvPr/>
          </p:nvSpPr>
          <p:spPr>
            <a:xfrm>
              <a:off x="1392" y="2400"/>
              <a:ext cx="2880" cy="24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7" name="Google Shape;357;p29"/>
            <p:cNvCxnSpPr/>
            <p:nvPr/>
          </p:nvCxnSpPr>
          <p:spPr>
            <a:xfrm flipH="1">
              <a:off x="4368" y="2304"/>
              <a:ext cx="288" cy="144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358" name="Google Shape;358;p29"/>
          <p:cNvGrpSpPr/>
          <p:nvPr/>
        </p:nvGrpSpPr>
        <p:grpSpPr>
          <a:xfrm>
            <a:off x="1066800" y="2286000"/>
            <a:ext cx="7467600" cy="3702050"/>
            <a:chOff x="672" y="1440"/>
            <a:chExt cx="4704" cy="2332"/>
          </a:xfrm>
        </p:grpSpPr>
        <p:sp>
          <p:nvSpPr>
            <p:cNvPr id="359" name="Google Shape;359;p29"/>
            <p:cNvSpPr txBox="1"/>
            <p:nvPr/>
          </p:nvSpPr>
          <p:spPr>
            <a:xfrm>
              <a:off x="672" y="3024"/>
              <a:ext cx="4704" cy="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Each protocol at each layer of the</a:t>
              </a:r>
              <a:b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protocol suite work together to make sure messages are received and understood by both devices.</a:t>
              </a:r>
              <a:endParaRPr/>
            </a:p>
          </p:txBody>
        </p:sp>
        <p:cxnSp>
          <p:nvCxnSpPr>
            <p:cNvPr id="360" name="Google Shape;360;p29"/>
            <p:cNvCxnSpPr/>
            <p:nvPr/>
          </p:nvCxnSpPr>
          <p:spPr>
            <a:xfrm>
              <a:off x="1104" y="1440"/>
              <a:ext cx="0" cy="124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61" name="Google Shape;361;p29"/>
            <p:cNvCxnSpPr/>
            <p:nvPr/>
          </p:nvCxnSpPr>
          <p:spPr>
            <a:xfrm rot="10800000">
              <a:off x="4512" y="1440"/>
              <a:ext cx="0" cy="1248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Technology Independent Protocols</a:t>
            </a:r>
            <a:endParaRPr/>
          </a:p>
        </p:txBody>
      </p:sp>
      <p:sp>
        <p:nvSpPr>
          <p:cNvPr id="367" name="Google Shape;367;p30"/>
          <p:cNvSpPr txBox="1"/>
          <p:nvPr>
            <p:ph idx="1" type="body"/>
          </p:nvPr>
        </p:nvSpPr>
        <p:spPr>
          <a:xfrm>
            <a:off x="228600" y="5105400"/>
            <a:ext cx="8686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Protocols are not dependent upon any specific technology.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describe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must be done to communicate but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 how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its is to be carried out.</a:t>
            </a:r>
            <a:endParaRPr/>
          </a:p>
        </p:txBody>
      </p:sp>
      <p:pic>
        <p:nvPicPr>
          <p:cNvPr descr="suite04" id="368" name="Google Shape;3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90600"/>
            <a:ext cx="6781800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374" name="Google Shape;374;p31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Layered Models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Layered Models</a:t>
            </a:r>
            <a:endParaRPr/>
          </a:p>
        </p:txBody>
      </p:sp>
      <p:sp>
        <p:nvSpPr>
          <p:cNvPr id="380" name="Google Shape;380;p32"/>
          <p:cNvSpPr txBox="1"/>
          <p:nvPr>
            <p:ph idx="1" type="body"/>
          </p:nvPr>
        </p:nvSpPr>
        <p:spPr>
          <a:xfrm>
            <a:off x="228600" y="58674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Layered models separate the functions of specific protocols.</a:t>
            </a:r>
            <a:endParaRPr/>
          </a:p>
        </p:txBody>
      </p:sp>
      <p:pic>
        <p:nvPicPr>
          <p:cNvPr descr="OSI01"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14400"/>
            <a:ext cx="8458200" cy="49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Benefits of a Layered Model</a:t>
            </a:r>
            <a:endParaRPr/>
          </a:p>
        </p:txBody>
      </p:sp>
      <p:sp>
        <p:nvSpPr>
          <p:cNvPr id="387" name="Google Shape;387;p33"/>
          <p:cNvSpPr txBox="1"/>
          <p:nvPr>
            <p:ph idx="1" type="body"/>
          </p:nvPr>
        </p:nvSpPr>
        <p:spPr>
          <a:xfrm>
            <a:off x="228600" y="1371600"/>
            <a:ext cx="8686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Benefits of a Layered Model: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defined information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that they act upon and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defined interface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the layers above and below.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Fosters competition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because products from different vendors can work together.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Prevents technology or capability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changes in one layer from affecting other layers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above and below.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Provides a common language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describe networking functions and capabilities.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and Reference Models</a:t>
            </a:r>
            <a:endParaRPr/>
          </a:p>
        </p:txBody>
      </p:sp>
      <p:sp>
        <p:nvSpPr>
          <p:cNvPr id="393" name="Google Shape;393;p34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Model: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Closely matches the structure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particular protocol suite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set of related protocols in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suite typically represents all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functionality required to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interface the human network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the data network.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TCP/IP model is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because it describes the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functions that occur at each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layer of protocols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within the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TCP/IP suite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OSI03" id="394" name="Google Shape;3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676400"/>
            <a:ext cx="297815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SI02" id="399" name="Google Shape;3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752600"/>
            <a:ext cx="2874962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and Reference Models</a:t>
            </a:r>
            <a:endParaRPr/>
          </a:p>
        </p:txBody>
      </p:sp>
      <p:sp>
        <p:nvSpPr>
          <p:cNvPr id="401" name="Google Shape;401;p35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Reference Model: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Provides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common reference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maintaining consistency within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all types of network protocols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services.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intended to be an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implementation specification.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purpose is to aid in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clearer understanding of the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functions and process involved.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TCP/IP Model</a:t>
            </a:r>
            <a:endParaRPr/>
          </a:p>
        </p:txBody>
      </p:sp>
      <p:sp>
        <p:nvSpPr>
          <p:cNvPr id="407" name="Google Shape;407;p36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Standard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one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company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controls it.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Governed by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IETF</a:t>
            </a: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Groups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Standards proposed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Request for Comments (RFCs)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model04" id="408" name="Google Shape;4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1371600"/>
            <a:ext cx="6172200" cy="38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Request For Comments RFC</a:t>
            </a:r>
            <a:endParaRPr/>
          </a:p>
        </p:txBody>
      </p:sp>
      <p:pic>
        <p:nvPicPr>
          <p:cNvPr descr="model05" id="414" name="Google Shape;4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762000"/>
            <a:ext cx="8153400" cy="591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Communication Process</a:t>
            </a:r>
            <a:endParaRPr/>
          </a:p>
        </p:txBody>
      </p:sp>
      <p:pic>
        <p:nvPicPr>
          <p:cNvPr descr="model06" id="420" name="Google Shape;4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447800"/>
            <a:ext cx="45085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/>
          <p:nvPr/>
        </p:nvSpPr>
        <p:spPr>
          <a:xfrm>
            <a:off x="4038600" y="1752600"/>
            <a:ext cx="990600" cy="304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D0808"/>
              </a:gs>
              <a:gs pos="14999">
                <a:srgbClr val="FF0300"/>
              </a:gs>
              <a:gs pos="27498">
                <a:srgbClr val="FF7A00"/>
              </a:gs>
              <a:gs pos="50000">
                <a:srgbClr val="FFF200"/>
              </a:gs>
              <a:gs pos="72500">
                <a:srgbClr val="FF7A00"/>
              </a:gs>
              <a:gs pos="85000">
                <a:srgbClr val="FF0300"/>
              </a:gs>
              <a:gs pos="100000">
                <a:srgbClr val="4D0808"/>
              </a:gs>
            </a:gsLst>
            <a:lin ang="0" scaled="0"/>
          </a:gradFill>
          <a:ln cap="flat" cmpd="sng" w="38100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38"/>
          <p:cNvGrpSpPr/>
          <p:nvPr/>
        </p:nvGrpSpPr>
        <p:grpSpPr>
          <a:xfrm>
            <a:off x="457200" y="3200400"/>
            <a:ext cx="2286000" cy="914400"/>
            <a:chOff x="288" y="2016"/>
            <a:chExt cx="1440" cy="576"/>
          </a:xfrm>
        </p:grpSpPr>
        <p:cxnSp>
          <p:nvCxnSpPr>
            <p:cNvPr id="423" name="Google Shape;423;p38"/>
            <p:cNvCxnSpPr/>
            <p:nvPr/>
          </p:nvCxnSpPr>
          <p:spPr>
            <a:xfrm>
              <a:off x="1296" y="2304"/>
              <a:ext cx="432" cy="288"/>
            </a:xfrm>
            <a:prstGeom prst="straightConnector1">
              <a:avLst/>
            </a:prstGeom>
            <a:noFill/>
            <a:ln cap="flat" cmpd="sng" w="57150">
              <a:solidFill>
                <a:srgbClr val="00FF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24" name="Google Shape;424;p38"/>
            <p:cNvCxnSpPr/>
            <p:nvPr/>
          </p:nvCxnSpPr>
          <p:spPr>
            <a:xfrm flipH="1" rot="10800000">
              <a:off x="1296" y="2112"/>
              <a:ext cx="432" cy="96"/>
            </a:xfrm>
            <a:prstGeom prst="straightConnector1">
              <a:avLst/>
            </a:prstGeom>
            <a:noFill/>
            <a:ln cap="flat" cmpd="sng" w="57150">
              <a:solidFill>
                <a:srgbClr val="00FF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25" name="Google Shape;425;p38"/>
            <p:cNvSpPr txBox="1"/>
            <p:nvPr/>
          </p:nvSpPr>
          <p:spPr>
            <a:xfrm>
              <a:off x="288" y="2016"/>
              <a:ext cx="1104" cy="466"/>
            </a:xfrm>
            <a:prstGeom prst="rect">
              <a:avLst/>
            </a:prstGeom>
            <a:solidFill>
              <a:srgbClr val="006600"/>
            </a:solidFill>
            <a:ln cap="flat" cmpd="sng" w="38100">
              <a:solidFill>
                <a:srgbClr val="00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Segment and Encapsulate</a:t>
              </a:r>
              <a:endParaRPr/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533400" y="4572000"/>
            <a:ext cx="2209800" cy="739775"/>
            <a:chOff x="336" y="2880"/>
            <a:chExt cx="1392" cy="466"/>
          </a:xfrm>
        </p:grpSpPr>
        <p:cxnSp>
          <p:nvCxnSpPr>
            <p:cNvPr id="427" name="Google Shape;427;p38"/>
            <p:cNvCxnSpPr/>
            <p:nvPr/>
          </p:nvCxnSpPr>
          <p:spPr>
            <a:xfrm>
              <a:off x="1296" y="3120"/>
              <a:ext cx="432" cy="0"/>
            </a:xfrm>
            <a:prstGeom prst="straightConnector1">
              <a:avLst/>
            </a:prstGeom>
            <a:noFill/>
            <a:ln cap="flat" cmpd="sng" w="57150">
              <a:solidFill>
                <a:srgbClr val="00FF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28" name="Google Shape;428;p38"/>
            <p:cNvSpPr txBox="1"/>
            <p:nvPr/>
          </p:nvSpPr>
          <p:spPr>
            <a:xfrm>
              <a:off x="336" y="2880"/>
              <a:ext cx="1056" cy="466"/>
            </a:xfrm>
            <a:prstGeom prst="rect">
              <a:avLst/>
            </a:prstGeom>
            <a:solidFill>
              <a:srgbClr val="006600"/>
            </a:solidFill>
            <a:ln cap="flat" cmpd="sng" w="38100">
              <a:solidFill>
                <a:srgbClr val="00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Generate on to the media</a:t>
              </a:r>
              <a:endParaRPr/>
            </a:p>
          </p:txBody>
        </p:sp>
      </p:grpSp>
      <p:grpSp>
        <p:nvGrpSpPr>
          <p:cNvPr id="429" name="Google Shape;429;p38"/>
          <p:cNvGrpSpPr/>
          <p:nvPr/>
        </p:nvGrpSpPr>
        <p:grpSpPr>
          <a:xfrm>
            <a:off x="533400" y="2133600"/>
            <a:ext cx="2209800" cy="434975"/>
            <a:chOff x="336" y="1344"/>
            <a:chExt cx="1392" cy="274"/>
          </a:xfrm>
        </p:grpSpPr>
        <p:cxnSp>
          <p:nvCxnSpPr>
            <p:cNvPr id="430" name="Google Shape;430;p38"/>
            <p:cNvCxnSpPr/>
            <p:nvPr/>
          </p:nvCxnSpPr>
          <p:spPr>
            <a:xfrm>
              <a:off x="1296" y="1488"/>
              <a:ext cx="432" cy="0"/>
            </a:xfrm>
            <a:prstGeom prst="straightConnector1">
              <a:avLst/>
            </a:prstGeom>
            <a:noFill/>
            <a:ln cap="flat" cmpd="sng" w="57150">
              <a:solidFill>
                <a:srgbClr val="00FF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31" name="Google Shape;431;p38"/>
            <p:cNvSpPr txBox="1"/>
            <p:nvPr/>
          </p:nvSpPr>
          <p:spPr>
            <a:xfrm>
              <a:off x="336" y="1344"/>
              <a:ext cx="1056" cy="274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rgbClr val="00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Create Data</a:t>
              </a:r>
              <a:endParaRPr/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2667000" y="5791200"/>
            <a:ext cx="3886200" cy="815975"/>
            <a:chOff x="1680" y="3648"/>
            <a:chExt cx="2448" cy="514"/>
          </a:xfrm>
        </p:grpSpPr>
        <p:sp>
          <p:nvSpPr>
            <p:cNvPr id="433" name="Google Shape;433;p38"/>
            <p:cNvSpPr txBox="1"/>
            <p:nvPr/>
          </p:nvSpPr>
          <p:spPr>
            <a:xfrm>
              <a:off x="1680" y="3888"/>
              <a:ext cx="2448" cy="274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00C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Transport through the segment</a:t>
              </a:r>
              <a:endParaRPr/>
            </a:p>
          </p:txBody>
        </p:sp>
        <p:cxnSp>
          <p:nvCxnSpPr>
            <p:cNvPr id="434" name="Google Shape;434;p38"/>
            <p:cNvCxnSpPr/>
            <p:nvPr/>
          </p:nvCxnSpPr>
          <p:spPr>
            <a:xfrm rot="10800000">
              <a:off x="2880" y="3648"/>
              <a:ext cx="0" cy="240"/>
            </a:xfrm>
            <a:prstGeom prst="straightConnector1">
              <a:avLst/>
            </a:prstGeom>
            <a:noFill/>
            <a:ln cap="flat" cmpd="sng" w="57150">
              <a:solidFill>
                <a:srgbClr val="00CCFF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35" name="Google Shape;435;p38"/>
          <p:cNvGrpSpPr/>
          <p:nvPr/>
        </p:nvGrpSpPr>
        <p:grpSpPr>
          <a:xfrm>
            <a:off x="6324600" y="2057400"/>
            <a:ext cx="2209800" cy="739775"/>
            <a:chOff x="3984" y="1296"/>
            <a:chExt cx="1392" cy="466"/>
          </a:xfrm>
        </p:grpSpPr>
        <p:cxnSp>
          <p:nvCxnSpPr>
            <p:cNvPr id="436" name="Google Shape;436;p38"/>
            <p:cNvCxnSpPr/>
            <p:nvPr/>
          </p:nvCxnSpPr>
          <p:spPr>
            <a:xfrm rot="10800000">
              <a:off x="3984" y="1536"/>
              <a:ext cx="384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37" name="Google Shape;437;p38"/>
            <p:cNvSpPr txBox="1"/>
            <p:nvPr/>
          </p:nvSpPr>
          <p:spPr>
            <a:xfrm>
              <a:off x="4320" y="1296"/>
              <a:ext cx="1056" cy="466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Pass data to application</a:t>
              </a:r>
              <a:endParaRPr/>
            </a:p>
          </p:txBody>
        </p:sp>
      </p:grpSp>
      <p:grpSp>
        <p:nvGrpSpPr>
          <p:cNvPr id="438" name="Google Shape;438;p38"/>
          <p:cNvGrpSpPr/>
          <p:nvPr/>
        </p:nvGrpSpPr>
        <p:grpSpPr>
          <a:xfrm>
            <a:off x="6324600" y="4648200"/>
            <a:ext cx="2286000" cy="739775"/>
            <a:chOff x="3984" y="2928"/>
            <a:chExt cx="1488" cy="466"/>
          </a:xfrm>
        </p:grpSpPr>
        <p:cxnSp>
          <p:nvCxnSpPr>
            <p:cNvPr id="439" name="Google Shape;439;p38"/>
            <p:cNvCxnSpPr/>
            <p:nvPr/>
          </p:nvCxnSpPr>
          <p:spPr>
            <a:xfrm rot="10800000">
              <a:off x="3984" y="3168"/>
              <a:ext cx="384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40" name="Google Shape;440;p38"/>
            <p:cNvSpPr txBox="1"/>
            <p:nvPr/>
          </p:nvSpPr>
          <p:spPr>
            <a:xfrm>
              <a:off x="4320" y="2928"/>
              <a:ext cx="1152" cy="466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Receive from the media</a:t>
              </a:r>
              <a:endParaRPr/>
            </a:p>
          </p:txBody>
        </p:sp>
      </p:grpSp>
      <p:grpSp>
        <p:nvGrpSpPr>
          <p:cNvPr id="441" name="Google Shape;441;p38"/>
          <p:cNvGrpSpPr/>
          <p:nvPr/>
        </p:nvGrpSpPr>
        <p:grpSpPr>
          <a:xfrm>
            <a:off x="6324600" y="3276600"/>
            <a:ext cx="2667000" cy="838200"/>
            <a:chOff x="3984" y="2064"/>
            <a:chExt cx="1680" cy="528"/>
          </a:xfrm>
        </p:grpSpPr>
        <p:cxnSp>
          <p:nvCxnSpPr>
            <p:cNvPr id="442" name="Google Shape;442;p38"/>
            <p:cNvCxnSpPr/>
            <p:nvPr/>
          </p:nvCxnSpPr>
          <p:spPr>
            <a:xfrm flipH="1">
              <a:off x="4032" y="2400"/>
              <a:ext cx="384" cy="19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443" name="Google Shape;443;p38"/>
            <p:cNvCxnSpPr/>
            <p:nvPr/>
          </p:nvCxnSpPr>
          <p:spPr>
            <a:xfrm rot="10800000">
              <a:off x="3984" y="2112"/>
              <a:ext cx="384" cy="14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444" name="Google Shape;444;p38"/>
            <p:cNvSpPr txBox="1"/>
            <p:nvPr/>
          </p:nvSpPr>
          <p:spPr>
            <a:xfrm>
              <a:off x="4320" y="2064"/>
              <a:ext cx="1344" cy="466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Decapsulate and Reassemble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Data Units and Encapsulation</a:t>
            </a:r>
            <a:endParaRPr/>
          </a:p>
        </p:txBody>
      </p:sp>
      <p:sp>
        <p:nvSpPr>
          <p:cNvPr id="450" name="Google Shape;450;p39"/>
          <p:cNvSpPr txBox="1"/>
          <p:nvPr/>
        </p:nvSpPr>
        <p:spPr>
          <a:xfrm>
            <a:off x="5562600" y="3810000"/>
            <a:ext cx="1295400" cy="465137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1" name="Google Shape;451;p39"/>
          <p:cNvSpPr txBox="1"/>
          <p:nvPr/>
        </p:nvSpPr>
        <p:spPr>
          <a:xfrm>
            <a:off x="4267200" y="4572000"/>
            <a:ext cx="1295400" cy="465137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2" name="Google Shape;452;p39"/>
          <p:cNvSpPr txBox="1"/>
          <p:nvPr/>
        </p:nvSpPr>
        <p:spPr>
          <a:xfrm>
            <a:off x="5562600" y="4572000"/>
            <a:ext cx="2362200" cy="465137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453" name="Google Shape;453;p39"/>
          <p:cNvSpPr txBox="1"/>
          <p:nvPr/>
        </p:nvSpPr>
        <p:spPr>
          <a:xfrm>
            <a:off x="2971800" y="5410200"/>
            <a:ext cx="1295400" cy="465137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54" name="Google Shape;454;p39"/>
          <p:cNvSpPr txBox="1"/>
          <p:nvPr/>
        </p:nvSpPr>
        <p:spPr>
          <a:xfrm>
            <a:off x="7924800" y="5410200"/>
            <a:ext cx="1066800" cy="465137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pic>
        <p:nvPicPr>
          <p:cNvPr descr="model03" id="455" name="Google Shape;4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81200"/>
            <a:ext cx="2657475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39"/>
          <p:cNvGrpSpPr/>
          <p:nvPr/>
        </p:nvGrpSpPr>
        <p:grpSpPr>
          <a:xfrm>
            <a:off x="2286000" y="2133600"/>
            <a:ext cx="5638800" cy="914400"/>
            <a:chOff x="1440" y="1344"/>
            <a:chExt cx="3552" cy="576"/>
          </a:xfrm>
        </p:grpSpPr>
        <p:sp>
          <p:nvSpPr>
            <p:cNvPr id="457" name="Google Shape;457;p39"/>
            <p:cNvSpPr txBox="1"/>
            <p:nvPr/>
          </p:nvSpPr>
          <p:spPr>
            <a:xfrm>
              <a:off x="2880" y="1344"/>
              <a:ext cx="211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Email Message</a:t>
              </a:r>
              <a:endParaRPr/>
            </a:p>
          </p:txBody>
        </p:sp>
        <p:cxnSp>
          <p:nvCxnSpPr>
            <p:cNvPr id="458" name="Google Shape;458;p39"/>
            <p:cNvCxnSpPr/>
            <p:nvPr/>
          </p:nvCxnSpPr>
          <p:spPr>
            <a:xfrm flipH="1" rot="10800000">
              <a:off x="1440" y="1536"/>
              <a:ext cx="1296" cy="38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59" name="Google Shape;459;p39"/>
          <p:cNvGrpSpPr/>
          <p:nvPr/>
        </p:nvGrpSpPr>
        <p:grpSpPr>
          <a:xfrm>
            <a:off x="2286000" y="2971800"/>
            <a:ext cx="5638800" cy="914400"/>
            <a:chOff x="1440" y="1872"/>
            <a:chExt cx="3552" cy="576"/>
          </a:xfrm>
        </p:grpSpPr>
        <p:sp>
          <p:nvSpPr>
            <p:cNvPr id="460" name="Google Shape;460;p39"/>
            <p:cNvSpPr txBox="1"/>
            <p:nvPr/>
          </p:nvSpPr>
          <p:spPr>
            <a:xfrm>
              <a:off x="288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461" name="Google Shape;461;p39"/>
            <p:cNvSpPr txBox="1"/>
            <p:nvPr/>
          </p:nvSpPr>
          <p:spPr>
            <a:xfrm>
              <a:off x="360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462" name="Google Shape;462;p39"/>
            <p:cNvSpPr txBox="1"/>
            <p:nvPr/>
          </p:nvSpPr>
          <p:spPr>
            <a:xfrm>
              <a:off x="432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63" name="Google Shape;463;p39"/>
            <p:cNvCxnSpPr/>
            <p:nvPr/>
          </p:nvCxnSpPr>
          <p:spPr>
            <a:xfrm flipH="1" rot="10800000">
              <a:off x="1440" y="2064"/>
              <a:ext cx="1296" cy="38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64" name="Google Shape;464;p39"/>
          <p:cNvGrpSpPr/>
          <p:nvPr/>
        </p:nvGrpSpPr>
        <p:grpSpPr>
          <a:xfrm>
            <a:off x="2286000" y="3810000"/>
            <a:ext cx="5638800" cy="465137"/>
            <a:chOff x="1440" y="2400"/>
            <a:chExt cx="3552" cy="293"/>
          </a:xfrm>
        </p:grpSpPr>
        <p:sp>
          <p:nvSpPr>
            <p:cNvPr id="465" name="Google Shape;465;p39"/>
            <p:cNvSpPr txBox="1"/>
            <p:nvPr/>
          </p:nvSpPr>
          <p:spPr>
            <a:xfrm>
              <a:off x="4320" y="2400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66" name="Google Shape;466;p39"/>
            <p:cNvCxnSpPr/>
            <p:nvPr/>
          </p:nvCxnSpPr>
          <p:spPr>
            <a:xfrm flipH="1" rot="10800000">
              <a:off x="1440" y="2496"/>
              <a:ext cx="1968" cy="4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cxnSp>
        <p:nvCxnSpPr>
          <p:cNvPr id="467" name="Google Shape;467;p39"/>
          <p:cNvCxnSpPr/>
          <p:nvPr/>
        </p:nvCxnSpPr>
        <p:spPr>
          <a:xfrm>
            <a:off x="2133600" y="4495800"/>
            <a:ext cx="1905000" cy="2286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468" name="Google Shape;468;p39"/>
          <p:cNvGrpSpPr/>
          <p:nvPr/>
        </p:nvGrpSpPr>
        <p:grpSpPr>
          <a:xfrm>
            <a:off x="2133600" y="5181600"/>
            <a:ext cx="5791200" cy="693737"/>
            <a:chOff x="1344" y="3264"/>
            <a:chExt cx="3648" cy="437"/>
          </a:xfrm>
        </p:grpSpPr>
        <p:sp>
          <p:nvSpPr>
            <p:cNvPr id="469" name="Google Shape;469;p39"/>
            <p:cNvSpPr txBox="1"/>
            <p:nvPr/>
          </p:nvSpPr>
          <p:spPr>
            <a:xfrm>
              <a:off x="2688" y="3408"/>
              <a:ext cx="2304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70" name="Google Shape;470;p39"/>
            <p:cNvCxnSpPr/>
            <p:nvPr/>
          </p:nvCxnSpPr>
          <p:spPr>
            <a:xfrm>
              <a:off x="1344" y="3264"/>
              <a:ext cx="480" cy="28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471" name="Google Shape;471;p39"/>
          <p:cNvSpPr txBox="1"/>
          <p:nvPr/>
        </p:nvSpPr>
        <p:spPr>
          <a:xfrm>
            <a:off x="2743200" y="6019800"/>
            <a:ext cx="5867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0010100111011001010000011111010100010101</a:t>
            </a:r>
            <a:endParaRPr/>
          </a:p>
        </p:txBody>
      </p:sp>
      <p:sp>
        <p:nvSpPr>
          <p:cNvPr id="472" name="Google Shape;472;p39"/>
          <p:cNvSpPr txBox="1"/>
          <p:nvPr/>
        </p:nvSpPr>
        <p:spPr>
          <a:xfrm>
            <a:off x="2209800" y="129540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Segmentation and Encapsulation</a:t>
            </a:r>
            <a:endParaRPr/>
          </a:p>
        </p:txBody>
      </p:sp>
      <p:sp>
        <p:nvSpPr>
          <p:cNvPr id="473" name="Google Shape;473;p39"/>
          <p:cNvSpPr/>
          <p:nvPr/>
        </p:nvSpPr>
        <p:spPr>
          <a:xfrm>
            <a:off x="304800" y="2209800"/>
            <a:ext cx="381000" cy="3276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CC0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Data Units and Encapsulation</a:t>
            </a:r>
            <a:endParaRPr/>
          </a:p>
        </p:txBody>
      </p:sp>
      <p:sp>
        <p:nvSpPr>
          <p:cNvPr id="479" name="Google Shape;479;p40"/>
          <p:cNvSpPr txBox="1"/>
          <p:nvPr/>
        </p:nvSpPr>
        <p:spPr>
          <a:xfrm>
            <a:off x="5562600" y="3810000"/>
            <a:ext cx="1295400" cy="465137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80" name="Google Shape;480;p40"/>
          <p:cNvSpPr txBox="1"/>
          <p:nvPr/>
        </p:nvSpPr>
        <p:spPr>
          <a:xfrm>
            <a:off x="4267200" y="4572000"/>
            <a:ext cx="1295400" cy="465137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81" name="Google Shape;481;p40"/>
          <p:cNvSpPr txBox="1"/>
          <p:nvPr/>
        </p:nvSpPr>
        <p:spPr>
          <a:xfrm>
            <a:off x="2971800" y="5410200"/>
            <a:ext cx="1295400" cy="465137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482" name="Google Shape;482;p40"/>
          <p:cNvSpPr txBox="1"/>
          <p:nvPr/>
        </p:nvSpPr>
        <p:spPr>
          <a:xfrm>
            <a:off x="7924800" y="5410200"/>
            <a:ext cx="1066800" cy="465137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pic>
        <p:nvPicPr>
          <p:cNvPr descr="model03" id="483" name="Google Shape;4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81200"/>
            <a:ext cx="2657475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40"/>
          <p:cNvGrpSpPr/>
          <p:nvPr/>
        </p:nvGrpSpPr>
        <p:grpSpPr>
          <a:xfrm>
            <a:off x="2286000" y="2133600"/>
            <a:ext cx="5638800" cy="914400"/>
            <a:chOff x="1440" y="1344"/>
            <a:chExt cx="3552" cy="576"/>
          </a:xfrm>
        </p:grpSpPr>
        <p:sp>
          <p:nvSpPr>
            <p:cNvPr id="485" name="Google Shape;485;p40"/>
            <p:cNvSpPr txBox="1"/>
            <p:nvPr/>
          </p:nvSpPr>
          <p:spPr>
            <a:xfrm>
              <a:off x="2880" y="1344"/>
              <a:ext cx="211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Email Message</a:t>
              </a:r>
              <a:endParaRPr/>
            </a:p>
          </p:txBody>
        </p:sp>
        <p:cxnSp>
          <p:nvCxnSpPr>
            <p:cNvPr id="486" name="Google Shape;486;p40"/>
            <p:cNvCxnSpPr/>
            <p:nvPr/>
          </p:nvCxnSpPr>
          <p:spPr>
            <a:xfrm flipH="1" rot="10800000">
              <a:off x="1440" y="1536"/>
              <a:ext cx="1296" cy="38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87" name="Google Shape;487;p40"/>
          <p:cNvGrpSpPr/>
          <p:nvPr/>
        </p:nvGrpSpPr>
        <p:grpSpPr>
          <a:xfrm>
            <a:off x="2286000" y="2971800"/>
            <a:ext cx="5638800" cy="914400"/>
            <a:chOff x="1440" y="1872"/>
            <a:chExt cx="3552" cy="576"/>
          </a:xfrm>
        </p:grpSpPr>
        <p:sp>
          <p:nvSpPr>
            <p:cNvPr id="488" name="Google Shape;488;p40"/>
            <p:cNvSpPr txBox="1"/>
            <p:nvPr/>
          </p:nvSpPr>
          <p:spPr>
            <a:xfrm>
              <a:off x="288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489" name="Google Shape;489;p40"/>
            <p:cNvSpPr txBox="1"/>
            <p:nvPr/>
          </p:nvSpPr>
          <p:spPr>
            <a:xfrm>
              <a:off x="360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490" name="Google Shape;490;p40"/>
            <p:cNvSpPr txBox="1"/>
            <p:nvPr/>
          </p:nvSpPr>
          <p:spPr>
            <a:xfrm>
              <a:off x="4320" y="1872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91" name="Google Shape;491;p40"/>
            <p:cNvCxnSpPr/>
            <p:nvPr/>
          </p:nvCxnSpPr>
          <p:spPr>
            <a:xfrm flipH="1" rot="10800000">
              <a:off x="1440" y="2064"/>
              <a:ext cx="1296" cy="38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92" name="Google Shape;492;p40"/>
          <p:cNvGrpSpPr/>
          <p:nvPr/>
        </p:nvGrpSpPr>
        <p:grpSpPr>
          <a:xfrm>
            <a:off x="2286000" y="3810000"/>
            <a:ext cx="5638800" cy="465137"/>
            <a:chOff x="1440" y="2400"/>
            <a:chExt cx="3552" cy="293"/>
          </a:xfrm>
        </p:grpSpPr>
        <p:sp>
          <p:nvSpPr>
            <p:cNvPr id="493" name="Google Shape;493;p40"/>
            <p:cNvSpPr txBox="1"/>
            <p:nvPr/>
          </p:nvSpPr>
          <p:spPr>
            <a:xfrm>
              <a:off x="4320" y="2400"/>
              <a:ext cx="672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94" name="Google Shape;494;p40"/>
            <p:cNvCxnSpPr/>
            <p:nvPr/>
          </p:nvCxnSpPr>
          <p:spPr>
            <a:xfrm flipH="1" rot="10800000">
              <a:off x="1440" y="2496"/>
              <a:ext cx="1968" cy="4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95" name="Google Shape;495;p40"/>
          <p:cNvGrpSpPr/>
          <p:nvPr/>
        </p:nvGrpSpPr>
        <p:grpSpPr>
          <a:xfrm>
            <a:off x="2133600" y="4495800"/>
            <a:ext cx="5791200" cy="541337"/>
            <a:chOff x="1344" y="2832"/>
            <a:chExt cx="3648" cy="341"/>
          </a:xfrm>
        </p:grpSpPr>
        <p:sp>
          <p:nvSpPr>
            <p:cNvPr id="496" name="Google Shape;496;p40"/>
            <p:cNvSpPr txBox="1"/>
            <p:nvPr/>
          </p:nvSpPr>
          <p:spPr>
            <a:xfrm>
              <a:off x="3504" y="2880"/>
              <a:ext cx="1488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497" name="Google Shape;497;p40"/>
            <p:cNvCxnSpPr/>
            <p:nvPr/>
          </p:nvCxnSpPr>
          <p:spPr>
            <a:xfrm>
              <a:off x="1344" y="2832"/>
              <a:ext cx="1200" cy="14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grpSp>
        <p:nvGrpSpPr>
          <p:cNvPr id="498" name="Google Shape;498;p40"/>
          <p:cNvGrpSpPr/>
          <p:nvPr/>
        </p:nvGrpSpPr>
        <p:grpSpPr>
          <a:xfrm>
            <a:off x="2133600" y="5181600"/>
            <a:ext cx="5791200" cy="693737"/>
            <a:chOff x="1344" y="3264"/>
            <a:chExt cx="3648" cy="437"/>
          </a:xfrm>
        </p:grpSpPr>
        <p:sp>
          <p:nvSpPr>
            <p:cNvPr id="499" name="Google Shape;499;p40"/>
            <p:cNvSpPr txBox="1"/>
            <p:nvPr/>
          </p:nvSpPr>
          <p:spPr>
            <a:xfrm>
              <a:off x="2688" y="3408"/>
              <a:ext cx="2304" cy="293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0" i="0" lang="en-US" sz="22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cxnSp>
          <p:nvCxnSpPr>
            <p:cNvPr id="500" name="Google Shape;500;p40"/>
            <p:cNvCxnSpPr/>
            <p:nvPr/>
          </p:nvCxnSpPr>
          <p:spPr>
            <a:xfrm>
              <a:off x="1344" y="3264"/>
              <a:ext cx="480" cy="28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sp>
        <p:nvSpPr>
          <p:cNvPr id="501" name="Google Shape;501;p40"/>
          <p:cNvSpPr txBox="1"/>
          <p:nvPr/>
        </p:nvSpPr>
        <p:spPr>
          <a:xfrm>
            <a:off x="2209800" y="129540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Decapsulation and Reassembly</a:t>
            </a:r>
            <a:endParaRPr/>
          </a:p>
        </p:txBody>
      </p:sp>
      <p:sp>
        <p:nvSpPr>
          <p:cNvPr id="502" name="Google Shape;502;p40"/>
          <p:cNvSpPr txBox="1"/>
          <p:nvPr/>
        </p:nvSpPr>
        <p:spPr>
          <a:xfrm>
            <a:off x="4572000" y="2971800"/>
            <a:ext cx="3352800" cy="465137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03" name="Google Shape;503;p40"/>
          <p:cNvSpPr/>
          <p:nvPr/>
        </p:nvSpPr>
        <p:spPr>
          <a:xfrm flipH="1" rot="10800000">
            <a:off x="381000" y="2209800"/>
            <a:ext cx="381000" cy="3352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CC00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0"/>
          <p:cNvSpPr txBox="1"/>
          <p:nvPr/>
        </p:nvSpPr>
        <p:spPr>
          <a:xfrm>
            <a:off x="2743200" y="6019800"/>
            <a:ext cx="5867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0010100111011001010000011111010100010101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Data Units and Encapsulation</a:t>
            </a:r>
            <a:endParaRPr/>
          </a:p>
        </p:txBody>
      </p:sp>
      <p:sp>
        <p:nvSpPr>
          <p:cNvPr id="510" name="Google Shape;510;p41"/>
          <p:cNvSpPr txBox="1"/>
          <p:nvPr/>
        </p:nvSpPr>
        <p:spPr>
          <a:xfrm>
            <a:off x="3048000" y="3733800"/>
            <a:ext cx="914400" cy="374650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511" name="Google Shape;511;p41"/>
          <p:cNvSpPr txBox="1"/>
          <p:nvPr/>
        </p:nvSpPr>
        <p:spPr>
          <a:xfrm>
            <a:off x="3048000" y="4343400"/>
            <a:ext cx="914400" cy="3746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512" name="Google Shape;512;p41"/>
          <p:cNvSpPr txBox="1"/>
          <p:nvPr/>
        </p:nvSpPr>
        <p:spPr>
          <a:xfrm>
            <a:off x="3048000" y="5029200"/>
            <a:ext cx="914400" cy="374650"/>
          </a:xfrm>
          <a:prstGeom prst="rect">
            <a:avLst/>
          </a:prstGeom>
          <a:solidFill>
            <a:srgbClr val="7030A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513" name="Google Shape;513;p41"/>
          <p:cNvSpPr txBox="1"/>
          <p:nvPr/>
        </p:nvSpPr>
        <p:spPr>
          <a:xfrm>
            <a:off x="5029200" y="5029200"/>
            <a:ext cx="914400" cy="374650"/>
          </a:xfrm>
          <a:prstGeom prst="rect">
            <a:avLst/>
          </a:prstGeom>
          <a:solidFill>
            <a:srgbClr val="7030A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pic>
        <p:nvPicPr>
          <p:cNvPr descr="model03" id="514" name="Google Shape;5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81200"/>
            <a:ext cx="2657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1"/>
          <p:cNvSpPr txBox="1"/>
          <p:nvPr/>
        </p:nvSpPr>
        <p:spPr>
          <a:xfrm>
            <a:off x="3048000" y="2895600"/>
            <a:ext cx="19812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Email Message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3962400" y="37338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3962400" y="43434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18" name="Google Shape;518;p41"/>
          <p:cNvSpPr txBox="1"/>
          <p:nvPr/>
        </p:nvSpPr>
        <p:spPr>
          <a:xfrm>
            <a:off x="3962400" y="50292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19" name="Google Shape;519;p41"/>
          <p:cNvSpPr txBox="1"/>
          <p:nvPr/>
        </p:nvSpPr>
        <p:spPr>
          <a:xfrm>
            <a:off x="2209800" y="129540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Data Units</a:t>
            </a:r>
            <a:endParaRPr/>
          </a:p>
        </p:txBody>
      </p:sp>
      <p:sp>
        <p:nvSpPr>
          <p:cNvPr id="520" name="Google Shape;520;p41"/>
          <p:cNvSpPr txBox="1"/>
          <p:nvPr/>
        </p:nvSpPr>
        <p:spPr>
          <a:xfrm>
            <a:off x="6324600" y="2819400"/>
            <a:ext cx="2514600" cy="49530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rgbClr val="99FF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21" name="Google Shape;521;p41"/>
          <p:cNvSpPr txBox="1"/>
          <p:nvPr/>
        </p:nvSpPr>
        <p:spPr>
          <a:xfrm>
            <a:off x="6324600" y="3657600"/>
            <a:ext cx="2514600" cy="495300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sp>
        <p:nvSpPr>
          <p:cNvPr id="522" name="Google Shape;522;p41"/>
          <p:cNvSpPr txBox="1"/>
          <p:nvPr/>
        </p:nvSpPr>
        <p:spPr>
          <a:xfrm>
            <a:off x="6324600" y="4267200"/>
            <a:ext cx="2514600" cy="49530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Packet</a:t>
            </a:r>
            <a:endParaRPr/>
          </a:p>
        </p:txBody>
      </p:sp>
      <p:sp>
        <p:nvSpPr>
          <p:cNvPr id="523" name="Google Shape;523;p41"/>
          <p:cNvSpPr txBox="1"/>
          <p:nvPr/>
        </p:nvSpPr>
        <p:spPr>
          <a:xfrm>
            <a:off x="6324600" y="4953000"/>
            <a:ext cx="2514600" cy="495300"/>
          </a:xfrm>
          <a:prstGeom prst="rect">
            <a:avLst/>
          </a:prstGeom>
          <a:solidFill>
            <a:srgbClr val="7030A0"/>
          </a:solidFill>
          <a:ln cap="flat" cmpd="sng" w="38100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524" name="Google Shape;524;p41"/>
          <p:cNvCxnSpPr/>
          <p:nvPr/>
        </p:nvCxnSpPr>
        <p:spPr>
          <a:xfrm>
            <a:off x="5105400" y="30480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25" name="Google Shape;525;p41"/>
          <p:cNvCxnSpPr/>
          <p:nvPr/>
        </p:nvCxnSpPr>
        <p:spPr>
          <a:xfrm>
            <a:off x="5105400" y="38862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26" name="Google Shape;526;p41"/>
          <p:cNvCxnSpPr/>
          <p:nvPr/>
        </p:nvCxnSpPr>
        <p:spPr>
          <a:xfrm>
            <a:off x="5105400" y="44958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527" name="Google Shape;527;p41"/>
          <p:cNvCxnSpPr/>
          <p:nvPr/>
        </p:nvCxnSpPr>
        <p:spPr>
          <a:xfrm>
            <a:off x="6019800" y="51816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l07" id="532" name="Google Shape;5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143000"/>
            <a:ext cx="7797800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Protocol Data Units and Encapsulation</a:t>
            </a:r>
            <a:endParaRPr/>
          </a:p>
        </p:txBody>
      </p:sp>
      <p:sp>
        <p:nvSpPr>
          <p:cNvPr id="534" name="Google Shape;534;p42"/>
          <p:cNvSpPr txBox="1"/>
          <p:nvPr/>
        </p:nvSpPr>
        <p:spPr>
          <a:xfrm>
            <a:off x="457200" y="2590800"/>
            <a:ext cx="8382000" cy="1198562"/>
          </a:xfrm>
          <a:prstGeom prst="rect">
            <a:avLst/>
          </a:prstGeom>
          <a:solidFill>
            <a:srgbClr val="003366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Arial"/>
              <a:buNone/>
            </a:pPr>
            <a:r>
              <a:rPr b="0" i="1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Diagram on Page 51 in the text is incorrect.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Arial"/>
              <a:buNone/>
            </a:pPr>
            <a:r>
              <a:rPr b="0" i="1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This is the correct diagram</a:t>
            </a:r>
            <a:r>
              <a:rPr b="0" i="0" lang="en-US" sz="28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540" name="Google Shape;540;p43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OSI Model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/>
          </a:p>
        </p:txBody>
      </p:sp>
      <p:sp>
        <p:nvSpPr>
          <p:cNvPr id="546" name="Google Shape;546;p44"/>
          <p:cNvSpPr txBox="1"/>
          <p:nvPr>
            <p:ph idx="1" type="body"/>
          </p:nvPr>
        </p:nvSpPr>
        <p:spPr>
          <a:xfrm>
            <a:off x="228600" y="4800600"/>
            <a:ext cx="8686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International Organization for Standardization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released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Open Systems Interconnection (OSI)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reference model in 1984.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www.iso.org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more information</a:t>
            </a:r>
            <a:endParaRPr/>
          </a:p>
        </p:txBody>
      </p:sp>
      <p:pic>
        <p:nvPicPr>
          <p:cNvPr descr="model08" id="547" name="Google Shape;54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762000"/>
            <a:ext cx="6527800" cy="401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/>
          </a:p>
        </p:txBody>
      </p:sp>
      <p:sp>
        <p:nvSpPr>
          <p:cNvPr id="553" name="Google Shape;553;p45"/>
          <p:cNvSpPr txBox="1"/>
          <p:nvPr>
            <p:ph idx="1" type="body"/>
          </p:nvPr>
        </p:nvSpPr>
        <p:spPr>
          <a:xfrm>
            <a:off x="228600" y="12954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Breaks network communication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into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smaller,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more manageable parts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Makes learning it easier to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understand.</a:t>
            </a:r>
            <a:endParaRPr/>
          </a:p>
          <a:p>
            <a:pPr indent="-288924" lvl="1" marL="8556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Prevents changes in one layer from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affecting other layers.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Standardizes network components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allow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multiple vendor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development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support.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Allows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different types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network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 and software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to communicate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each other.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descriptive scheme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model09" id="554" name="Google Shape;55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295400"/>
            <a:ext cx="2767012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 - Example - </a:t>
            </a:r>
            <a:r>
              <a:rPr b="0" i="1" lang="en-US" sz="32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</p:txBody>
      </p:sp>
      <p:sp>
        <p:nvSpPr>
          <p:cNvPr id="560" name="Google Shape;560;p46"/>
          <p:cNvSpPr txBox="1"/>
          <p:nvPr>
            <p:ph idx="1" type="body"/>
          </p:nvPr>
        </p:nvSpPr>
        <p:spPr>
          <a:xfrm>
            <a:off x="152400" y="12954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Descriptive Scheme: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Can be used to describe the functionality and interaction of different protocol suites.</a:t>
            </a:r>
            <a:endParaRPr/>
          </a:p>
        </p:txBody>
      </p:sp>
      <p:grpSp>
        <p:nvGrpSpPr>
          <p:cNvPr id="561" name="Google Shape;561;p46"/>
          <p:cNvGrpSpPr/>
          <p:nvPr/>
        </p:nvGrpSpPr>
        <p:grpSpPr>
          <a:xfrm>
            <a:off x="1524000" y="2209800"/>
            <a:ext cx="7239000" cy="4267200"/>
            <a:chOff x="528" y="1008"/>
            <a:chExt cx="4704" cy="2832"/>
          </a:xfrm>
        </p:grpSpPr>
        <p:sp>
          <p:nvSpPr>
            <p:cNvPr id="562" name="Google Shape;562;p46"/>
            <p:cNvSpPr txBox="1"/>
            <p:nvPr/>
          </p:nvSpPr>
          <p:spPr>
            <a:xfrm>
              <a:off x="1460" y="3448"/>
              <a:ext cx="3772" cy="39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6"/>
            <p:cNvSpPr txBox="1"/>
            <p:nvPr/>
          </p:nvSpPr>
          <p:spPr>
            <a:xfrm>
              <a:off x="528" y="3448"/>
              <a:ext cx="932" cy="392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</p:txBody>
        </p:sp>
        <p:sp>
          <p:nvSpPr>
            <p:cNvPr id="564" name="Google Shape;564;p46"/>
            <p:cNvSpPr txBox="1"/>
            <p:nvPr/>
          </p:nvSpPr>
          <p:spPr>
            <a:xfrm>
              <a:off x="1460" y="2838"/>
              <a:ext cx="3772" cy="61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 txBox="1"/>
            <p:nvPr/>
          </p:nvSpPr>
          <p:spPr>
            <a:xfrm>
              <a:off x="528" y="2838"/>
              <a:ext cx="932" cy="610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</p:txBody>
        </p:sp>
        <p:sp>
          <p:nvSpPr>
            <p:cNvPr id="566" name="Google Shape;566;p46"/>
            <p:cNvSpPr txBox="1"/>
            <p:nvPr/>
          </p:nvSpPr>
          <p:spPr>
            <a:xfrm>
              <a:off x="1460" y="2534"/>
              <a:ext cx="3772" cy="30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6"/>
            <p:cNvSpPr txBox="1"/>
            <p:nvPr/>
          </p:nvSpPr>
          <p:spPr>
            <a:xfrm>
              <a:off x="528" y="2534"/>
              <a:ext cx="932" cy="304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</p:txBody>
        </p:sp>
        <p:sp>
          <p:nvSpPr>
            <p:cNvPr id="568" name="Google Shape;568;p46"/>
            <p:cNvSpPr txBox="1"/>
            <p:nvPr/>
          </p:nvSpPr>
          <p:spPr>
            <a:xfrm>
              <a:off x="1460" y="2223"/>
              <a:ext cx="3772" cy="31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6"/>
            <p:cNvSpPr txBox="1"/>
            <p:nvPr/>
          </p:nvSpPr>
          <p:spPr>
            <a:xfrm>
              <a:off x="528" y="2223"/>
              <a:ext cx="932" cy="311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</p:txBody>
        </p:sp>
        <p:sp>
          <p:nvSpPr>
            <p:cNvPr id="570" name="Google Shape;570;p46"/>
            <p:cNvSpPr txBox="1"/>
            <p:nvPr/>
          </p:nvSpPr>
          <p:spPr>
            <a:xfrm>
              <a:off x="1460" y="1787"/>
              <a:ext cx="3772" cy="4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6"/>
            <p:cNvSpPr txBox="1"/>
            <p:nvPr/>
          </p:nvSpPr>
          <p:spPr>
            <a:xfrm>
              <a:off x="528" y="1787"/>
              <a:ext cx="932" cy="4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/>
            </a:p>
          </p:txBody>
        </p:sp>
        <p:sp>
          <p:nvSpPr>
            <p:cNvPr id="572" name="Google Shape;572;p46"/>
            <p:cNvSpPr txBox="1"/>
            <p:nvPr/>
          </p:nvSpPr>
          <p:spPr>
            <a:xfrm>
              <a:off x="1460" y="1400"/>
              <a:ext cx="3772" cy="3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6"/>
            <p:cNvSpPr txBox="1"/>
            <p:nvPr/>
          </p:nvSpPr>
          <p:spPr>
            <a:xfrm>
              <a:off x="528" y="1400"/>
              <a:ext cx="932" cy="387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/>
            </a:p>
          </p:txBody>
        </p:sp>
        <p:sp>
          <p:nvSpPr>
            <p:cNvPr id="574" name="Google Shape;574;p46"/>
            <p:cNvSpPr txBox="1"/>
            <p:nvPr/>
          </p:nvSpPr>
          <p:spPr>
            <a:xfrm>
              <a:off x="1460" y="1008"/>
              <a:ext cx="3772" cy="39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6"/>
            <p:cNvSpPr txBox="1"/>
            <p:nvPr/>
          </p:nvSpPr>
          <p:spPr>
            <a:xfrm>
              <a:off x="528" y="1008"/>
              <a:ext cx="932" cy="392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cxnSp>
          <p:nvCxnSpPr>
            <p:cNvPr id="576" name="Google Shape;576;p46"/>
            <p:cNvCxnSpPr/>
            <p:nvPr/>
          </p:nvCxnSpPr>
          <p:spPr>
            <a:xfrm>
              <a:off x="528" y="1008"/>
              <a:ext cx="4704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77" name="Google Shape;577;p46"/>
            <p:cNvCxnSpPr/>
            <p:nvPr/>
          </p:nvCxnSpPr>
          <p:spPr>
            <a:xfrm>
              <a:off x="528" y="1400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78" name="Google Shape;578;p46"/>
            <p:cNvCxnSpPr/>
            <p:nvPr/>
          </p:nvCxnSpPr>
          <p:spPr>
            <a:xfrm>
              <a:off x="528" y="1787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79" name="Google Shape;579;p46"/>
            <p:cNvCxnSpPr/>
            <p:nvPr/>
          </p:nvCxnSpPr>
          <p:spPr>
            <a:xfrm>
              <a:off x="528" y="2223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0" name="Google Shape;580;p46"/>
            <p:cNvCxnSpPr/>
            <p:nvPr/>
          </p:nvCxnSpPr>
          <p:spPr>
            <a:xfrm>
              <a:off x="528" y="2534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1" name="Google Shape;581;p46"/>
            <p:cNvCxnSpPr/>
            <p:nvPr/>
          </p:nvCxnSpPr>
          <p:spPr>
            <a:xfrm>
              <a:off x="528" y="2838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2" name="Google Shape;582;p46"/>
            <p:cNvCxnSpPr/>
            <p:nvPr/>
          </p:nvCxnSpPr>
          <p:spPr>
            <a:xfrm>
              <a:off x="528" y="3448"/>
              <a:ext cx="470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3" name="Google Shape;583;p46"/>
            <p:cNvCxnSpPr/>
            <p:nvPr/>
          </p:nvCxnSpPr>
          <p:spPr>
            <a:xfrm>
              <a:off x="528" y="3840"/>
              <a:ext cx="4704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4" name="Google Shape;584;p46"/>
            <p:cNvCxnSpPr/>
            <p:nvPr/>
          </p:nvCxnSpPr>
          <p:spPr>
            <a:xfrm>
              <a:off x="528" y="1008"/>
              <a:ext cx="0" cy="2832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5" name="Google Shape;585;p46"/>
            <p:cNvCxnSpPr/>
            <p:nvPr/>
          </p:nvCxnSpPr>
          <p:spPr>
            <a:xfrm>
              <a:off x="1460" y="1008"/>
              <a:ext cx="0" cy="28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86" name="Google Shape;586;p46"/>
            <p:cNvCxnSpPr/>
            <p:nvPr/>
          </p:nvCxnSpPr>
          <p:spPr>
            <a:xfrm>
              <a:off x="5232" y="1008"/>
              <a:ext cx="0" cy="2832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87" name="Google Shape;587;p46"/>
            <p:cNvSpPr txBox="1"/>
            <p:nvPr/>
          </p:nvSpPr>
          <p:spPr>
            <a:xfrm>
              <a:off x="1553" y="3520"/>
              <a:ext cx="512" cy="22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WAN</a:t>
              </a:r>
              <a:endParaRPr/>
            </a:p>
          </p:txBody>
        </p:sp>
        <p:sp>
          <p:nvSpPr>
            <p:cNvPr id="588" name="Google Shape;588;p46"/>
            <p:cNvSpPr txBox="1"/>
            <p:nvPr/>
          </p:nvSpPr>
          <p:spPr>
            <a:xfrm>
              <a:off x="1553" y="2997"/>
              <a:ext cx="512" cy="23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SDLC</a:t>
              </a:r>
              <a:endParaRPr/>
            </a:p>
          </p:txBody>
        </p:sp>
        <p:sp>
          <p:nvSpPr>
            <p:cNvPr id="589" name="Google Shape;589;p46"/>
            <p:cNvSpPr txBox="1"/>
            <p:nvPr/>
          </p:nvSpPr>
          <p:spPr>
            <a:xfrm>
              <a:off x="2158" y="3521"/>
              <a:ext cx="2934" cy="22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</a:t>
              </a:r>
              <a:endParaRPr/>
            </a:p>
          </p:txBody>
        </p:sp>
        <p:sp>
          <p:nvSpPr>
            <p:cNvPr id="590" name="Google Shape;590;p46"/>
            <p:cNvSpPr txBox="1"/>
            <p:nvPr/>
          </p:nvSpPr>
          <p:spPr>
            <a:xfrm>
              <a:off x="2391" y="2881"/>
              <a:ext cx="652" cy="1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DLSW</a:t>
              </a:r>
              <a:endParaRPr/>
            </a:p>
          </p:txBody>
        </p:sp>
        <p:sp>
          <p:nvSpPr>
            <p:cNvPr id="591" name="Google Shape;591;p46"/>
            <p:cNvSpPr txBox="1"/>
            <p:nvPr/>
          </p:nvSpPr>
          <p:spPr>
            <a:xfrm>
              <a:off x="1553" y="1094"/>
              <a:ext cx="1117" cy="165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SNA</a:t>
              </a:r>
              <a:endParaRPr/>
            </a:p>
          </p:txBody>
        </p:sp>
        <p:sp>
          <p:nvSpPr>
            <p:cNvPr id="592" name="Google Shape;592;p46"/>
            <p:cNvSpPr txBox="1"/>
            <p:nvPr/>
          </p:nvSpPr>
          <p:spPr>
            <a:xfrm>
              <a:off x="2544" y="1584"/>
              <a:ext cx="1151" cy="116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NETBIOS</a:t>
              </a:r>
              <a:endParaRPr/>
            </a:p>
          </p:txBody>
        </p:sp>
        <p:sp>
          <p:nvSpPr>
            <p:cNvPr id="593" name="Google Shape;593;p46"/>
            <p:cNvSpPr txBox="1"/>
            <p:nvPr/>
          </p:nvSpPr>
          <p:spPr>
            <a:xfrm>
              <a:off x="2544" y="1104"/>
              <a:ext cx="1152" cy="40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SMB</a:t>
              </a:r>
              <a:endParaRPr/>
            </a:p>
          </p:txBody>
        </p:sp>
        <p:sp>
          <p:nvSpPr>
            <p:cNvPr id="594" name="Google Shape;594;p46"/>
            <p:cNvSpPr txBox="1"/>
            <p:nvPr/>
          </p:nvSpPr>
          <p:spPr>
            <a:xfrm>
              <a:off x="3835" y="1094"/>
              <a:ext cx="652" cy="165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IBMNM</a:t>
              </a:r>
              <a:endParaRPr/>
            </a:p>
          </p:txBody>
        </p:sp>
        <p:sp>
          <p:nvSpPr>
            <p:cNvPr id="595" name="Google Shape;595;p46"/>
            <p:cNvSpPr txBox="1"/>
            <p:nvPr/>
          </p:nvSpPr>
          <p:spPr>
            <a:xfrm>
              <a:off x="2205" y="3143"/>
              <a:ext cx="2840" cy="19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LLC</a:t>
              </a:r>
              <a:endParaRPr/>
            </a:p>
          </p:txBody>
        </p:sp>
        <p:sp>
          <p:nvSpPr>
            <p:cNvPr id="596" name="Google Shape;596;p46"/>
            <p:cNvSpPr txBox="1"/>
            <p:nvPr/>
          </p:nvSpPr>
          <p:spPr>
            <a:xfrm>
              <a:off x="4580" y="2576"/>
              <a:ext cx="512" cy="1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RPL</a:t>
              </a:r>
              <a:endParaRPr/>
            </a:p>
          </p:txBody>
        </p:sp>
        <p:sp>
          <p:nvSpPr>
            <p:cNvPr id="597" name="Google Shape;597;p46"/>
            <p:cNvSpPr/>
            <p:nvPr/>
          </p:nvSpPr>
          <p:spPr>
            <a:xfrm>
              <a:off x="3276" y="2707"/>
              <a:ext cx="93" cy="476"/>
            </a:xfrm>
            <a:prstGeom prst="upDownArrow">
              <a:avLst>
                <a:gd fmla="val 50000" name="adj1"/>
                <a:gd fmla="val 4347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6"/>
            <p:cNvSpPr/>
            <p:nvPr/>
          </p:nvSpPr>
          <p:spPr>
            <a:xfrm>
              <a:off x="1739" y="3186"/>
              <a:ext cx="93" cy="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1739" y="2707"/>
              <a:ext cx="93" cy="349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6"/>
            <p:cNvSpPr/>
            <p:nvPr/>
          </p:nvSpPr>
          <p:spPr>
            <a:xfrm>
              <a:off x="3276" y="3274"/>
              <a:ext cx="93" cy="34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2950" y="2620"/>
              <a:ext cx="93" cy="34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6"/>
            <p:cNvSpPr/>
            <p:nvPr/>
          </p:nvSpPr>
          <p:spPr>
            <a:xfrm>
              <a:off x="2438" y="2620"/>
              <a:ext cx="93" cy="34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6"/>
            <p:cNvSpPr/>
            <p:nvPr/>
          </p:nvSpPr>
          <p:spPr>
            <a:xfrm>
              <a:off x="3408" y="1344"/>
              <a:ext cx="93" cy="34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4859" y="2707"/>
              <a:ext cx="96" cy="476"/>
            </a:xfrm>
            <a:prstGeom prst="upDownArrow">
              <a:avLst>
                <a:gd fmla="val 50000" name="adj1"/>
                <a:gd fmla="val 4487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2251" y="2707"/>
              <a:ext cx="94" cy="476"/>
            </a:xfrm>
            <a:prstGeom prst="upDownArrow">
              <a:avLst>
                <a:gd fmla="val 50000" name="adj1"/>
                <a:gd fmla="val 4347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4161" y="2707"/>
              <a:ext cx="93" cy="476"/>
            </a:xfrm>
            <a:prstGeom prst="upDownArrow">
              <a:avLst>
                <a:gd fmla="val 50000" name="adj1"/>
                <a:gd fmla="val 4347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46"/>
          <p:cNvSpPr txBox="1"/>
          <p:nvPr/>
        </p:nvSpPr>
        <p:spPr>
          <a:xfrm>
            <a:off x="304800" y="3886200"/>
            <a:ext cx="9906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IBM’s SNA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 – Example - </a:t>
            </a:r>
            <a:r>
              <a:rPr b="0" i="1" lang="en-US" sz="32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</p:txBody>
      </p:sp>
      <p:sp>
        <p:nvSpPr>
          <p:cNvPr id="613" name="Google Shape;613;p47"/>
          <p:cNvSpPr txBox="1"/>
          <p:nvPr>
            <p:ph idx="1" type="body"/>
          </p:nvPr>
        </p:nvSpPr>
        <p:spPr>
          <a:xfrm>
            <a:off x="152400" y="12954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Descriptive Scheme: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Can be used to describe the functionality and interaction of different protocol suites.</a:t>
            </a:r>
            <a:endParaRPr/>
          </a:p>
        </p:txBody>
      </p:sp>
      <p:sp>
        <p:nvSpPr>
          <p:cNvPr id="614" name="Google Shape;614;p47"/>
          <p:cNvSpPr txBox="1"/>
          <p:nvPr/>
        </p:nvSpPr>
        <p:spPr>
          <a:xfrm>
            <a:off x="228600" y="41148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endParaRPr/>
          </a:p>
        </p:txBody>
      </p:sp>
      <p:grpSp>
        <p:nvGrpSpPr>
          <p:cNvPr id="615" name="Google Shape;615;p47"/>
          <p:cNvGrpSpPr/>
          <p:nvPr/>
        </p:nvGrpSpPr>
        <p:grpSpPr>
          <a:xfrm>
            <a:off x="1295400" y="2209800"/>
            <a:ext cx="7620000" cy="4343400"/>
            <a:chOff x="480" y="960"/>
            <a:chExt cx="4896" cy="2928"/>
          </a:xfrm>
        </p:grpSpPr>
        <p:sp>
          <p:nvSpPr>
            <p:cNvPr id="616" name="Google Shape;616;p47"/>
            <p:cNvSpPr txBox="1"/>
            <p:nvPr/>
          </p:nvSpPr>
          <p:spPr>
            <a:xfrm>
              <a:off x="1632" y="3552"/>
              <a:ext cx="3744" cy="3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7"/>
            <p:cNvSpPr txBox="1"/>
            <p:nvPr/>
          </p:nvSpPr>
          <p:spPr>
            <a:xfrm>
              <a:off x="480" y="3552"/>
              <a:ext cx="1152" cy="3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</p:txBody>
        </p:sp>
        <p:sp>
          <p:nvSpPr>
            <p:cNvPr id="618" name="Google Shape;618;p47"/>
            <p:cNvSpPr txBox="1"/>
            <p:nvPr/>
          </p:nvSpPr>
          <p:spPr>
            <a:xfrm>
              <a:off x="1632" y="3216"/>
              <a:ext cx="3744" cy="3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7"/>
            <p:cNvSpPr txBox="1"/>
            <p:nvPr/>
          </p:nvSpPr>
          <p:spPr>
            <a:xfrm>
              <a:off x="480" y="3216"/>
              <a:ext cx="1152" cy="3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</p:txBody>
        </p:sp>
        <p:sp>
          <p:nvSpPr>
            <p:cNvPr id="620" name="Google Shape;620;p47"/>
            <p:cNvSpPr txBox="1"/>
            <p:nvPr/>
          </p:nvSpPr>
          <p:spPr>
            <a:xfrm>
              <a:off x="1632" y="2880"/>
              <a:ext cx="3744" cy="3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7"/>
            <p:cNvSpPr txBox="1"/>
            <p:nvPr/>
          </p:nvSpPr>
          <p:spPr>
            <a:xfrm>
              <a:off x="480" y="2880"/>
              <a:ext cx="1152" cy="3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</p:txBody>
        </p:sp>
        <p:sp>
          <p:nvSpPr>
            <p:cNvPr id="622" name="Google Shape;622;p47"/>
            <p:cNvSpPr txBox="1"/>
            <p:nvPr/>
          </p:nvSpPr>
          <p:spPr>
            <a:xfrm>
              <a:off x="1632" y="2496"/>
              <a:ext cx="3744" cy="38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7"/>
            <p:cNvSpPr txBox="1"/>
            <p:nvPr/>
          </p:nvSpPr>
          <p:spPr>
            <a:xfrm>
              <a:off x="480" y="2496"/>
              <a:ext cx="1152" cy="384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</p:txBody>
        </p:sp>
        <p:sp>
          <p:nvSpPr>
            <p:cNvPr id="624" name="Google Shape;624;p47"/>
            <p:cNvSpPr txBox="1"/>
            <p:nvPr/>
          </p:nvSpPr>
          <p:spPr>
            <a:xfrm>
              <a:off x="1632" y="2160"/>
              <a:ext cx="3744" cy="3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7"/>
            <p:cNvSpPr txBox="1"/>
            <p:nvPr/>
          </p:nvSpPr>
          <p:spPr>
            <a:xfrm>
              <a:off x="480" y="2160"/>
              <a:ext cx="1152" cy="3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/>
            </a:p>
          </p:txBody>
        </p:sp>
        <p:sp>
          <p:nvSpPr>
            <p:cNvPr id="626" name="Google Shape;626;p47"/>
            <p:cNvSpPr txBox="1"/>
            <p:nvPr/>
          </p:nvSpPr>
          <p:spPr>
            <a:xfrm>
              <a:off x="1632" y="1824"/>
              <a:ext cx="3744" cy="33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7"/>
            <p:cNvSpPr txBox="1"/>
            <p:nvPr/>
          </p:nvSpPr>
          <p:spPr>
            <a:xfrm>
              <a:off x="480" y="1824"/>
              <a:ext cx="1152" cy="33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/>
            </a:p>
          </p:txBody>
        </p:sp>
        <p:sp>
          <p:nvSpPr>
            <p:cNvPr id="628" name="Google Shape;628;p47"/>
            <p:cNvSpPr txBox="1"/>
            <p:nvPr/>
          </p:nvSpPr>
          <p:spPr>
            <a:xfrm>
              <a:off x="1632" y="960"/>
              <a:ext cx="3744" cy="86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7"/>
            <p:cNvSpPr txBox="1"/>
            <p:nvPr/>
          </p:nvSpPr>
          <p:spPr>
            <a:xfrm>
              <a:off x="480" y="960"/>
              <a:ext cx="1152" cy="864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cxnSp>
          <p:nvCxnSpPr>
            <p:cNvPr id="630" name="Google Shape;630;p47"/>
            <p:cNvCxnSpPr/>
            <p:nvPr/>
          </p:nvCxnSpPr>
          <p:spPr>
            <a:xfrm>
              <a:off x="480" y="960"/>
              <a:ext cx="4896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1" name="Google Shape;631;p47"/>
            <p:cNvCxnSpPr/>
            <p:nvPr/>
          </p:nvCxnSpPr>
          <p:spPr>
            <a:xfrm>
              <a:off x="480" y="1824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2" name="Google Shape;632;p47"/>
            <p:cNvCxnSpPr/>
            <p:nvPr/>
          </p:nvCxnSpPr>
          <p:spPr>
            <a:xfrm>
              <a:off x="480" y="2160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3" name="Google Shape;633;p47"/>
            <p:cNvCxnSpPr/>
            <p:nvPr/>
          </p:nvCxnSpPr>
          <p:spPr>
            <a:xfrm>
              <a:off x="480" y="2496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4" name="Google Shape;634;p47"/>
            <p:cNvCxnSpPr/>
            <p:nvPr/>
          </p:nvCxnSpPr>
          <p:spPr>
            <a:xfrm>
              <a:off x="480" y="2880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5" name="Google Shape;635;p47"/>
            <p:cNvCxnSpPr/>
            <p:nvPr/>
          </p:nvCxnSpPr>
          <p:spPr>
            <a:xfrm>
              <a:off x="480" y="3216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6" name="Google Shape;636;p47"/>
            <p:cNvCxnSpPr/>
            <p:nvPr/>
          </p:nvCxnSpPr>
          <p:spPr>
            <a:xfrm>
              <a:off x="480" y="3552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7" name="Google Shape;637;p47"/>
            <p:cNvCxnSpPr/>
            <p:nvPr/>
          </p:nvCxnSpPr>
          <p:spPr>
            <a:xfrm>
              <a:off x="480" y="3888"/>
              <a:ext cx="4896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8" name="Google Shape;638;p47"/>
            <p:cNvCxnSpPr/>
            <p:nvPr/>
          </p:nvCxnSpPr>
          <p:spPr>
            <a:xfrm>
              <a:off x="480" y="960"/>
              <a:ext cx="0" cy="2928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39" name="Google Shape;639;p47"/>
            <p:cNvCxnSpPr/>
            <p:nvPr/>
          </p:nvCxnSpPr>
          <p:spPr>
            <a:xfrm>
              <a:off x="1632" y="960"/>
              <a:ext cx="0" cy="292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40" name="Google Shape;640;p47"/>
            <p:cNvCxnSpPr/>
            <p:nvPr/>
          </p:nvCxnSpPr>
          <p:spPr>
            <a:xfrm>
              <a:off x="5376" y="960"/>
              <a:ext cx="0" cy="2928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41" name="Google Shape;641;p47"/>
            <p:cNvSpPr txBox="1"/>
            <p:nvPr/>
          </p:nvSpPr>
          <p:spPr>
            <a:xfrm>
              <a:off x="1728" y="3600"/>
              <a:ext cx="3552" cy="2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 / Wan Physical Media</a:t>
              </a:r>
              <a:endParaRPr/>
            </a:p>
          </p:txBody>
        </p:sp>
        <p:sp>
          <p:nvSpPr>
            <p:cNvPr id="642" name="Google Shape;642;p47"/>
            <p:cNvSpPr txBox="1"/>
            <p:nvPr/>
          </p:nvSpPr>
          <p:spPr>
            <a:xfrm>
              <a:off x="1728" y="3264"/>
              <a:ext cx="3552" cy="2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LLC Layer Type 1 and 2 Protocols</a:t>
              </a:r>
              <a:endParaRPr/>
            </a:p>
          </p:txBody>
        </p:sp>
        <p:sp>
          <p:nvSpPr>
            <p:cNvPr id="643" name="Google Shape;643;p47"/>
            <p:cNvSpPr txBox="1"/>
            <p:nvPr/>
          </p:nvSpPr>
          <p:spPr>
            <a:xfrm>
              <a:off x="1728" y="2928"/>
              <a:ext cx="768" cy="2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CLNP</a:t>
              </a:r>
              <a:endParaRPr/>
            </a:p>
          </p:txBody>
        </p:sp>
        <p:sp>
          <p:nvSpPr>
            <p:cNvPr id="644" name="Google Shape;644;p47"/>
            <p:cNvSpPr txBox="1"/>
            <p:nvPr/>
          </p:nvSpPr>
          <p:spPr>
            <a:xfrm>
              <a:off x="1728" y="2544"/>
              <a:ext cx="2640" cy="28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ISO-TP  (TP0, TP1, TP2, TP3, TP4)</a:t>
              </a:r>
              <a:endParaRPr/>
            </a:p>
          </p:txBody>
        </p:sp>
        <p:sp>
          <p:nvSpPr>
            <p:cNvPr id="645" name="Google Shape;645;p47"/>
            <p:cNvSpPr txBox="1"/>
            <p:nvPr/>
          </p:nvSpPr>
          <p:spPr>
            <a:xfrm>
              <a:off x="4512" y="2592"/>
              <a:ext cx="76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NETBIOS</a:t>
              </a:r>
              <a:endParaRPr/>
            </a:p>
          </p:txBody>
        </p:sp>
        <p:sp>
          <p:nvSpPr>
            <p:cNvPr id="646" name="Google Shape;646;p47"/>
            <p:cNvSpPr txBox="1"/>
            <p:nvPr/>
          </p:nvSpPr>
          <p:spPr>
            <a:xfrm>
              <a:off x="1728" y="2208"/>
              <a:ext cx="355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ISO-SP</a:t>
              </a:r>
              <a:endParaRPr/>
            </a:p>
          </p:txBody>
        </p:sp>
        <p:sp>
          <p:nvSpPr>
            <p:cNvPr id="647" name="Google Shape;647;p47"/>
            <p:cNvSpPr txBox="1"/>
            <p:nvPr/>
          </p:nvSpPr>
          <p:spPr>
            <a:xfrm>
              <a:off x="1728" y="1872"/>
              <a:ext cx="3552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ISO-PP</a:t>
              </a:r>
              <a:endParaRPr/>
            </a:p>
          </p:txBody>
        </p:sp>
        <p:sp>
          <p:nvSpPr>
            <p:cNvPr id="648" name="Google Shape;648;p47"/>
            <p:cNvSpPr txBox="1"/>
            <p:nvPr/>
          </p:nvSpPr>
          <p:spPr>
            <a:xfrm>
              <a:off x="1728" y="1536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ROSE</a:t>
              </a:r>
              <a:endParaRPr/>
            </a:p>
          </p:txBody>
        </p:sp>
        <p:sp>
          <p:nvSpPr>
            <p:cNvPr id="649" name="Google Shape;649;p47"/>
            <p:cNvSpPr txBox="1"/>
            <p:nvPr/>
          </p:nvSpPr>
          <p:spPr>
            <a:xfrm>
              <a:off x="2496" y="1440"/>
              <a:ext cx="2064" cy="28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ACSE</a:t>
              </a:r>
              <a:endParaRPr/>
            </a:p>
          </p:txBody>
        </p:sp>
        <p:sp>
          <p:nvSpPr>
            <p:cNvPr id="650" name="Google Shape;650;p47"/>
            <p:cNvSpPr txBox="1"/>
            <p:nvPr/>
          </p:nvSpPr>
          <p:spPr>
            <a:xfrm>
              <a:off x="4800" y="1536"/>
              <a:ext cx="480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RTSE</a:t>
              </a:r>
              <a:endParaRPr/>
            </a:p>
          </p:txBody>
        </p:sp>
        <p:sp>
          <p:nvSpPr>
            <p:cNvPr id="651" name="Google Shape;651;p47"/>
            <p:cNvSpPr txBox="1"/>
            <p:nvPr/>
          </p:nvSpPr>
          <p:spPr>
            <a:xfrm>
              <a:off x="2160" y="1056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VTP</a:t>
              </a:r>
              <a:endParaRPr/>
            </a:p>
          </p:txBody>
        </p:sp>
        <p:sp>
          <p:nvSpPr>
            <p:cNvPr id="652" name="Google Shape;652;p47"/>
            <p:cNvSpPr txBox="1"/>
            <p:nvPr/>
          </p:nvSpPr>
          <p:spPr>
            <a:xfrm>
              <a:off x="2880" y="1056"/>
              <a:ext cx="576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FTAM</a:t>
              </a:r>
              <a:endParaRPr/>
            </a:p>
          </p:txBody>
        </p:sp>
        <p:sp>
          <p:nvSpPr>
            <p:cNvPr id="653" name="Google Shape;653;p47"/>
            <p:cNvSpPr txBox="1"/>
            <p:nvPr/>
          </p:nvSpPr>
          <p:spPr>
            <a:xfrm>
              <a:off x="3648" y="1056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X.400</a:t>
              </a:r>
              <a:endParaRPr/>
            </a:p>
          </p:txBody>
        </p:sp>
        <p:sp>
          <p:nvSpPr>
            <p:cNvPr id="654" name="Google Shape;654;p47"/>
            <p:cNvSpPr txBox="1"/>
            <p:nvPr/>
          </p:nvSpPr>
          <p:spPr>
            <a:xfrm>
              <a:off x="4368" y="1056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X.500</a:t>
              </a:r>
              <a:endParaRPr/>
            </a:p>
          </p:txBody>
        </p:sp>
        <p:sp>
          <p:nvSpPr>
            <p:cNvPr id="655" name="Google Shape;655;p47"/>
            <p:cNvSpPr/>
            <p:nvPr/>
          </p:nvSpPr>
          <p:spPr>
            <a:xfrm>
              <a:off x="2112" y="3456"/>
              <a:ext cx="96" cy="242"/>
            </a:xfrm>
            <a:prstGeom prst="upDownArrow">
              <a:avLst>
                <a:gd fmla="val 50000" name="adj1"/>
                <a:gd fmla="val 4284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7"/>
            <p:cNvSpPr/>
            <p:nvPr/>
          </p:nvSpPr>
          <p:spPr>
            <a:xfrm>
              <a:off x="4464" y="1584"/>
              <a:ext cx="384" cy="96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7"/>
            <p:cNvSpPr/>
            <p:nvPr/>
          </p:nvSpPr>
          <p:spPr>
            <a:xfrm>
              <a:off x="4272" y="2640"/>
              <a:ext cx="288" cy="96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7"/>
            <p:cNvSpPr/>
            <p:nvPr/>
          </p:nvSpPr>
          <p:spPr>
            <a:xfrm>
              <a:off x="2208" y="1584"/>
              <a:ext cx="387" cy="96"/>
            </a:xfrm>
            <a:prstGeom prst="leftRightArrow">
              <a:avLst>
                <a:gd fmla="val 4287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7"/>
            <p:cNvSpPr/>
            <p:nvPr/>
          </p:nvSpPr>
          <p:spPr>
            <a:xfrm>
              <a:off x="1872" y="1680"/>
              <a:ext cx="96" cy="24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7"/>
            <p:cNvSpPr/>
            <p:nvPr/>
          </p:nvSpPr>
          <p:spPr>
            <a:xfrm>
              <a:off x="3456" y="1680"/>
              <a:ext cx="96" cy="24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7"/>
            <p:cNvSpPr/>
            <p:nvPr/>
          </p:nvSpPr>
          <p:spPr>
            <a:xfrm>
              <a:off x="4992" y="1680"/>
              <a:ext cx="96" cy="24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7"/>
            <p:cNvSpPr/>
            <p:nvPr/>
          </p:nvSpPr>
          <p:spPr>
            <a:xfrm>
              <a:off x="2544" y="1200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7"/>
            <p:cNvSpPr/>
            <p:nvPr/>
          </p:nvSpPr>
          <p:spPr>
            <a:xfrm>
              <a:off x="3072" y="1200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7"/>
            <p:cNvSpPr/>
            <p:nvPr/>
          </p:nvSpPr>
          <p:spPr>
            <a:xfrm>
              <a:off x="3840" y="1200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7"/>
            <p:cNvSpPr/>
            <p:nvPr/>
          </p:nvSpPr>
          <p:spPr>
            <a:xfrm>
              <a:off x="4416" y="1200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7"/>
            <p:cNvSpPr/>
            <p:nvPr/>
          </p:nvSpPr>
          <p:spPr>
            <a:xfrm>
              <a:off x="1872" y="3120"/>
              <a:ext cx="96" cy="242"/>
            </a:xfrm>
            <a:prstGeom prst="upDownArrow">
              <a:avLst>
                <a:gd fmla="val 50000" name="adj1"/>
                <a:gd fmla="val 4284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7"/>
            <p:cNvSpPr/>
            <p:nvPr/>
          </p:nvSpPr>
          <p:spPr>
            <a:xfrm>
              <a:off x="2352" y="2784"/>
              <a:ext cx="96" cy="243"/>
            </a:xfrm>
            <a:prstGeom prst="upDownArrow">
              <a:avLst>
                <a:gd fmla="val 50000" name="adj1"/>
                <a:gd fmla="val 4267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7"/>
            <p:cNvSpPr/>
            <p:nvPr/>
          </p:nvSpPr>
          <p:spPr>
            <a:xfrm>
              <a:off x="2112" y="2352"/>
              <a:ext cx="96" cy="24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2112" y="2016"/>
              <a:ext cx="96" cy="24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7"/>
            <p:cNvSpPr txBox="1"/>
            <p:nvPr/>
          </p:nvSpPr>
          <p:spPr>
            <a:xfrm>
              <a:off x="2592" y="2928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ES-IS</a:t>
              </a:r>
              <a:endParaRPr/>
            </a:p>
          </p:txBody>
        </p:sp>
        <p:sp>
          <p:nvSpPr>
            <p:cNvPr id="671" name="Google Shape;671;p47"/>
            <p:cNvSpPr txBox="1"/>
            <p:nvPr/>
          </p:nvSpPr>
          <p:spPr>
            <a:xfrm>
              <a:off x="3312" y="2928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IS-IS</a:t>
              </a:r>
              <a:endParaRPr/>
            </a:p>
          </p:txBody>
        </p:sp>
        <p:sp>
          <p:nvSpPr>
            <p:cNvPr id="672" name="Google Shape;672;p47"/>
            <p:cNvSpPr txBox="1"/>
            <p:nvPr/>
          </p:nvSpPr>
          <p:spPr>
            <a:xfrm>
              <a:off x="4032" y="2928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IDRP</a:t>
              </a:r>
              <a:endParaRPr/>
            </a:p>
          </p:txBody>
        </p:sp>
        <p:sp>
          <p:nvSpPr>
            <p:cNvPr id="673" name="Google Shape;673;p47"/>
            <p:cNvSpPr/>
            <p:nvPr/>
          </p:nvSpPr>
          <p:spPr>
            <a:xfrm>
              <a:off x="2832" y="3073"/>
              <a:ext cx="96" cy="242"/>
            </a:xfrm>
            <a:prstGeom prst="upDownArrow">
              <a:avLst>
                <a:gd fmla="val 50000" name="adj1"/>
                <a:gd fmla="val 4284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7"/>
            <p:cNvSpPr/>
            <p:nvPr/>
          </p:nvSpPr>
          <p:spPr>
            <a:xfrm>
              <a:off x="3504" y="3073"/>
              <a:ext cx="96" cy="242"/>
            </a:xfrm>
            <a:prstGeom prst="upDownArrow">
              <a:avLst>
                <a:gd fmla="val 50000" name="adj1"/>
                <a:gd fmla="val 4284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7"/>
            <p:cNvSpPr/>
            <p:nvPr/>
          </p:nvSpPr>
          <p:spPr>
            <a:xfrm>
              <a:off x="4224" y="3073"/>
              <a:ext cx="96" cy="242"/>
            </a:xfrm>
            <a:prstGeom prst="upDownArrow">
              <a:avLst>
                <a:gd fmla="val 50000" name="adj1"/>
                <a:gd fmla="val 4284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 – Example - </a:t>
            </a:r>
            <a:r>
              <a:rPr b="0" i="1" lang="en-US" sz="32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FYI</a:t>
            </a:r>
            <a:endParaRPr/>
          </a:p>
        </p:txBody>
      </p:sp>
      <p:sp>
        <p:nvSpPr>
          <p:cNvPr id="681" name="Google Shape;681;p48"/>
          <p:cNvSpPr txBox="1"/>
          <p:nvPr>
            <p:ph idx="1" type="body"/>
          </p:nvPr>
        </p:nvSpPr>
        <p:spPr>
          <a:xfrm>
            <a:off x="152400" y="12954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Descriptive Scheme: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Can be used to describe the functionality and interaction of different protocol suites.</a:t>
            </a:r>
            <a:endParaRPr/>
          </a:p>
        </p:txBody>
      </p:sp>
      <p:sp>
        <p:nvSpPr>
          <p:cNvPr id="682" name="Google Shape;682;p48"/>
          <p:cNvSpPr txBox="1"/>
          <p:nvPr/>
        </p:nvSpPr>
        <p:spPr>
          <a:xfrm>
            <a:off x="228600" y="3962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/>
          </a:p>
        </p:txBody>
      </p:sp>
      <p:grpSp>
        <p:nvGrpSpPr>
          <p:cNvPr id="683" name="Google Shape;683;p48"/>
          <p:cNvGrpSpPr/>
          <p:nvPr/>
        </p:nvGrpSpPr>
        <p:grpSpPr>
          <a:xfrm>
            <a:off x="1524000" y="2133600"/>
            <a:ext cx="7467600" cy="4483100"/>
            <a:chOff x="480" y="960"/>
            <a:chExt cx="4896" cy="2968"/>
          </a:xfrm>
        </p:grpSpPr>
        <p:sp>
          <p:nvSpPr>
            <p:cNvPr id="684" name="Google Shape;684;p48"/>
            <p:cNvSpPr txBox="1"/>
            <p:nvPr/>
          </p:nvSpPr>
          <p:spPr>
            <a:xfrm>
              <a:off x="1632" y="3530"/>
              <a:ext cx="3744" cy="39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8"/>
            <p:cNvSpPr txBox="1"/>
            <p:nvPr/>
          </p:nvSpPr>
          <p:spPr>
            <a:xfrm>
              <a:off x="480" y="3530"/>
              <a:ext cx="1152" cy="39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</p:txBody>
        </p:sp>
        <p:sp>
          <p:nvSpPr>
            <p:cNvPr id="686" name="Google Shape;686;p48"/>
            <p:cNvSpPr txBox="1"/>
            <p:nvPr/>
          </p:nvSpPr>
          <p:spPr>
            <a:xfrm>
              <a:off x="1632" y="3142"/>
              <a:ext cx="3744" cy="38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8"/>
            <p:cNvSpPr txBox="1"/>
            <p:nvPr/>
          </p:nvSpPr>
          <p:spPr>
            <a:xfrm>
              <a:off x="480" y="3142"/>
              <a:ext cx="1152" cy="38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/>
            </a:p>
          </p:txBody>
        </p:sp>
        <p:sp>
          <p:nvSpPr>
            <p:cNvPr id="688" name="Google Shape;688;p48"/>
            <p:cNvSpPr txBox="1"/>
            <p:nvPr/>
          </p:nvSpPr>
          <p:spPr>
            <a:xfrm>
              <a:off x="1632" y="2544"/>
              <a:ext cx="3744" cy="598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8"/>
            <p:cNvSpPr txBox="1"/>
            <p:nvPr/>
          </p:nvSpPr>
          <p:spPr>
            <a:xfrm>
              <a:off x="480" y="2544"/>
              <a:ext cx="1152" cy="59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</p:txBody>
        </p:sp>
        <p:sp>
          <p:nvSpPr>
            <p:cNvPr id="690" name="Google Shape;690;p48"/>
            <p:cNvSpPr txBox="1"/>
            <p:nvPr/>
          </p:nvSpPr>
          <p:spPr>
            <a:xfrm>
              <a:off x="1632" y="2160"/>
              <a:ext cx="3744" cy="38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8"/>
            <p:cNvSpPr txBox="1"/>
            <p:nvPr/>
          </p:nvSpPr>
          <p:spPr>
            <a:xfrm>
              <a:off x="480" y="2160"/>
              <a:ext cx="1152" cy="384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/>
            </a:p>
          </p:txBody>
        </p:sp>
        <p:sp>
          <p:nvSpPr>
            <p:cNvPr id="692" name="Google Shape;692;p48"/>
            <p:cNvSpPr txBox="1"/>
            <p:nvPr/>
          </p:nvSpPr>
          <p:spPr>
            <a:xfrm>
              <a:off x="1632" y="1776"/>
              <a:ext cx="3744" cy="38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8"/>
            <p:cNvSpPr txBox="1"/>
            <p:nvPr/>
          </p:nvSpPr>
          <p:spPr>
            <a:xfrm>
              <a:off x="480" y="1776"/>
              <a:ext cx="1152" cy="387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/>
            </a:p>
          </p:txBody>
        </p:sp>
        <p:sp>
          <p:nvSpPr>
            <p:cNvPr id="694" name="Google Shape;694;p48"/>
            <p:cNvSpPr txBox="1"/>
            <p:nvPr/>
          </p:nvSpPr>
          <p:spPr>
            <a:xfrm>
              <a:off x="1632" y="1536"/>
              <a:ext cx="3744" cy="24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8"/>
            <p:cNvSpPr txBox="1"/>
            <p:nvPr/>
          </p:nvSpPr>
          <p:spPr>
            <a:xfrm>
              <a:off x="480" y="1536"/>
              <a:ext cx="1152" cy="240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/>
            </a:p>
          </p:txBody>
        </p:sp>
        <p:sp>
          <p:nvSpPr>
            <p:cNvPr id="696" name="Google Shape;696;p48"/>
            <p:cNvSpPr txBox="1"/>
            <p:nvPr/>
          </p:nvSpPr>
          <p:spPr>
            <a:xfrm>
              <a:off x="1632" y="960"/>
              <a:ext cx="3744" cy="57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8"/>
            <p:cNvSpPr txBox="1"/>
            <p:nvPr/>
          </p:nvSpPr>
          <p:spPr>
            <a:xfrm>
              <a:off x="480" y="960"/>
              <a:ext cx="1152" cy="576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0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cxnSp>
          <p:nvCxnSpPr>
            <p:cNvPr id="698" name="Google Shape;698;p48"/>
            <p:cNvCxnSpPr/>
            <p:nvPr/>
          </p:nvCxnSpPr>
          <p:spPr>
            <a:xfrm>
              <a:off x="480" y="960"/>
              <a:ext cx="4896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9" name="Google Shape;699;p48"/>
            <p:cNvCxnSpPr/>
            <p:nvPr/>
          </p:nvCxnSpPr>
          <p:spPr>
            <a:xfrm>
              <a:off x="480" y="1536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0" name="Google Shape;700;p48"/>
            <p:cNvCxnSpPr/>
            <p:nvPr/>
          </p:nvCxnSpPr>
          <p:spPr>
            <a:xfrm>
              <a:off x="480" y="1776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1" name="Google Shape;701;p48"/>
            <p:cNvCxnSpPr/>
            <p:nvPr/>
          </p:nvCxnSpPr>
          <p:spPr>
            <a:xfrm>
              <a:off x="480" y="2160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2" name="Google Shape;702;p48"/>
            <p:cNvCxnSpPr/>
            <p:nvPr/>
          </p:nvCxnSpPr>
          <p:spPr>
            <a:xfrm>
              <a:off x="480" y="2544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3" name="Google Shape;703;p48"/>
            <p:cNvCxnSpPr/>
            <p:nvPr/>
          </p:nvCxnSpPr>
          <p:spPr>
            <a:xfrm>
              <a:off x="480" y="3142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4" name="Google Shape;704;p48"/>
            <p:cNvCxnSpPr/>
            <p:nvPr/>
          </p:nvCxnSpPr>
          <p:spPr>
            <a:xfrm>
              <a:off x="480" y="3530"/>
              <a:ext cx="489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5" name="Google Shape;705;p48"/>
            <p:cNvCxnSpPr/>
            <p:nvPr/>
          </p:nvCxnSpPr>
          <p:spPr>
            <a:xfrm>
              <a:off x="480" y="3928"/>
              <a:ext cx="4896" cy="0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6" name="Google Shape;706;p48"/>
            <p:cNvCxnSpPr/>
            <p:nvPr/>
          </p:nvCxnSpPr>
          <p:spPr>
            <a:xfrm>
              <a:off x="480" y="960"/>
              <a:ext cx="0" cy="2968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7" name="Google Shape;707;p48"/>
            <p:cNvCxnSpPr/>
            <p:nvPr/>
          </p:nvCxnSpPr>
          <p:spPr>
            <a:xfrm>
              <a:off x="1632" y="960"/>
              <a:ext cx="0" cy="296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708" name="Google Shape;708;p48"/>
            <p:cNvCxnSpPr/>
            <p:nvPr/>
          </p:nvCxnSpPr>
          <p:spPr>
            <a:xfrm>
              <a:off x="5376" y="960"/>
              <a:ext cx="0" cy="2968"/>
            </a:xfrm>
            <a:prstGeom prst="straightConnector1">
              <a:avLst/>
            </a:prstGeom>
            <a:noFill/>
            <a:ln cap="sq" cmpd="sng" w="2857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09" name="Google Shape;709;p48"/>
            <p:cNvSpPr txBox="1"/>
            <p:nvPr/>
          </p:nvSpPr>
          <p:spPr>
            <a:xfrm>
              <a:off x="1776" y="3648"/>
              <a:ext cx="3552" cy="17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 / Wan Physical Media</a:t>
              </a:r>
              <a:endParaRPr/>
            </a:p>
          </p:txBody>
        </p:sp>
        <p:sp>
          <p:nvSpPr>
            <p:cNvPr id="710" name="Google Shape;710;p48"/>
            <p:cNvSpPr txBox="1"/>
            <p:nvPr/>
          </p:nvSpPr>
          <p:spPr>
            <a:xfrm>
              <a:off x="4368" y="3216"/>
              <a:ext cx="864" cy="2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1" i="0" lang="en-US" sz="1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ARP / RARP</a:t>
              </a:r>
              <a:endParaRPr/>
            </a:p>
          </p:txBody>
        </p:sp>
        <p:sp>
          <p:nvSpPr>
            <p:cNvPr id="711" name="Google Shape;711;p48"/>
            <p:cNvSpPr txBox="1"/>
            <p:nvPr/>
          </p:nvSpPr>
          <p:spPr>
            <a:xfrm>
              <a:off x="1776" y="3264"/>
              <a:ext cx="2496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LLC</a:t>
              </a:r>
              <a:endParaRPr/>
            </a:p>
          </p:txBody>
        </p:sp>
        <p:sp>
          <p:nvSpPr>
            <p:cNvPr id="712" name="Google Shape;712;p48"/>
            <p:cNvSpPr txBox="1"/>
            <p:nvPr/>
          </p:nvSpPr>
          <p:spPr>
            <a:xfrm>
              <a:off x="1776" y="2688"/>
              <a:ext cx="2640" cy="24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</p:txBody>
        </p:sp>
        <p:sp>
          <p:nvSpPr>
            <p:cNvPr id="713" name="Google Shape;713;p48"/>
            <p:cNvSpPr txBox="1"/>
            <p:nvPr/>
          </p:nvSpPr>
          <p:spPr>
            <a:xfrm>
              <a:off x="4656" y="2592"/>
              <a:ext cx="576" cy="48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ICMP RIP IGMP</a:t>
              </a:r>
              <a:endParaRPr/>
            </a:p>
          </p:txBody>
        </p:sp>
        <p:sp>
          <p:nvSpPr>
            <p:cNvPr id="714" name="Google Shape;714;p48"/>
            <p:cNvSpPr txBox="1"/>
            <p:nvPr/>
          </p:nvSpPr>
          <p:spPr>
            <a:xfrm>
              <a:off x="1776" y="2256"/>
              <a:ext cx="1920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/>
            </a:p>
          </p:txBody>
        </p:sp>
        <p:sp>
          <p:nvSpPr>
            <p:cNvPr id="715" name="Google Shape;715;p48"/>
            <p:cNvSpPr txBox="1"/>
            <p:nvPr/>
          </p:nvSpPr>
          <p:spPr>
            <a:xfrm>
              <a:off x="3792" y="2256"/>
              <a:ext cx="1440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UDP</a:t>
              </a:r>
              <a:endParaRPr/>
            </a:p>
          </p:txBody>
        </p:sp>
        <p:sp>
          <p:nvSpPr>
            <p:cNvPr id="716" name="Google Shape;716;p48"/>
            <p:cNvSpPr txBox="1"/>
            <p:nvPr/>
          </p:nvSpPr>
          <p:spPr>
            <a:xfrm>
              <a:off x="1776" y="1872"/>
              <a:ext cx="720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NETBIOS</a:t>
              </a:r>
              <a:endParaRPr/>
            </a:p>
          </p:txBody>
        </p:sp>
        <p:sp>
          <p:nvSpPr>
            <p:cNvPr id="717" name="Google Shape;717;p48"/>
            <p:cNvSpPr txBox="1"/>
            <p:nvPr/>
          </p:nvSpPr>
          <p:spPr>
            <a:xfrm>
              <a:off x="2592" y="1872"/>
              <a:ext cx="528" cy="19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</a:t>
              </a:r>
              <a:endParaRPr/>
            </a:p>
          </p:txBody>
        </p:sp>
        <p:sp>
          <p:nvSpPr>
            <p:cNvPr id="718" name="Google Shape;718;p48"/>
            <p:cNvSpPr txBox="1"/>
            <p:nvPr/>
          </p:nvSpPr>
          <p:spPr>
            <a:xfrm>
              <a:off x="1824" y="1056"/>
              <a:ext cx="1776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FTP, Telnet, SMTP, POP3, IMAP4, HTTP, X-Windows</a:t>
              </a:r>
              <a:endParaRPr/>
            </a:p>
          </p:txBody>
        </p:sp>
        <p:sp>
          <p:nvSpPr>
            <p:cNvPr id="719" name="Google Shape;719;p48"/>
            <p:cNvSpPr txBox="1"/>
            <p:nvPr/>
          </p:nvSpPr>
          <p:spPr>
            <a:xfrm>
              <a:off x="3840" y="1056"/>
              <a:ext cx="1104" cy="384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SNMP, TFTP, BOOTP, DHCP</a:t>
              </a:r>
              <a:endParaRPr/>
            </a:p>
          </p:txBody>
        </p:sp>
        <p:sp>
          <p:nvSpPr>
            <p:cNvPr id="720" name="Google Shape;720;p48"/>
            <p:cNvSpPr/>
            <p:nvPr/>
          </p:nvSpPr>
          <p:spPr>
            <a:xfrm>
              <a:off x="2064" y="3408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48"/>
            <p:cNvSpPr/>
            <p:nvPr/>
          </p:nvSpPr>
          <p:spPr>
            <a:xfrm>
              <a:off x="4752" y="3408"/>
              <a:ext cx="99" cy="288"/>
            </a:xfrm>
            <a:prstGeom prst="upDownArrow">
              <a:avLst>
                <a:gd fmla="val 50000" name="adj1"/>
                <a:gd fmla="val 4455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8"/>
            <p:cNvSpPr/>
            <p:nvPr/>
          </p:nvSpPr>
          <p:spPr>
            <a:xfrm>
              <a:off x="3312" y="2880"/>
              <a:ext cx="96" cy="432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8"/>
            <p:cNvSpPr/>
            <p:nvPr/>
          </p:nvSpPr>
          <p:spPr>
            <a:xfrm>
              <a:off x="4368" y="2785"/>
              <a:ext cx="383" cy="98"/>
            </a:xfrm>
            <a:prstGeom prst="leftRightArrow">
              <a:avLst>
                <a:gd fmla="val 4422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2448" y="2400"/>
              <a:ext cx="96" cy="336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4128" y="2400"/>
              <a:ext cx="96" cy="336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8"/>
            <p:cNvSpPr/>
            <p:nvPr/>
          </p:nvSpPr>
          <p:spPr>
            <a:xfrm>
              <a:off x="2064" y="2016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2976" y="2016"/>
              <a:ext cx="96" cy="28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8"/>
            <p:cNvSpPr/>
            <p:nvPr/>
          </p:nvSpPr>
          <p:spPr>
            <a:xfrm>
              <a:off x="3264" y="1392"/>
              <a:ext cx="96" cy="912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4128" y="1392"/>
              <a:ext cx="96" cy="912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/>
          </a:p>
        </p:txBody>
      </p:sp>
      <p:graphicFrame>
        <p:nvGraphicFramePr>
          <p:cNvPr id="735" name="Google Shape;735;p49"/>
          <p:cNvGraphicFramePr/>
          <p:nvPr/>
        </p:nvGraphicFramePr>
        <p:xfrm>
          <a:off x="3178175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485775"/>
                <a:gridCol w="2082800"/>
                <a:gridCol w="1568450"/>
                <a:gridCol w="1676400"/>
              </a:tblGrid>
              <a:tr h="5857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sng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CISCO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sng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MICROSOFT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Presentation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eople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izza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eem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ausage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hrow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rocessing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lease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grpSp>
        <p:nvGrpSpPr>
          <p:cNvPr id="736" name="Google Shape;736;p49"/>
          <p:cNvGrpSpPr/>
          <p:nvPr/>
        </p:nvGrpSpPr>
        <p:grpSpPr>
          <a:xfrm>
            <a:off x="228600" y="1371600"/>
            <a:ext cx="3200400" cy="1225550"/>
            <a:chOff x="144" y="864"/>
            <a:chExt cx="2016" cy="772"/>
          </a:xfrm>
        </p:grpSpPr>
        <p:cxnSp>
          <p:nvCxnSpPr>
            <p:cNvPr id="737" name="Google Shape;737;p49"/>
            <p:cNvCxnSpPr/>
            <p:nvPr/>
          </p:nvCxnSpPr>
          <p:spPr>
            <a:xfrm>
              <a:off x="1680" y="1056"/>
              <a:ext cx="480" cy="24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738" name="Google Shape;738;p49"/>
            <p:cNvSpPr txBox="1"/>
            <p:nvPr/>
          </p:nvSpPr>
          <p:spPr>
            <a:xfrm>
              <a:off x="144" y="864"/>
              <a:ext cx="1632" cy="772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Usually referenced by layer number</a:t>
              </a:r>
              <a:endParaRPr/>
            </a:p>
          </p:txBody>
        </p:sp>
      </p:grpSp>
      <p:grpSp>
        <p:nvGrpSpPr>
          <p:cNvPr id="739" name="Google Shape;739;p49"/>
          <p:cNvGrpSpPr/>
          <p:nvPr/>
        </p:nvGrpSpPr>
        <p:grpSpPr>
          <a:xfrm>
            <a:off x="152400" y="2895600"/>
            <a:ext cx="3124200" cy="2200275"/>
            <a:chOff x="96" y="1824"/>
            <a:chExt cx="1968" cy="1386"/>
          </a:xfrm>
        </p:grpSpPr>
        <p:cxnSp>
          <p:nvCxnSpPr>
            <p:cNvPr id="740" name="Google Shape;740;p49"/>
            <p:cNvCxnSpPr/>
            <p:nvPr/>
          </p:nvCxnSpPr>
          <p:spPr>
            <a:xfrm flipH="1" rot="10800000">
              <a:off x="1536" y="1824"/>
              <a:ext cx="528" cy="43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741" name="Google Shape;741;p49"/>
            <p:cNvCxnSpPr/>
            <p:nvPr/>
          </p:nvCxnSpPr>
          <p:spPr>
            <a:xfrm flipH="1" rot="10800000">
              <a:off x="1632" y="2112"/>
              <a:ext cx="432" cy="28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742" name="Google Shape;742;p49"/>
            <p:cNvSpPr txBox="1"/>
            <p:nvPr/>
          </p:nvSpPr>
          <p:spPr>
            <a:xfrm>
              <a:off x="96" y="2208"/>
              <a:ext cx="1776" cy="1002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These two layers are not commonly referred to in most instances.</a:t>
              </a: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/>
          </a:p>
        </p:txBody>
      </p:sp>
      <p:graphicFrame>
        <p:nvGraphicFramePr>
          <p:cNvPr id="748" name="Google Shape;748;p50"/>
          <p:cNvGraphicFramePr/>
          <p:nvPr/>
        </p:nvGraphicFramePr>
        <p:xfrm>
          <a:off x="3178175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485775"/>
                <a:gridCol w="2082800"/>
                <a:gridCol w="1568450"/>
                <a:gridCol w="1676400"/>
              </a:tblGrid>
              <a:tr h="5857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sng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CISCO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sng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MICROSOFT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Presentation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eople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izza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eem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ausage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hrow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eed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rocessing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200"/>
                        <a:buFont typeface="Arial"/>
                        <a:buNone/>
                      </a:pPr>
                      <a:r>
                        <a:rPr b="0" i="0" lang="en-US" sz="22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="0" i="0" lang="en-US" sz="22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lease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749" name="Google Shape;749;p50"/>
          <p:cNvSpPr txBox="1"/>
          <p:nvPr/>
        </p:nvSpPr>
        <p:spPr>
          <a:xfrm>
            <a:off x="228600" y="2667000"/>
            <a:ext cx="2667000" cy="1570037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concern: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Communications between applications</a:t>
            </a:r>
            <a:endParaRPr/>
          </a:p>
        </p:txBody>
      </p:sp>
      <p:sp>
        <p:nvSpPr>
          <p:cNvPr id="750" name="Google Shape;750;p50"/>
          <p:cNvSpPr txBox="1"/>
          <p:nvPr/>
        </p:nvSpPr>
        <p:spPr>
          <a:xfrm>
            <a:off x="152400" y="5105400"/>
            <a:ext cx="2819400" cy="12001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concern: 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Moving raw data cross the network</a:t>
            </a:r>
            <a:endParaRPr/>
          </a:p>
        </p:txBody>
      </p:sp>
      <p:sp>
        <p:nvSpPr>
          <p:cNvPr id="751" name="Google Shape;751;p50"/>
          <p:cNvSpPr/>
          <p:nvPr/>
        </p:nvSpPr>
        <p:spPr>
          <a:xfrm>
            <a:off x="2895600" y="1981200"/>
            <a:ext cx="381000" cy="2971800"/>
          </a:xfrm>
          <a:prstGeom prst="leftBrace">
            <a:avLst>
              <a:gd fmla="val 231" name="adj1"/>
              <a:gd fmla="val 50000" name="adj2"/>
            </a:avLst>
          </a:prstGeom>
          <a:noFill/>
          <a:ln cap="flat" cmpd="sng" w="38100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50"/>
          <p:cNvSpPr/>
          <p:nvPr/>
        </p:nvSpPr>
        <p:spPr>
          <a:xfrm>
            <a:off x="2971800" y="5105400"/>
            <a:ext cx="304800" cy="12192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Communicating Over the Network</a:t>
            </a:r>
            <a:endParaRPr/>
          </a:p>
        </p:txBody>
      </p:sp>
      <p:sp>
        <p:nvSpPr>
          <p:cNvPr id="758" name="Google Shape;758;p51"/>
          <p:cNvSpPr txBox="1"/>
          <p:nvPr/>
        </p:nvSpPr>
        <p:spPr>
          <a:xfrm>
            <a:off x="685800" y="2286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Addressing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OSI Model</a:t>
            </a:r>
            <a:endParaRPr/>
          </a:p>
        </p:txBody>
      </p:sp>
      <p:graphicFrame>
        <p:nvGraphicFramePr>
          <p:cNvPr id="764" name="Google Shape;764;p52"/>
          <p:cNvGraphicFramePr/>
          <p:nvPr/>
        </p:nvGraphicFramePr>
        <p:xfrm>
          <a:off x="304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2625725"/>
                <a:gridCol w="5908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OSI Model Layer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Addressing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Encoded Application Data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(Usually referred to as the </a:t>
                      </a:r>
                      <a:r>
                        <a:rPr b="1" i="1" lang="en-US" sz="1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Upper Layers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vMerge="1"/>
              </a:tr>
              <a:tr h="53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vMerge="1"/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and Destination:  </a:t>
                      </a:r>
                      <a:r>
                        <a:rPr b="0" i="0" lang="en-US" sz="1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i="1" lang="en-US" sz="1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Address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and Destination:  </a:t>
                      </a:r>
                      <a:r>
                        <a:rPr b="1" i="1" lang="en-US" sz="1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Logical Network Address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and Destination:  </a:t>
                      </a:r>
                      <a:r>
                        <a:rPr b="1" i="1" lang="en-US" sz="1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Device Physical Address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Timing and Synchronization Bits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3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to the End Device</a:t>
            </a:r>
            <a:endParaRPr/>
          </a:p>
        </p:txBody>
      </p:sp>
      <p:sp>
        <p:nvSpPr>
          <p:cNvPr id="770" name="Google Shape;770;p53"/>
          <p:cNvSpPr txBox="1"/>
          <p:nvPr/>
        </p:nvSpPr>
        <p:spPr>
          <a:xfrm>
            <a:off x="3124200" y="3733800"/>
            <a:ext cx="914400" cy="374650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771" name="Google Shape;771;p53"/>
          <p:cNvSpPr txBox="1"/>
          <p:nvPr/>
        </p:nvSpPr>
        <p:spPr>
          <a:xfrm>
            <a:off x="3124200" y="4343400"/>
            <a:ext cx="914400" cy="3746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772" name="Google Shape;772;p53"/>
          <p:cNvSpPr txBox="1"/>
          <p:nvPr/>
        </p:nvSpPr>
        <p:spPr>
          <a:xfrm>
            <a:off x="3124200" y="4953000"/>
            <a:ext cx="914400" cy="374650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773" name="Google Shape;773;p53"/>
          <p:cNvSpPr txBox="1"/>
          <p:nvPr/>
        </p:nvSpPr>
        <p:spPr>
          <a:xfrm>
            <a:off x="5105400" y="4953000"/>
            <a:ext cx="914400" cy="374650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774" name="Google Shape;774;p53"/>
          <p:cNvSpPr txBox="1"/>
          <p:nvPr/>
        </p:nvSpPr>
        <p:spPr>
          <a:xfrm>
            <a:off x="3124200" y="2590800"/>
            <a:ext cx="19812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Email Message</a:t>
            </a:r>
            <a:endParaRPr/>
          </a:p>
        </p:txBody>
      </p:sp>
      <p:sp>
        <p:nvSpPr>
          <p:cNvPr id="775" name="Google Shape;775;p53"/>
          <p:cNvSpPr txBox="1"/>
          <p:nvPr/>
        </p:nvSpPr>
        <p:spPr>
          <a:xfrm>
            <a:off x="4038600" y="37338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76" name="Google Shape;776;p53"/>
          <p:cNvSpPr txBox="1"/>
          <p:nvPr/>
        </p:nvSpPr>
        <p:spPr>
          <a:xfrm>
            <a:off x="4038600" y="43434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77" name="Google Shape;777;p53"/>
          <p:cNvSpPr txBox="1"/>
          <p:nvPr/>
        </p:nvSpPr>
        <p:spPr>
          <a:xfrm>
            <a:off x="4038600" y="49530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778" name="Google Shape;778;p53"/>
          <p:cNvSpPr txBox="1"/>
          <p:nvPr/>
        </p:nvSpPr>
        <p:spPr>
          <a:xfrm>
            <a:off x="6400800" y="2514600"/>
            <a:ext cx="2514600" cy="49530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rgbClr val="99FF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Encoded Data</a:t>
            </a:r>
            <a:endParaRPr/>
          </a:p>
        </p:txBody>
      </p:sp>
      <p:sp>
        <p:nvSpPr>
          <p:cNvPr id="779" name="Google Shape;779;p53"/>
          <p:cNvSpPr txBox="1"/>
          <p:nvPr/>
        </p:nvSpPr>
        <p:spPr>
          <a:xfrm>
            <a:off x="6400800" y="3657600"/>
            <a:ext cx="2514600" cy="461962"/>
          </a:xfrm>
          <a:prstGeom prst="rect">
            <a:avLst/>
          </a:prstGeom>
          <a:solidFill>
            <a:srgbClr val="000080"/>
          </a:solidFill>
          <a:ln cap="flat" cmpd="sng" w="38100">
            <a:solidFill>
              <a:srgbClr val="99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780" name="Google Shape;780;p53"/>
          <p:cNvSpPr txBox="1"/>
          <p:nvPr/>
        </p:nvSpPr>
        <p:spPr>
          <a:xfrm>
            <a:off x="6400800" y="4267200"/>
            <a:ext cx="2514600" cy="49530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sp>
        <p:nvSpPr>
          <p:cNvPr id="781" name="Google Shape;781;p53"/>
          <p:cNvSpPr txBox="1"/>
          <p:nvPr/>
        </p:nvSpPr>
        <p:spPr>
          <a:xfrm>
            <a:off x="6400800" y="4876800"/>
            <a:ext cx="2514600" cy="495300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782" name="Google Shape;782;p53"/>
          <p:cNvCxnSpPr/>
          <p:nvPr/>
        </p:nvCxnSpPr>
        <p:spPr>
          <a:xfrm>
            <a:off x="5181600" y="27432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83" name="Google Shape;783;p53"/>
          <p:cNvCxnSpPr/>
          <p:nvPr/>
        </p:nvCxnSpPr>
        <p:spPr>
          <a:xfrm>
            <a:off x="5181600" y="38862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84" name="Google Shape;784;p53"/>
          <p:cNvCxnSpPr/>
          <p:nvPr/>
        </p:nvCxnSpPr>
        <p:spPr>
          <a:xfrm>
            <a:off x="5181600" y="44958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85" name="Google Shape;785;p53"/>
          <p:cNvCxnSpPr/>
          <p:nvPr/>
        </p:nvCxnSpPr>
        <p:spPr>
          <a:xfrm>
            <a:off x="6096000" y="51054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model02" id="786" name="Google Shape;78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47800"/>
            <a:ext cx="28765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3"/>
          <p:cNvSpPr txBox="1"/>
          <p:nvPr/>
        </p:nvSpPr>
        <p:spPr>
          <a:xfrm>
            <a:off x="4343400" y="1371600"/>
            <a:ext cx="35052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Encapsulation Process and Addressing</a:t>
            </a:r>
            <a:endParaRPr/>
          </a:p>
        </p:txBody>
      </p:sp>
      <p:sp>
        <p:nvSpPr>
          <p:cNvPr id="788" name="Google Shape;788;p53"/>
          <p:cNvSpPr txBox="1"/>
          <p:nvPr/>
        </p:nvSpPr>
        <p:spPr>
          <a:xfrm>
            <a:off x="381000" y="548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789" name="Google Shape;789;p53"/>
          <p:cNvSpPr txBox="1"/>
          <p:nvPr/>
        </p:nvSpPr>
        <p:spPr>
          <a:xfrm>
            <a:off x="381000" y="4876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381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3810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381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38100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381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/>
          </a:p>
        </p:txBody>
      </p:sp>
      <p:sp>
        <p:nvSpPr>
          <p:cNvPr id="795" name="Google Shape;795;p53"/>
          <p:cNvSpPr txBox="1"/>
          <p:nvPr/>
        </p:nvSpPr>
        <p:spPr>
          <a:xfrm>
            <a:off x="3124200" y="5638800"/>
            <a:ext cx="5791200" cy="860425"/>
          </a:xfrm>
          <a:prstGeom prst="rect">
            <a:avLst/>
          </a:prstGeom>
          <a:solidFill>
            <a:srgbClr val="663300"/>
          </a:solidFill>
          <a:ln cap="flat" cmpd="sng" w="38100">
            <a:solidFill>
              <a:srgbClr val="FF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Addressing always includes both the Source and Destination Addresses.</a:t>
            </a:r>
            <a:endParaRPr/>
          </a:p>
        </p:txBody>
      </p:sp>
      <p:sp>
        <p:nvSpPr>
          <p:cNvPr id="796" name="Google Shape;796;p53"/>
          <p:cNvSpPr/>
          <p:nvPr/>
        </p:nvSpPr>
        <p:spPr>
          <a:xfrm>
            <a:off x="2667000" y="1752600"/>
            <a:ext cx="381000" cy="1905000"/>
          </a:xfrm>
          <a:prstGeom prst="rightBrace">
            <a:avLst>
              <a:gd fmla="val 36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4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to the End Device</a:t>
            </a:r>
            <a:endParaRPr/>
          </a:p>
        </p:txBody>
      </p:sp>
      <p:pic>
        <p:nvPicPr>
          <p:cNvPr descr="model02" id="802" name="Google Shape;8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47800"/>
            <a:ext cx="28765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4"/>
          <p:cNvSpPr txBox="1"/>
          <p:nvPr/>
        </p:nvSpPr>
        <p:spPr>
          <a:xfrm>
            <a:off x="381000" y="548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804" name="Google Shape;804;p54"/>
          <p:cNvSpPr txBox="1"/>
          <p:nvPr/>
        </p:nvSpPr>
        <p:spPr>
          <a:xfrm>
            <a:off x="381000" y="4876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805" name="Google Shape;805;p54"/>
          <p:cNvSpPr txBox="1"/>
          <p:nvPr/>
        </p:nvSpPr>
        <p:spPr>
          <a:xfrm>
            <a:off x="381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806" name="Google Shape;806;p54"/>
          <p:cNvSpPr txBox="1"/>
          <p:nvPr/>
        </p:nvSpPr>
        <p:spPr>
          <a:xfrm>
            <a:off x="3810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807" name="Google Shape;807;p54"/>
          <p:cNvSpPr txBox="1"/>
          <p:nvPr/>
        </p:nvSpPr>
        <p:spPr>
          <a:xfrm>
            <a:off x="381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/>
          </a:p>
        </p:txBody>
      </p:sp>
      <p:sp>
        <p:nvSpPr>
          <p:cNvPr id="808" name="Google Shape;808;p54"/>
          <p:cNvSpPr txBox="1"/>
          <p:nvPr/>
        </p:nvSpPr>
        <p:spPr>
          <a:xfrm>
            <a:off x="38100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/>
          </a:p>
        </p:txBody>
      </p:sp>
      <p:sp>
        <p:nvSpPr>
          <p:cNvPr id="809" name="Google Shape;809;p54"/>
          <p:cNvSpPr txBox="1"/>
          <p:nvPr/>
        </p:nvSpPr>
        <p:spPr>
          <a:xfrm>
            <a:off x="381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/>
          </a:p>
        </p:txBody>
      </p:sp>
      <p:sp>
        <p:nvSpPr>
          <p:cNvPr id="810" name="Google Shape;810;p54"/>
          <p:cNvSpPr txBox="1"/>
          <p:nvPr/>
        </p:nvSpPr>
        <p:spPr>
          <a:xfrm>
            <a:off x="4419600" y="12192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Addressing</a:t>
            </a:r>
            <a:endParaRPr/>
          </a:p>
        </p:txBody>
      </p:sp>
      <p:sp>
        <p:nvSpPr>
          <p:cNvPr id="811" name="Google Shape;811;p54"/>
          <p:cNvSpPr txBox="1"/>
          <p:nvPr>
            <p:ph idx="1" type="body"/>
          </p:nvPr>
        </p:nvSpPr>
        <p:spPr>
          <a:xfrm>
            <a:off x="3200400" y="1752600"/>
            <a:ext cx="5715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Delivery on a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single local network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Unique on the network and represents the device.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Codes placed on the </a:t>
            </a: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NIC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by the manufacturer.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Referred to as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physical address</a:t>
            </a:r>
            <a:b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MAC address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812" name="Google Shape;812;p54"/>
          <p:cNvSpPr txBox="1"/>
          <p:nvPr/>
        </p:nvSpPr>
        <p:spPr>
          <a:xfrm>
            <a:off x="3124200" y="4953000"/>
            <a:ext cx="914400" cy="374650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813" name="Google Shape;813;p54"/>
          <p:cNvSpPr txBox="1"/>
          <p:nvPr/>
        </p:nvSpPr>
        <p:spPr>
          <a:xfrm>
            <a:off x="5105400" y="4953000"/>
            <a:ext cx="914400" cy="376237"/>
          </a:xfrm>
          <a:prstGeom prst="rect">
            <a:avLst/>
          </a:prstGeom>
          <a:solidFill>
            <a:srgbClr val="BFBFBF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t" bIns="64000" lIns="91425" spcFirstLastPara="1" rIns="91425" wrap="square" tIns="64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814" name="Google Shape;814;p54"/>
          <p:cNvSpPr txBox="1"/>
          <p:nvPr/>
        </p:nvSpPr>
        <p:spPr>
          <a:xfrm>
            <a:off x="4038600" y="4953000"/>
            <a:ext cx="1066800" cy="374650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815" name="Google Shape;815;p54"/>
          <p:cNvSpPr txBox="1"/>
          <p:nvPr/>
        </p:nvSpPr>
        <p:spPr>
          <a:xfrm>
            <a:off x="6400800" y="4724400"/>
            <a:ext cx="2514600" cy="1590675"/>
          </a:xfrm>
          <a:prstGeom prst="rect">
            <a:avLst/>
          </a:prstGeom>
          <a:solidFill>
            <a:srgbClr val="333399"/>
          </a:solidFill>
          <a:ln cap="flat" cmpd="sng" w="381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Source and Destination Physical or MAC Address</a:t>
            </a:r>
            <a:endParaRPr/>
          </a:p>
        </p:txBody>
      </p:sp>
      <p:cxnSp>
        <p:nvCxnSpPr>
          <p:cNvPr id="816" name="Google Shape;816;p54"/>
          <p:cNvCxnSpPr/>
          <p:nvPr/>
        </p:nvCxnSpPr>
        <p:spPr>
          <a:xfrm>
            <a:off x="6096000" y="51054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17" name="Google Shape;817;p54"/>
          <p:cNvSpPr txBox="1"/>
          <p:nvPr/>
        </p:nvSpPr>
        <p:spPr>
          <a:xfrm>
            <a:off x="228600" y="4800600"/>
            <a:ext cx="2667000" cy="60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5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to the End Device</a:t>
            </a:r>
            <a:endParaRPr/>
          </a:p>
        </p:txBody>
      </p:sp>
      <p:graphicFrame>
        <p:nvGraphicFramePr>
          <p:cNvPr id="823" name="Google Shape;823;p55"/>
          <p:cNvGraphicFramePr/>
          <p:nvPr/>
        </p:nvGraphicFramePr>
        <p:xfrm>
          <a:off x="1524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1371600"/>
                <a:gridCol w="1066800"/>
                <a:gridCol w="1447800"/>
                <a:gridCol w="1143000"/>
                <a:gridCol w="1371600"/>
                <a:gridCol w="1174750"/>
                <a:gridCol w="126365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 MAC 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</a:t>
                      </a:r>
                      <a:b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</a:tr>
            </a:tbl>
          </a:graphicData>
        </a:graphic>
      </p:graphicFrame>
      <p:sp>
        <p:nvSpPr>
          <p:cNvPr id="824" name="Google Shape;824;p55"/>
          <p:cNvSpPr/>
          <p:nvPr/>
        </p:nvSpPr>
        <p:spPr>
          <a:xfrm rot="5400000">
            <a:off x="1219200" y="12192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5"/>
          <p:cNvSpPr txBox="1"/>
          <p:nvPr/>
        </p:nvSpPr>
        <p:spPr>
          <a:xfrm>
            <a:off x="228600" y="16764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Header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6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Through The Network</a:t>
            </a:r>
            <a:endParaRPr/>
          </a:p>
        </p:txBody>
      </p:sp>
      <p:grpSp>
        <p:nvGrpSpPr>
          <p:cNvPr id="831" name="Google Shape;831;p56"/>
          <p:cNvGrpSpPr/>
          <p:nvPr/>
        </p:nvGrpSpPr>
        <p:grpSpPr>
          <a:xfrm>
            <a:off x="3124200" y="4267200"/>
            <a:ext cx="5791200" cy="1938337"/>
            <a:chOff x="1968" y="2688"/>
            <a:chExt cx="3648" cy="1221"/>
          </a:xfrm>
        </p:grpSpPr>
        <p:sp>
          <p:nvSpPr>
            <p:cNvPr id="832" name="Google Shape;832;p56"/>
            <p:cNvSpPr txBox="1"/>
            <p:nvPr/>
          </p:nvSpPr>
          <p:spPr>
            <a:xfrm>
              <a:off x="1968" y="2736"/>
              <a:ext cx="576" cy="236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  <p:sp>
          <p:nvSpPr>
            <p:cNvPr id="833" name="Google Shape;833;p56"/>
            <p:cNvSpPr txBox="1"/>
            <p:nvPr/>
          </p:nvSpPr>
          <p:spPr>
            <a:xfrm>
              <a:off x="2544" y="2736"/>
              <a:ext cx="672" cy="236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834" name="Google Shape;834;p56"/>
            <p:cNvSpPr txBox="1"/>
            <p:nvPr/>
          </p:nvSpPr>
          <p:spPr>
            <a:xfrm>
              <a:off x="4032" y="2688"/>
              <a:ext cx="1584" cy="1221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Source and Destination Logical Network Address</a:t>
              </a:r>
              <a:b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(IP, IPX, etc.)</a:t>
              </a:r>
              <a:endParaRPr/>
            </a:p>
          </p:txBody>
        </p:sp>
        <p:cxnSp>
          <p:nvCxnSpPr>
            <p:cNvPr id="835" name="Google Shape;835;p56"/>
            <p:cNvCxnSpPr/>
            <p:nvPr/>
          </p:nvCxnSpPr>
          <p:spPr>
            <a:xfrm>
              <a:off x="3264" y="2832"/>
              <a:ext cx="672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descr="model02" id="836" name="Google Shape;83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47800"/>
            <a:ext cx="28765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56"/>
          <p:cNvSpPr txBox="1"/>
          <p:nvPr/>
        </p:nvSpPr>
        <p:spPr>
          <a:xfrm>
            <a:off x="381000" y="548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838" name="Google Shape;838;p56"/>
          <p:cNvSpPr txBox="1"/>
          <p:nvPr/>
        </p:nvSpPr>
        <p:spPr>
          <a:xfrm>
            <a:off x="381000" y="4876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839" name="Google Shape;839;p56"/>
          <p:cNvSpPr txBox="1"/>
          <p:nvPr/>
        </p:nvSpPr>
        <p:spPr>
          <a:xfrm>
            <a:off x="381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840" name="Google Shape;840;p56"/>
          <p:cNvSpPr txBox="1"/>
          <p:nvPr/>
        </p:nvSpPr>
        <p:spPr>
          <a:xfrm>
            <a:off x="3810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841" name="Google Shape;841;p56"/>
          <p:cNvSpPr txBox="1"/>
          <p:nvPr/>
        </p:nvSpPr>
        <p:spPr>
          <a:xfrm>
            <a:off x="381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/>
          </a:p>
        </p:txBody>
      </p:sp>
      <p:sp>
        <p:nvSpPr>
          <p:cNvPr id="842" name="Google Shape;842;p56"/>
          <p:cNvSpPr txBox="1"/>
          <p:nvPr/>
        </p:nvSpPr>
        <p:spPr>
          <a:xfrm>
            <a:off x="38100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/>
          </a:p>
        </p:txBody>
      </p:sp>
      <p:sp>
        <p:nvSpPr>
          <p:cNvPr id="843" name="Google Shape;843;p56"/>
          <p:cNvSpPr txBox="1"/>
          <p:nvPr/>
        </p:nvSpPr>
        <p:spPr>
          <a:xfrm>
            <a:off x="381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/>
          </a:p>
        </p:txBody>
      </p:sp>
      <p:sp>
        <p:nvSpPr>
          <p:cNvPr id="844" name="Google Shape;844;p56"/>
          <p:cNvSpPr txBox="1"/>
          <p:nvPr/>
        </p:nvSpPr>
        <p:spPr>
          <a:xfrm>
            <a:off x="4419600" y="12192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3 Addressing</a:t>
            </a:r>
            <a:endParaRPr/>
          </a:p>
        </p:txBody>
      </p:sp>
      <p:sp>
        <p:nvSpPr>
          <p:cNvPr id="845" name="Google Shape;845;p56"/>
          <p:cNvSpPr txBox="1"/>
          <p:nvPr>
            <p:ph idx="1" type="body"/>
          </p:nvPr>
        </p:nvSpPr>
        <p:spPr>
          <a:xfrm>
            <a:off x="3200400" y="1752600"/>
            <a:ext cx="57150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Move data from one local network to another local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Addresses must identify both the network and the host on that network.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by routers to determine the best path to the destination host.</a:t>
            </a:r>
            <a:endParaRPr/>
          </a:p>
        </p:txBody>
      </p:sp>
      <p:sp>
        <p:nvSpPr>
          <p:cNvPr id="846" name="Google Shape;846;p56"/>
          <p:cNvSpPr txBox="1"/>
          <p:nvPr/>
        </p:nvSpPr>
        <p:spPr>
          <a:xfrm>
            <a:off x="228600" y="4191000"/>
            <a:ext cx="2590800" cy="68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7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Through the Network</a:t>
            </a:r>
            <a:endParaRPr/>
          </a:p>
        </p:txBody>
      </p:sp>
      <p:graphicFrame>
        <p:nvGraphicFramePr>
          <p:cNvPr id="852" name="Google Shape;852;p57"/>
          <p:cNvGraphicFramePr/>
          <p:nvPr/>
        </p:nvGraphicFramePr>
        <p:xfrm>
          <a:off x="1524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1371600"/>
                <a:gridCol w="1066800"/>
                <a:gridCol w="1447800"/>
                <a:gridCol w="1143000"/>
                <a:gridCol w="1371600"/>
                <a:gridCol w="1174750"/>
                <a:gridCol w="126365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 MAC 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</a:tr>
            </a:tbl>
          </a:graphicData>
        </a:graphic>
      </p:graphicFrame>
      <p:sp>
        <p:nvSpPr>
          <p:cNvPr id="853" name="Google Shape;853;p57"/>
          <p:cNvSpPr/>
          <p:nvPr/>
        </p:nvSpPr>
        <p:spPr>
          <a:xfrm rot="5400000">
            <a:off x="1219200" y="12192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57"/>
          <p:cNvSpPr txBox="1"/>
          <p:nvPr/>
        </p:nvSpPr>
        <p:spPr>
          <a:xfrm>
            <a:off x="228600" y="16764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Header</a:t>
            </a:r>
            <a:endParaRPr/>
          </a:p>
        </p:txBody>
      </p:sp>
      <p:sp>
        <p:nvSpPr>
          <p:cNvPr id="855" name="Google Shape;855;p57"/>
          <p:cNvSpPr/>
          <p:nvPr/>
        </p:nvSpPr>
        <p:spPr>
          <a:xfrm rot="-5400000">
            <a:off x="3810000" y="27432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57"/>
          <p:cNvSpPr txBox="1"/>
          <p:nvPr/>
        </p:nvSpPr>
        <p:spPr>
          <a:xfrm>
            <a:off x="2743200" y="41148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3 Header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8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to the Right Application</a:t>
            </a:r>
            <a:endParaRPr/>
          </a:p>
        </p:txBody>
      </p:sp>
      <p:pic>
        <p:nvPicPr>
          <p:cNvPr descr="model02" id="862" name="Google Shape;8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47800"/>
            <a:ext cx="28765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58"/>
          <p:cNvSpPr txBox="1"/>
          <p:nvPr/>
        </p:nvSpPr>
        <p:spPr>
          <a:xfrm>
            <a:off x="381000" y="5486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</p:txBody>
      </p:sp>
      <p:sp>
        <p:nvSpPr>
          <p:cNvPr id="864" name="Google Shape;864;p58"/>
          <p:cNvSpPr txBox="1"/>
          <p:nvPr/>
        </p:nvSpPr>
        <p:spPr>
          <a:xfrm>
            <a:off x="381000" y="4876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/>
          </a:p>
        </p:txBody>
      </p:sp>
      <p:sp>
        <p:nvSpPr>
          <p:cNvPr id="865" name="Google Shape;865;p58"/>
          <p:cNvSpPr txBox="1"/>
          <p:nvPr/>
        </p:nvSpPr>
        <p:spPr>
          <a:xfrm>
            <a:off x="38100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/>
          </a:p>
        </p:txBody>
      </p:sp>
      <p:sp>
        <p:nvSpPr>
          <p:cNvPr id="866" name="Google Shape;866;p58"/>
          <p:cNvSpPr txBox="1"/>
          <p:nvPr/>
        </p:nvSpPr>
        <p:spPr>
          <a:xfrm>
            <a:off x="381000" y="3733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/>
          </a:p>
        </p:txBody>
      </p:sp>
      <p:sp>
        <p:nvSpPr>
          <p:cNvPr id="867" name="Google Shape;867;p58"/>
          <p:cNvSpPr txBox="1"/>
          <p:nvPr/>
        </p:nvSpPr>
        <p:spPr>
          <a:xfrm>
            <a:off x="381000" y="3124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/>
          </a:p>
        </p:txBody>
      </p:sp>
      <p:sp>
        <p:nvSpPr>
          <p:cNvPr id="868" name="Google Shape;868;p58"/>
          <p:cNvSpPr txBox="1"/>
          <p:nvPr/>
        </p:nvSpPr>
        <p:spPr>
          <a:xfrm>
            <a:off x="381000" y="2514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/>
          </a:p>
        </p:txBody>
      </p:sp>
      <p:sp>
        <p:nvSpPr>
          <p:cNvPr id="869" name="Google Shape;869;p58"/>
          <p:cNvSpPr txBox="1"/>
          <p:nvPr/>
        </p:nvSpPr>
        <p:spPr>
          <a:xfrm>
            <a:off x="381000" y="1905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/>
          </a:p>
        </p:txBody>
      </p:sp>
      <p:sp>
        <p:nvSpPr>
          <p:cNvPr id="870" name="Google Shape;870;p58"/>
          <p:cNvSpPr txBox="1"/>
          <p:nvPr/>
        </p:nvSpPr>
        <p:spPr>
          <a:xfrm>
            <a:off x="4419600" y="12192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4 Addressing</a:t>
            </a:r>
            <a:endParaRPr/>
          </a:p>
        </p:txBody>
      </p:sp>
      <p:sp>
        <p:nvSpPr>
          <p:cNvPr id="871" name="Google Shape;871;p58"/>
          <p:cNvSpPr txBox="1"/>
          <p:nvPr>
            <p:ph idx="1" type="body"/>
          </p:nvPr>
        </p:nvSpPr>
        <p:spPr>
          <a:xfrm>
            <a:off x="3200400" y="1752600"/>
            <a:ext cx="5715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Identifies the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specific process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or service running on the destination host </a:t>
            </a:r>
            <a:r>
              <a:rPr b="0" i="1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that will act on the data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1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Multiple, simultaneous applications</a:t>
            </a: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872" name="Google Shape;872;p58"/>
          <p:cNvGrpSpPr/>
          <p:nvPr/>
        </p:nvGrpSpPr>
        <p:grpSpPr>
          <a:xfrm>
            <a:off x="3124200" y="3657600"/>
            <a:ext cx="6019800" cy="2819400"/>
            <a:chOff x="1968" y="2304"/>
            <a:chExt cx="3792" cy="1776"/>
          </a:xfrm>
        </p:grpSpPr>
        <p:sp>
          <p:nvSpPr>
            <p:cNvPr id="873" name="Google Shape;873;p58"/>
            <p:cNvSpPr txBox="1"/>
            <p:nvPr/>
          </p:nvSpPr>
          <p:spPr>
            <a:xfrm>
              <a:off x="1968" y="2352"/>
              <a:ext cx="576" cy="236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  <p:sp>
          <p:nvSpPr>
            <p:cNvPr id="874" name="Google Shape;874;p58"/>
            <p:cNvSpPr txBox="1"/>
            <p:nvPr/>
          </p:nvSpPr>
          <p:spPr>
            <a:xfrm>
              <a:off x="2544" y="2352"/>
              <a:ext cx="672" cy="236"/>
            </a:xfrm>
            <a:prstGeom prst="rect">
              <a:avLst/>
            </a:prstGeom>
            <a:solidFill>
              <a:srgbClr val="008000"/>
            </a:solidFill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  <p:sp>
          <p:nvSpPr>
            <p:cNvPr id="875" name="Google Shape;875;p58"/>
            <p:cNvSpPr txBox="1"/>
            <p:nvPr/>
          </p:nvSpPr>
          <p:spPr>
            <a:xfrm>
              <a:off x="4032" y="2304"/>
              <a:ext cx="1584" cy="312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99FF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Process</a:t>
              </a:r>
              <a:endParaRPr/>
            </a:p>
          </p:txBody>
        </p:sp>
        <p:cxnSp>
          <p:nvCxnSpPr>
            <p:cNvPr id="876" name="Google Shape;876;p58"/>
            <p:cNvCxnSpPr/>
            <p:nvPr/>
          </p:nvCxnSpPr>
          <p:spPr>
            <a:xfrm>
              <a:off x="3264" y="2448"/>
              <a:ext cx="672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877" name="Google Shape;877;p58"/>
            <p:cNvSpPr txBox="1"/>
            <p:nvPr/>
          </p:nvSpPr>
          <p:spPr>
            <a:xfrm>
              <a:off x="2016" y="2736"/>
              <a:ext cx="3744" cy="1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Tahoma"/>
                <a:buChar char="•"/>
              </a:pP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Under TCP/IP, a </a:t>
              </a:r>
              <a:r>
                <a:rPr b="0" i="1" lang="en-US" sz="2400" u="non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port number</a:t>
              </a:r>
              <a:r>
                <a:rPr b="0" i="0" lang="en-US" sz="24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to identify the application.</a:t>
              </a:r>
              <a:endParaRPr/>
            </a:p>
            <a:p>
              <a:pPr indent="-288924" lvl="1" marL="855662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Port 80: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HTTP (Web Browser)</a:t>
              </a:r>
              <a:endParaRPr/>
            </a:p>
            <a:p>
              <a:pPr indent="-288924" lvl="1" marL="855662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Port 25: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SMTP (Email)</a:t>
              </a:r>
              <a:endParaRPr/>
            </a:p>
            <a:p>
              <a:pPr indent="-288924" lvl="1" marL="855662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FFFF0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Port 194: </a:t>
              </a:r>
              <a:r>
                <a:rPr b="0" i="0" lang="en-US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IRC (Internet Relay Chat)</a:t>
              </a:r>
              <a:endParaRPr/>
            </a:p>
          </p:txBody>
        </p:sp>
      </p:grpSp>
      <p:sp>
        <p:nvSpPr>
          <p:cNvPr id="878" name="Google Shape;878;p58"/>
          <p:cNvSpPr txBox="1"/>
          <p:nvPr/>
        </p:nvSpPr>
        <p:spPr>
          <a:xfrm>
            <a:off x="228600" y="3581400"/>
            <a:ext cx="2667000" cy="685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9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Getting Data to the Right Application</a:t>
            </a:r>
            <a:endParaRPr/>
          </a:p>
        </p:txBody>
      </p:sp>
      <p:graphicFrame>
        <p:nvGraphicFramePr>
          <p:cNvPr id="884" name="Google Shape;884;p59"/>
          <p:cNvGraphicFramePr/>
          <p:nvPr/>
        </p:nvGraphicFramePr>
        <p:xfrm>
          <a:off x="152400" y="25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1371600"/>
                <a:gridCol w="1066800"/>
                <a:gridCol w="1447800"/>
                <a:gridCol w="1143000"/>
                <a:gridCol w="1371600"/>
                <a:gridCol w="1174750"/>
                <a:gridCol w="126365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 MAC 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</a:tr>
            </a:tbl>
          </a:graphicData>
        </a:graphic>
      </p:graphicFrame>
      <p:sp>
        <p:nvSpPr>
          <p:cNvPr id="885" name="Google Shape;885;p59"/>
          <p:cNvSpPr/>
          <p:nvPr/>
        </p:nvSpPr>
        <p:spPr>
          <a:xfrm rot="5400000">
            <a:off x="1219200" y="12192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9"/>
          <p:cNvSpPr txBox="1"/>
          <p:nvPr/>
        </p:nvSpPr>
        <p:spPr>
          <a:xfrm>
            <a:off x="228600" y="16764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2 Header</a:t>
            </a:r>
            <a:endParaRPr/>
          </a:p>
        </p:txBody>
      </p:sp>
      <p:sp>
        <p:nvSpPr>
          <p:cNvPr id="887" name="Google Shape;887;p59"/>
          <p:cNvSpPr/>
          <p:nvPr/>
        </p:nvSpPr>
        <p:spPr>
          <a:xfrm rot="-5400000">
            <a:off x="3810000" y="27432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9"/>
          <p:cNvSpPr txBox="1"/>
          <p:nvPr/>
        </p:nvSpPr>
        <p:spPr>
          <a:xfrm>
            <a:off x="2743200" y="41148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3 Header</a:t>
            </a:r>
            <a:endParaRPr/>
          </a:p>
        </p:txBody>
      </p:sp>
      <p:sp>
        <p:nvSpPr>
          <p:cNvPr id="889" name="Google Shape;889;p59"/>
          <p:cNvSpPr/>
          <p:nvPr/>
        </p:nvSpPr>
        <p:spPr>
          <a:xfrm rot="5400000">
            <a:off x="6248400" y="1143000"/>
            <a:ext cx="304800" cy="2286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9"/>
          <p:cNvSpPr txBox="1"/>
          <p:nvPr/>
        </p:nvSpPr>
        <p:spPr>
          <a:xfrm>
            <a:off x="5181600" y="160020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Layer 4 Header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0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Putting It All Together</a:t>
            </a:r>
            <a:endParaRPr/>
          </a:p>
        </p:txBody>
      </p:sp>
      <p:graphicFrame>
        <p:nvGraphicFramePr>
          <p:cNvPr id="896" name="Google Shape;896;p60"/>
          <p:cNvGraphicFramePr/>
          <p:nvPr/>
        </p:nvGraphicFramePr>
        <p:xfrm>
          <a:off x="152400" y="502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1371600"/>
                <a:gridCol w="1066800"/>
                <a:gridCol w="1447800"/>
                <a:gridCol w="1143000"/>
                <a:gridCol w="1371600"/>
                <a:gridCol w="1174750"/>
                <a:gridCol w="1263650"/>
              </a:tblGrid>
              <a:tr h="10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 MAC 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Destination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b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/>
                    </a:p>
                  </a:txBody>
                  <a:tcPr marT="45725" marB="45725" marR="45725" marL="45725" anchor="ctr" anchorCtr="1">
                    <a:lnL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</a:tr>
            </a:tbl>
          </a:graphicData>
        </a:graphic>
      </p:graphicFrame>
      <p:pic>
        <p:nvPicPr>
          <p:cNvPr descr="model10" id="897" name="Google Shape;8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590800"/>
            <a:ext cx="754380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11" id="898" name="Google Shape;89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71600"/>
            <a:ext cx="19304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11" id="899" name="Google Shape;89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0" y="1371600"/>
            <a:ext cx="1930400" cy="116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0" name="Google Shape;900;p60"/>
          <p:cNvCxnSpPr/>
          <p:nvPr/>
        </p:nvCxnSpPr>
        <p:spPr>
          <a:xfrm>
            <a:off x="2057400" y="4191000"/>
            <a:ext cx="45720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01" name="Google Shape;901;p60"/>
          <p:cNvSpPr txBox="1"/>
          <p:nvPr/>
        </p:nvSpPr>
        <p:spPr>
          <a:xfrm>
            <a:off x="3657600" y="2819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Logical</a:t>
            </a:r>
            <a:endParaRPr/>
          </a:p>
        </p:txBody>
      </p:sp>
      <p:sp>
        <p:nvSpPr>
          <p:cNvPr id="902" name="Google Shape;902;p60"/>
          <p:cNvSpPr txBox="1"/>
          <p:nvPr/>
        </p:nvSpPr>
        <p:spPr>
          <a:xfrm>
            <a:off x="2133600" y="2971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endParaRPr/>
          </a:p>
        </p:txBody>
      </p:sp>
      <p:sp>
        <p:nvSpPr>
          <p:cNvPr id="903" name="Google Shape;903;p60"/>
          <p:cNvSpPr txBox="1"/>
          <p:nvPr/>
        </p:nvSpPr>
        <p:spPr>
          <a:xfrm>
            <a:off x="152400" y="4953000"/>
            <a:ext cx="2438400" cy="121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60"/>
          <p:cNvSpPr txBox="1"/>
          <p:nvPr/>
        </p:nvSpPr>
        <p:spPr>
          <a:xfrm>
            <a:off x="7315200" y="26670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endParaRPr/>
          </a:p>
        </p:txBody>
      </p:sp>
      <p:sp>
        <p:nvSpPr>
          <p:cNvPr id="905" name="Google Shape;905;p60"/>
          <p:cNvSpPr txBox="1"/>
          <p:nvPr/>
        </p:nvSpPr>
        <p:spPr>
          <a:xfrm>
            <a:off x="2590800" y="4953000"/>
            <a:ext cx="2590800" cy="121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60"/>
          <p:cNvSpPr txBox="1"/>
          <p:nvPr/>
        </p:nvSpPr>
        <p:spPr>
          <a:xfrm>
            <a:off x="5486400" y="29718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endParaRPr/>
          </a:p>
        </p:txBody>
      </p:sp>
      <p:sp>
        <p:nvSpPr>
          <p:cNvPr id="907" name="Google Shape;907;p60"/>
          <p:cNvSpPr txBox="1"/>
          <p:nvPr/>
        </p:nvSpPr>
        <p:spPr>
          <a:xfrm>
            <a:off x="5181600" y="4953000"/>
            <a:ext cx="2590800" cy="121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1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Comparing the OSI and TCP/IP Models</a:t>
            </a:r>
            <a:endParaRPr/>
          </a:p>
        </p:txBody>
      </p:sp>
      <p:graphicFrame>
        <p:nvGraphicFramePr>
          <p:cNvPr id="913" name="Google Shape;913;p61"/>
          <p:cNvGraphicFramePr/>
          <p:nvPr/>
        </p:nvGraphicFramePr>
        <p:xfrm>
          <a:off x="381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{02ED1DB0-2295-4FA4-8470-A42A97C32719}</a:tableStyleId>
              </a:tblPr>
              <a:tblGrid>
                <a:gridCol w="406400"/>
                <a:gridCol w="1346200"/>
                <a:gridCol w="3581400"/>
                <a:gridCol w="1143000"/>
                <a:gridCol w="838200"/>
                <a:gridCol w="1219200"/>
              </a:tblGrid>
              <a:tr h="5794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OSI Model 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 Function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 Data Unit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TCP/IP Model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Functionality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Character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59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Character Representation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 vMerge="1"/>
                <a:tc vMerge="1"/>
                <a:tc vMerge="1"/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Manage Data Exchange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 vMerge="1"/>
                <a:tc vMerge="1"/>
                <a:tc vMerge="1"/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Services to segment, transfer and reassemble the data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7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addressing and best path determination  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Packet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Router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Internet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Methods for reliable frame exchange over a common media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Switch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Access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 physical characteristics to transmit bits over a common media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Hub</a:t>
                      </a:r>
                      <a:endParaRPr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2"/>
          <p:cNvSpPr txBox="1"/>
          <p:nvPr>
            <p:ph type="title"/>
          </p:nvPr>
        </p:nvSpPr>
        <p:spPr>
          <a:xfrm>
            <a:off x="152400" y="152400"/>
            <a:ext cx="883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Brain a little fuzzy?</a:t>
            </a:r>
            <a:endParaRPr/>
          </a:p>
        </p:txBody>
      </p:sp>
      <p:sp>
        <p:nvSpPr>
          <p:cNvPr id="919" name="Google Shape;919;p62"/>
          <p:cNvSpPr txBox="1"/>
          <p:nvPr>
            <p:ph idx="1" type="body"/>
          </p:nvPr>
        </p:nvSpPr>
        <p:spPr>
          <a:xfrm>
            <a:off x="152400" y="1371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need to learn to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crawl before you can walk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walk before you can run.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Tahom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starting with the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theory and concepts and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will move on to the actual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 and implementation</a:t>
            </a:r>
            <a:b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networks.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_give up" id="920" name="Google Shape;9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381000"/>
            <a:ext cx="39624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CNA1-Master">
  <a:themeElements>
    <a:clrScheme name="CCNA1-Master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2005-08-02T10:12:17Z</dcterms:created>
  <dc:creator>tdame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