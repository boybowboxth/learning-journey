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2" roundtripDataSignature="AMtx7mgZY+Y0IFTWBLhPajL3i8+YpGiS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A898CA-A317-4B9E-B394-5E2068146708}">
  <a:tblStyle styleId="{A0A898CA-A317-4B9E-B394-5E20681467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49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DC4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9" name="Google Shape;73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7" name="Google Shape;787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8"/>
          <p:cNvSpPr txBox="1"/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0"/>
          <p:cNvSpPr txBox="1"/>
          <p:nvPr>
            <p:ph idx="1" type="body"/>
          </p:nvPr>
        </p:nvSpPr>
        <p:spPr>
          <a:xfrm>
            <a:off x="1524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0"/>
          <p:cNvSpPr txBox="1"/>
          <p:nvPr>
            <p:ph idx="2" type="body"/>
          </p:nvPr>
        </p:nvSpPr>
        <p:spPr>
          <a:xfrm>
            <a:off x="46482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1"/>
          <p:cNvSpPr txBox="1"/>
          <p:nvPr>
            <p:ph type="title"/>
          </p:nvPr>
        </p:nvSpPr>
        <p:spPr>
          <a:xfrm rot="5400000">
            <a:off x="4724400" y="2209800"/>
            <a:ext cx="6324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1"/>
          <p:cNvSpPr txBox="1"/>
          <p:nvPr>
            <p:ph idx="1" type="body"/>
          </p:nvPr>
        </p:nvSpPr>
        <p:spPr>
          <a:xfrm rot="5400000">
            <a:off x="228600" y="76200"/>
            <a:ext cx="6324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2"/>
          <p:cNvSpPr txBox="1"/>
          <p:nvPr>
            <p:ph idx="1" type="body"/>
          </p:nvPr>
        </p:nvSpPr>
        <p:spPr>
          <a:xfrm rot="5400000">
            <a:off x="2019300" y="-495300"/>
            <a:ext cx="51054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7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9pPr>
          </a:lstStyle>
          <a:p/>
        </p:txBody>
      </p:sp>
      <p:sp>
        <p:nvSpPr>
          <p:cNvPr id="40" name="Google Shape;40;p7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48" name="Google Shape;48;p7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8"/>
          <p:cNvSpPr txBox="1"/>
          <p:nvPr>
            <p:ph idx="1" type="body"/>
          </p:nvPr>
        </p:nvSpPr>
        <p:spPr>
          <a:xfrm>
            <a:off x="1524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53" name="Google Shape;53;p78"/>
          <p:cNvSpPr txBox="1"/>
          <p:nvPr>
            <p:ph idx="2" type="body"/>
          </p:nvPr>
        </p:nvSpPr>
        <p:spPr>
          <a:xfrm>
            <a:off x="46482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1C3854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6"/>
          <p:cNvSpPr/>
          <p:nvPr/>
        </p:nvSpPr>
        <p:spPr>
          <a:xfrm>
            <a:off x="0" y="990600"/>
            <a:ext cx="9144000" cy="228600"/>
          </a:xfrm>
          <a:prstGeom prst="rect">
            <a:avLst/>
          </a:prstGeom>
          <a:gradFill>
            <a:gsLst>
              <a:gs pos="0">
                <a:srgbClr val="1C3854">
                  <a:alpha val="60000"/>
                </a:srgbClr>
              </a:gs>
              <a:gs pos="50000">
                <a:srgbClr val="DDDDDD"/>
              </a:gs>
              <a:gs pos="100000">
                <a:srgbClr val="1C3854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66"/>
          <p:cNvSpPr txBox="1"/>
          <p:nvPr/>
        </p:nvSpPr>
        <p:spPr>
          <a:xfrm>
            <a:off x="0" y="6521450"/>
            <a:ext cx="10668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CCNA3-</a:t>
            </a:r>
            <a:fld id="{00000000-1234-1234-1234-123412341234}" type="slidenum"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6"/>
          <p:cNvSpPr txBox="1"/>
          <p:nvPr/>
        </p:nvSpPr>
        <p:spPr>
          <a:xfrm>
            <a:off x="8001000" y="6553200"/>
            <a:ext cx="838200" cy="18415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Chapter 5-1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jpg"/><Relationship Id="rId10" Type="http://schemas.openxmlformats.org/officeDocument/2006/relationships/image" Target="../media/image41.jpg"/><Relationship Id="rId13" Type="http://schemas.openxmlformats.org/officeDocument/2006/relationships/image" Target="../media/image22.jpg"/><Relationship Id="rId1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21.jpg"/><Relationship Id="rId9" Type="http://schemas.openxmlformats.org/officeDocument/2006/relationships/image" Target="../media/image14.jpg"/><Relationship Id="rId14" Type="http://schemas.openxmlformats.org/officeDocument/2006/relationships/image" Target="../media/image27.jpg"/><Relationship Id="rId5" Type="http://schemas.openxmlformats.org/officeDocument/2006/relationships/image" Target="../media/image16.jpg"/><Relationship Id="rId6" Type="http://schemas.openxmlformats.org/officeDocument/2006/relationships/image" Target="../media/image20.jpg"/><Relationship Id="rId7" Type="http://schemas.openxmlformats.org/officeDocument/2006/relationships/image" Target="../media/image19.jpg"/><Relationship Id="rId8" Type="http://schemas.openxmlformats.org/officeDocument/2006/relationships/image" Target="../media/image2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Relationship Id="rId5" Type="http://schemas.openxmlformats.org/officeDocument/2006/relationships/image" Target="../media/image23.jpg"/><Relationship Id="rId6" Type="http://schemas.openxmlformats.org/officeDocument/2006/relationships/image" Target="../media/image32.jpg"/><Relationship Id="rId7" Type="http://schemas.openxmlformats.org/officeDocument/2006/relationships/image" Target="../media/image26.jpg"/><Relationship Id="rId8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jpg"/><Relationship Id="rId4" Type="http://schemas.openxmlformats.org/officeDocument/2006/relationships/image" Target="../media/image35.jpg"/><Relationship Id="rId5" Type="http://schemas.openxmlformats.org/officeDocument/2006/relationships/image" Target="../media/image40.jpg"/><Relationship Id="rId6" Type="http://schemas.openxmlformats.org/officeDocument/2006/relationships/image" Target="../media/image6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jpg"/><Relationship Id="rId4" Type="http://schemas.openxmlformats.org/officeDocument/2006/relationships/image" Target="../media/image4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jpg"/><Relationship Id="rId4" Type="http://schemas.openxmlformats.org/officeDocument/2006/relationships/image" Target="../media/image47.jpg"/><Relationship Id="rId5" Type="http://schemas.openxmlformats.org/officeDocument/2006/relationships/image" Target="../media/image45.jpg"/><Relationship Id="rId6" Type="http://schemas.openxmlformats.org/officeDocument/2006/relationships/image" Target="../media/image38.jpg"/><Relationship Id="rId7" Type="http://schemas.openxmlformats.org/officeDocument/2006/relationships/image" Target="../media/image4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jpg"/><Relationship Id="rId4" Type="http://schemas.openxmlformats.org/officeDocument/2006/relationships/image" Target="../media/image52.jpg"/><Relationship Id="rId5" Type="http://schemas.openxmlformats.org/officeDocument/2006/relationships/image" Target="../media/image48.jpg"/><Relationship Id="rId6" Type="http://schemas.openxmlformats.org/officeDocument/2006/relationships/image" Target="../media/image58.jpg"/><Relationship Id="rId7" Type="http://schemas.openxmlformats.org/officeDocument/2006/relationships/image" Target="../media/image5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jpg"/><Relationship Id="rId4" Type="http://schemas.openxmlformats.org/officeDocument/2006/relationships/image" Target="../media/image5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0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1.jpg"/><Relationship Id="rId4" Type="http://schemas.openxmlformats.org/officeDocument/2006/relationships/image" Target="../media/image70.jpg"/><Relationship Id="rId5" Type="http://schemas.openxmlformats.org/officeDocument/2006/relationships/image" Target="../media/image72.jpg"/><Relationship Id="rId6" Type="http://schemas.openxmlformats.org/officeDocument/2006/relationships/image" Target="../media/image86.jpg"/><Relationship Id="rId7" Type="http://schemas.openxmlformats.org/officeDocument/2006/relationships/image" Target="../media/image77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8.jpg"/><Relationship Id="rId4" Type="http://schemas.openxmlformats.org/officeDocument/2006/relationships/image" Target="../media/image73.png"/><Relationship Id="rId5" Type="http://schemas.openxmlformats.org/officeDocument/2006/relationships/image" Target="../media/image7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0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5.jpg"/><Relationship Id="rId4" Type="http://schemas.openxmlformats.org/officeDocument/2006/relationships/image" Target="../media/image8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5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7.jpg"/><Relationship Id="rId4" Type="http://schemas.openxmlformats.org/officeDocument/2006/relationships/image" Target="../media/image8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7.jpg"/><Relationship Id="rId4" Type="http://schemas.openxmlformats.org/officeDocument/2006/relationships/image" Target="../media/image94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7.jpg"/><Relationship Id="rId4" Type="http://schemas.openxmlformats.org/officeDocument/2006/relationships/image" Target="../media/image9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7.jpg"/><Relationship Id="rId4" Type="http://schemas.openxmlformats.org/officeDocument/2006/relationships/image" Target="../media/image9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7.jpg"/><Relationship Id="rId4" Type="http://schemas.openxmlformats.org/officeDocument/2006/relationships/image" Target="../media/image94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7.jpg"/><Relationship Id="rId4" Type="http://schemas.openxmlformats.org/officeDocument/2006/relationships/image" Target="../media/image8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7.jpg"/><Relationship Id="rId4" Type="http://schemas.openxmlformats.org/officeDocument/2006/relationships/image" Target="../media/image97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7.jpg"/><Relationship Id="rId4" Type="http://schemas.openxmlformats.org/officeDocument/2006/relationships/image" Target="../media/image99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7.jpg"/><Relationship Id="rId4" Type="http://schemas.openxmlformats.org/officeDocument/2006/relationships/image" Target="../media/image9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Chapter 5</a:t>
            </a:r>
            <a:endParaRPr/>
          </a:p>
        </p:txBody>
      </p:sp>
      <p:grpSp>
        <p:nvGrpSpPr>
          <p:cNvPr id="62" name="Google Shape;62;p1"/>
          <p:cNvGrpSpPr/>
          <p:nvPr/>
        </p:nvGrpSpPr>
        <p:grpSpPr>
          <a:xfrm>
            <a:off x="2209800" y="0"/>
            <a:ext cx="4495800" cy="2362200"/>
            <a:chOff x="1200" y="0"/>
            <a:chExt cx="2832" cy="1488"/>
          </a:xfrm>
        </p:grpSpPr>
        <p:pic>
          <p:nvPicPr>
            <p:cNvPr descr="acadtrans" id="63" name="Google Shape;6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76" y="192"/>
              <a:ext cx="1056" cy="1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clogo" id="64" name="Google Shape;6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0" y="0"/>
              <a:ext cx="1373" cy="14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838200" y="3505200"/>
            <a:ext cx="76200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Spanning Tree Protocol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(STP) 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Part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Note for Instructors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presentations are the result of a collaboration among the instructors at St. Clair College in Windsor, Ontario.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Thanks must go out to Rick Graziani of Cabrillo College. His material and additional information was used as a reference in their creation.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anyone finds any errors or omissions, please let me know at: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tdame@stclaircollege.ca.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 Tree Protocol (STP)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762000" y="1447800"/>
            <a:ext cx="7772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Redundant Layer 2 Topologies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01.jpg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133600"/>
            <a:ext cx="6169025" cy="448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Redundant Layer 2 Topologies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businesses become increasingly dependent on the network, the availability of the network infrastructure becomes a critical business concern.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the solution for achieving the necessary availability.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Layer 2 redundancy improves the availability of the network by implementing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alternate network paths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by adding equipment and cabling.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Having multiple paths for data to traverse the network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allows for a single path to be disrupted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without impacting the connectivity of devices on the network.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01.jp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71600"/>
            <a:ext cx="70231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endParaRPr/>
          </a:p>
        </p:txBody>
      </p:sp>
      <p:pic>
        <p:nvPicPr>
          <p:cNvPr descr="stp02.jpg" id="91" name="Google Shape;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5486400"/>
            <a:ext cx="723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3886200" y="2667000"/>
            <a:ext cx="685800" cy="685800"/>
          </a:xfrm>
          <a:custGeom>
            <a:rect b="b" l="l" r="r" t="t"/>
            <a:pathLst>
              <a:path extrusionOk="0" h="685800" w="685800">
                <a:moveTo>
                  <a:pt x="0" y="342900"/>
                </a:moveTo>
                <a:lnTo>
                  <a:pt x="0" y="342900"/>
                </a:lnTo>
                <a:cubicBezTo>
                  <a:pt x="0" y="297870"/>
                  <a:pt x="8869" y="253279"/>
                  <a:pt x="26101" y="211677"/>
                </a:cubicBezTo>
                <a:cubicBezTo>
                  <a:pt x="43333" y="170075"/>
                  <a:pt x="68592" y="132273"/>
                  <a:pt x="100433" y="100432"/>
                </a:cubicBezTo>
                <a:cubicBezTo>
                  <a:pt x="132274" y="68592"/>
                  <a:pt x="170076" y="43333"/>
                  <a:pt x="211678" y="26101"/>
                </a:cubicBezTo>
                <a:cubicBezTo>
                  <a:pt x="253280" y="8869"/>
                  <a:pt x="297871" y="0"/>
                  <a:pt x="342900" y="0"/>
                </a:cubicBezTo>
                <a:lnTo>
                  <a:pt x="342901" y="0"/>
                </a:lnTo>
                <a:cubicBezTo>
                  <a:pt x="387930" y="0"/>
                  <a:pt x="432521" y="8869"/>
                  <a:pt x="474123" y="26101"/>
                </a:cubicBezTo>
                <a:cubicBezTo>
                  <a:pt x="515725" y="43333"/>
                  <a:pt x="553527" y="68592"/>
                  <a:pt x="585368" y="100433"/>
                </a:cubicBezTo>
                <a:cubicBezTo>
                  <a:pt x="617208" y="132274"/>
                  <a:pt x="642467" y="170076"/>
                  <a:pt x="659699" y="211678"/>
                </a:cubicBezTo>
                <a:cubicBezTo>
                  <a:pt x="676931" y="253280"/>
                  <a:pt x="685801" y="297871"/>
                  <a:pt x="685800" y="342900"/>
                </a:cubicBezTo>
                <a:lnTo>
                  <a:pt x="685801" y="342901"/>
                </a:lnTo>
                <a:cubicBezTo>
                  <a:pt x="685801" y="387930"/>
                  <a:pt x="676931" y="432521"/>
                  <a:pt x="659699" y="474123"/>
                </a:cubicBezTo>
                <a:cubicBezTo>
                  <a:pt x="642467" y="515724"/>
                  <a:pt x="617208" y="553527"/>
                  <a:pt x="585367" y="585367"/>
                </a:cubicBezTo>
                <a:cubicBezTo>
                  <a:pt x="553527" y="617208"/>
                  <a:pt x="515724" y="642467"/>
                  <a:pt x="474123" y="659699"/>
                </a:cubicBezTo>
                <a:cubicBezTo>
                  <a:pt x="432521" y="676931"/>
                  <a:pt x="387930" y="685801"/>
                  <a:pt x="342901" y="685801"/>
                </a:cubicBezTo>
                <a:lnTo>
                  <a:pt x="342901" y="685801"/>
                </a:lnTo>
                <a:cubicBezTo>
                  <a:pt x="297871" y="685801"/>
                  <a:pt x="253280" y="676931"/>
                  <a:pt x="211678" y="659699"/>
                </a:cubicBezTo>
                <a:cubicBezTo>
                  <a:pt x="170077" y="642467"/>
                  <a:pt x="132274" y="617208"/>
                  <a:pt x="100434" y="585367"/>
                </a:cubicBezTo>
                <a:cubicBezTo>
                  <a:pt x="68593" y="553527"/>
                  <a:pt x="43334" y="515724"/>
                  <a:pt x="26102" y="474123"/>
                </a:cubicBezTo>
                <a:cubicBezTo>
                  <a:pt x="8870" y="432521"/>
                  <a:pt x="1" y="387930"/>
                  <a:pt x="1" y="342901"/>
                </a:cubicBezTo>
                <a:close/>
                <a:moveTo>
                  <a:pt x="531596" y="444506"/>
                </a:moveTo>
                <a:lnTo>
                  <a:pt x="531596" y="444506"/>
                </a:lnTo>
                <a:cubicBezTo>
                  <a:pt x="553443" y="403931"/>
                  <a:pt x="561632" y="357373"/>
                  <a:pt x="554940" y="311779"/>
                </a:cubicBezTo>
                <a:cubicBezTo>
                  <a:pt x="548248" y="266186"/>
                  <a:pt x="527026" y="223944"/>
                  <a:pt x="494441" y="191359"/>
                </a:cubicBezTo>
                <a:cubicBezTo>
                  <a:pt x="461856" y="158774"/>
                  <a:pt x="419614" y="137552"/>
                  <a:pt x="374021" y="130860"/>
                </a:cubicBezTo>
                <a:cubicBezTo>
                  <a:pt x="328427" y="124168"/>
                  <a:pt x="281869" y="132357"/>
                  <a:pt x="241295" y="154205"/>
                </a:cubicBezTo>
                <a:close/>
                <a:moveTo>
                  <a:pt x="154204" y="241294"/>
                </a:moveTo>
                <a:lnTo>
                  <a:pt x="154204" y="241294"/>
                </a:lnTo>
                <a:cubicBezTo>
                  <a:pt x="132356" y="281868"/>
                  <a:pt x="124167" y="328426"/>
                  <a:pt x="130859" y="374020"/>
                </a:cubicBezTo>
                <a:cubicBezTo>
                  <a:pt x="137551" y="419613"/>
                  <a:pt x="158773" y="461855"/>
                  <a:pt x="191358" y="494440"/>
                </a:cubicBezTo>
                <a:cubicBezTo>
                  <a:pt x="223943" y="527025"/>
                  <a:pt x="266185" y="548247"/>
                  <a:pt x="311779" y="554939"/>
                </a:cubicBezTo>
                <a:cubicBezTo>
                  <a:pt x="357372" y="561631"/>
                  <a:pt x="403931" y="553442"/>
                  <a:pt x="444505" y="531594"/>
                </a:cubicBezTo>
                <a:close/>
              </a:path>
            </a:pathLst>
          </a:custGeom>
          <a:gradFill>
            <a:gsLst>
              <a:gs pos="0">
                <a:srgbClr val="FFF200"/>
              </a:gs>
              <a:gs pos="44999">
                <a:srgbClr val="FF7A00"/>
              </a:gs>
              <a:gs pos="69999">
                <a:srgbClr val="FF0300"/>
              </a:gs>
              <a:gs pos="100000">
                <a:srgbClr val="4D0808"/>
              </a:gs>
            </a:gsLst>
            <a:lin ang="5400000" scaled="0"/>
          </a:gradFill>
          <a:ln cap="flat" cmpd="sng" w="1905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01.jp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71600"/>
            <a:ext cx="70231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endParaRPr/>
          </a:p>
        </p:txBody>
      </p:sp>
      <p:cxnSp>
        <p:nvCxnSpPr>
          <p:cNvPr id="99" name="Google Shape;99;p6"/>
          <p:cNvCxnSpPr/>
          <p:nvPr/>
        </p:nvCxnSpPr>
        <p:spPr>
          <a:xfrm rot="10800000">
            <a:off x="4343400" y="3124200"/>
            <a:ext cx="1143000" cy="158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sp>
        <p:nvSpPr>
          <p:cNvPr id="100" name="Google Shape;100;p6"/>
          <p:cNvSpPr txBox="1"/>
          <p:nvPr/>
        </p:nvSpPr>
        <p:spPr>
          <a:xfrm>
            <a:off x="5334000" y="2743200"/>
            <a:ext cx="3505200" cy="8302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Redundant paths create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loops </a:t>
            </a: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6"/>
          <p:cNvGrpSpPr/>
          <p:nvPr/>
        </p:nvGrpSpPr>
        <p:grpSpPr>
          <a:xfrm>
            <a:off x="2971800" y="2667000"/>
            <a:ext cx="1371600" cy="1295400"/>
            <a:chOff x="2971800" y="2667000"/>
            <a:chExt cx="1371600" cy="1295400"/>
          </a:xfrm>
        </p:grpSpPr>
        <p:cxnSp>
          <p:nvCxnSpPr>
            <p:cNvPr id="102" name="Google Shape;102;p6"/>
            <p:cNvCxnSpPr/>
            <p:nvPr/>
          </p:nvCxnSpPr>
          <p:spPr>
            <a:xfrm rot="-5400000">
              <a:off x="3733800" y="2743200"/>
              <a:ext cx="685800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03" name="Google Shape;103;p6"/>
            <p:cNvCxnSpPr/>
            <p:nvPr/>
          </p:nvCxnSpPr>
          <p:spPr>
            <a:xfrm flipH="1" rot="5400000">
              <a:off x="2933700" y="2705100"/>
              <a:ext cx="685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pic>
          <p:nvPicPr>
            <p:cNvPr descr="stp02.jpg" id="104" name="Google Shape;1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52800" y="3505200"/>
              <a:ext cx="723900" cy="45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6"/>
          <p:cNvSpPr txBox="1"/>
          <p:nvPr/>
        </p:nvSpPr>
        <p:spPr>
          <a:xfrm>
            <a:off x="2057400" y="4495800"/>
            <a:ext cx="3810000" cy="8302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How are they controlled?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Spanning Tree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endParaRPr/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Spanning Tree Protocol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(STP)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enabled on all switches.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has placed some switch ports in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forwarding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state and other switch ports in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blocking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state.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03.jpg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895600"/>
            <a:ext cx="7620000" cy="3752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7"/>
          <p:cNvGrpSpPr/>
          <p:nvPr/>
        </p:nvGrpSpPr>
        <p:grpSpPr>
          <a:xfrm>
            <a:off x="152400" y="3733800"/>
            <a:ext cx="1447800" cy="990600"/>
            <a:chOff x="152400" y="3733800"/>
            <a:chExt cx="1447800" cy="990600"/>
          </a:xfrm>
        </p:grpSpPr>
        <p:cxnSp>
          <p:nvCxnSpPr>
            <p:cNvPr id="114" name="Google Shape;114;p7"/>
            <p:cNvCxnSpPr/>
            <p:nvPr/>
          </p:nvCxnSpPr>
          <p:spPr>
            <a:xfrm flipH="1" rot="-5400000">
              <a:off x="685800" y="4038600"/>
              <a:ext cx="685800" cy="685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115" name="Google Shape;115;p7"/>
            <p:cNvSpPr txBox="1"/>
            <p:nvPr/>
          </p:nvSpPr>
          <p:spPr>
            <a:xfrm>
              <a:off x="152400" y="3733800"/>
              <a:ext cx="1447800" cy="45720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Forward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1828800" y="4953000"/>
            <a:ext cx="1447800" cy="990600"/>
            <a:chOff x="1828800" y="4953000"/>
            <a:chExt cx="1447800" cy="990600"/>
          </a:xfrm>
        </p:grpSpPr>
        <p:cxnSp>
          <p:nvCxnSpPr>
            <p:cNvPr id="117" name="Google Shape;117;p7"/>
            <p:cNvCxnSpPr/>
            <p:nvPr/>
          </p:nvCxnSpPr>
          <p:spPr>
            <a:xfrm flipH="1" rot="5400000">
              <a:off x="1714500" y="5067300"/>
              <a:ext cx="609600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118" name="Google Shape;118;p7"/>
            <p:cNvSpPr txBox="1"/>
            <p:nvPr/>
          </p:nvSpPr>
          <p:spPr>
            <a:xfrm>
              <a:off x="1905000" y="5486400"/>
              <a:ext cx="1371600" cy="45720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Blocked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tp04.jpg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895600"/>
            <a:ext cx="76200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05.jpg" id="120" name="Google Shape;1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2895600"/>
            <a:ext cx="7599362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06.jpg" id="121" name="Google Shape;1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895600"/>
            <a:ext cx="762000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07.jpg" id="122" name="Google Shape;12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200" y="2895600"/>
            <a:ext cx="762000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an important part of the hierarchical design.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multiple paths exist between two devices on the network and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has been disabled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those switches,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loop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can occur.</a:t>
            </a:r>
            <a:endParaRPr/>
          </a:p>
          <a:p>
            <a:pPr indent="-1365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is enabled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these switches, 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which is the default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loop would not occur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Ethernet frames do not have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Time-To-Live (TTL)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parameter like IP packets.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a result, if they are not terminated properly on a switched network, they continue to bounce from switch to switch endlessly.</a:t>
            </a:r>
            <a:endParaRPr/>
          </a:p>
        </p:txBody>
      </p:sp>
      <p:pic>
        <p:nvPicPr>
          <p:cNvPr descr="stp08.jp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0"/>
            <a:ext cx="7315200" cy="2513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09.jpg"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4495800"/>
            <a:ext cx="73152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1524000" y="5410200"/>
            <a:ext cx="18288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152400" y="46482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Remember that switches use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Source MAC address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learn where the devices are and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enters this information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into their MAC address tables.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Switches will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flood the frames for unknown destinations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until they learn the MAC addresses of the devices.   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09a.jpg"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762000"/>
            <a:ext cx="5130800" cy="386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152400" y="46482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Additionally,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multicasts and broadcasts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are also flooded out all ports except the receiving port. </a:t>
            </a:r>
            <a:r>
              <a:rPr b="0" i="0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(Multicasts will not be flooded if the switch has been specifically configured to handle multicasts.)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1" sz="2400" u="none">
              <a:solidFill>
                <a:srgbClr val="66FF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09a.jpg"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762000"/>
            <a:ext cx="5130800" cy="386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pic>
        <p:nvPicPr>
          <p:cNvPr descr="stp10.jpg"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7721600" cy="530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1.jpg"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2"/>
            <p:cNvSpPr txBox="1"/>
            <p:nvPr/>
          </p:nvSpPr>
          <p:spPr>
            <a:xfrm>
              <a:off x="228600" y="3733800"/>
              <a:ext cx="20574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PC1 sends a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" name="Google Shape;161;p12"/>
            <p:cNvCxnSpPr/>
            <p:nvPr/>
          </p:nvCxnSpPr>
          <p:spPr>
            <a:xfrm rot="-5400000">
              <a:off x="2095500" y="4457700"/>
              <a:ext cx="685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162" name="Google Shape;162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2.jpg" id="163" name="Google Shape;16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2"/>
            <p:cNvSpPr txBox="1"/>
            <p:nvPr/>
          </p:nvSpPr>
          <p:spPr>
            <a:xfrm>
              <a:off x="228600" y="3581400"/>
              <a:ext cx="2743200" cy="120015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receives the frame and updates the MAC table.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2"/>
            <p:cNvSpPr txBox="1"/>
            <p:nvPr/>
          </p:nvSpPr>
          <p:spPr>
            <a:xfrm>
              <a:off x="4724400" y="3581400"/>
              <a:ext cx="2209800" cy="914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3.jpg" id="167" name="Google Shape;167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 txBox="1"/>
            <p:nvPr/>
          </p:nvSpPr>
          <p:spPr>
            <a:xfrm>
              <a:off x="228600" y="3276600"/>
              <a:ext cx="2590800" cy="157003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floods the broadcast out all ports except the receiving port.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" name="Google Shape;169;p12"/>
            <p:cNvCxnSpPr/>
            <p:nvPr/>
          </p:nvCxnSpPr>
          <p:spPr>
            <a:xfrm rot="-5400000">
              <a:off x="4038600" y="3124200"/>
              <a:ext cx="685800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70" name="Google Shape;170;p12"/>
            <p:cNvCxnSpPr/>
            <p:nvPr/>
          </p:nvCxnSpPr>
          <p:spPr>
            <a:xfrm flipH="1" rot="5400000">
              <a:off x="3276600" y="3200400"/>
              <a:ext cx="685800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71" name="Google Shape;171;p12"/>
            <p:cNvCxnSpPr/>
            <p:nvPr/>
          </p:nvCxnSpPr>
          <p:spPr>
            <a:xfrm flipH="1" rot="-5400000">
              <a:off x="4191000" y="3962400"/>
              <a:ext cx="6096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72" name="Google Shape;172;p12"/>
            <p:cNvCxnSpPr/>
            <p:nvPr/>
          </p:nvCxnSpPr>
          <p:spPr>
            <a:xfrm rot="5400000">
              <a:off x="3657600" y="4343400"/>
              <a:ext cx="762000" cy="3175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173" name="Google Shape;173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4.jpg" id="174" name="Google Shape;174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 txBox="1"/>
            <p:nvPr/>
          </p:nvSpPr>
          <p:spPr>
            <a:xfrm>
              <a:off x="228600" y="3657600"/>
              <a:ext cx="27432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update their MAC tables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2"/>
            <p:cNvSpPr txBox="1"/>
            <p:nvPr/>
          </p:nvSpPr>
          <p:spPr>
            <a:xfrm>
              <a:off x="838200" y="1219200"/>
              <a:ext cx="20574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2"/>
            <p:cNvSpPr txBox="1"/>
            <p:nvPr/>
          </p:nvSpPr>
          <p:spPr>
            <a:xfrm>
              <a:off x="4876800" y="1219200"/>
              <a:ext cx="22098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2"/>
          <p:cNvGrpSpPr/>
          <p:nvPr/>
        </p:nvGrpSpPr>
        <p:grpSpPr>
          <a:xfrm>
            <a:off x="304800" y="1143000"/>
            <a:ext cx="8178800" cy="5308600"/>
            <a:chOff x="304800" y="1143000"/>
            <a:chExt cx="8178800" cy="5308600"/>
          </a:xfrm>
        </p:grpSpPr>
        <p:pic>
          <p:nvPicPr>
            <p:cNvPr descr="stp15.jpg" id="179" name="Google Shape;179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 txBox="1"/>
            <p:nvPr/>
          </p:nvSpPr>
          <p:spPr>
            <a:xfrm>
              <a:off x="304800" y="3657600"/>
              <a:ext cx="28956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now flood the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" name="Google Shape;181;p12"/>
            <p:cNvCxnSpPr/>
            <p:nvPr/>
          </p:nvCxnSpPr>
          <p:spPr>
            <a:xfrm>
              <a:off x="3200400" y="19050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82" name="Google Shape;182;p12"/>
            <p:cNvCxnSpPr/>
            <p:nvPr/>
          </p:nvCxnSpPr>
          <p:spPr>
            <a:xfrm rot="10800000">
              <a:off x="3962400" y="2590800"/>
              <a:ext cx="762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83" name="Google Shape;183;p12"/>
            <p:cNvCxnSpPr/>
            <p:nvPr/>
          </p:nvCxnSpPr>
          <p:spPr>
            <a:xfrm>
              <a:off x="5638800" y="2590800"/>
              <a:ext cx="914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184" name="Google Shape;184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6.jpg" id="185" name="Google Shape;185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2"/>
            <p:cNvSpPr txBox="1"/>
            <p:nvPr/>
          </p:nvSpPr>
          <p:spPr>
            <a:xfrm>
              <a:off x="228600" y="3429000"/>
              <a:ext cx="2895600" cy="157003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update their MAC tables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with the wrong information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2"/>
            <p:cNvSpPr txBox="1"/>
            <p:nvPr/>
          </p:nvSpPr>
          <p:spPr>
            <a:xfrm>
              <a:off x="838200" y="1219200"/>
              <a:ext cx="21336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2"/>
            <p:cNvSpPr txBox="1"/>
            <p:nvPr/>
          </p:nvSpPr>
          <p:spPr>
            <a:xfrm>
              <a:off x="4876800" y="1219200"/>
              <a:ext cx="22098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7.jpg" id="190" name="Google Shape;190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2"/>
            <p:cNvSpPr txBox="1"/>
            <p:nvPr/>
          </p:nvSpPr>
          <p:spPr>
            <a:xfrm>
              <a:off x="228600" y="3505200"/>
              <a:ext cx="2819400" cy="120015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forward the broadcast back to S2.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" name="Google Shape;192;p12"/>
            <p:cNvCxnSpPr/>
            <p:nvPr/>
          </p:nvCxnSpPr>
          <p:spPr>
            <a:xfrm flipH="1" rot="-5400000">
              <a:off x="3086100" y="2552700"/>
              <a:ext cx="457200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93" name="Google Shape;193;p12"/>
            <p:cNvCxnSpPr/>
            <p:nvPr/>
          </p:nvCxnSpPr>
          <p:spPr>
            <a:xfrm rot="5400000">
              <a:off x="4305300" y="2628900"/>
              <a:ext cx="457200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194" name="Google Shape;194;p12"/>
            <p:cNvCxnSpPr/>
            <p:nvPr/>
          </p:nvCxnSpPr>
          <p:spPr>
            <a:xfrm>
              <a:off x="5715000" y="2667000"/>
              <a:ext cx="762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195" name="Google Shape;195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8.jpg" id="196" name="Google Shape;196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228600" y="3581400"/>
              <a:ext cx="2743200" cy="120015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updates its MAC table with the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wrong information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2"/>
            <p:cNvSpPr txBox="1"/>
            <p:nvPr/>
          </p:nvSpPr>
          <p:spPr>
            <a:xfrm>
              <a:off x="4724400" y="3581400"/>
              <a:ext cx="2209800" cy="914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2"/>
          <p:cNvGrpSpPr/>
          <p:nvPr/>
        </p:nvGrpSpPr>
        <p:grpSpPr>
          <a:xfrm>
            <a:off x="228600" y="1143000"/>
            <a:ext cx="8255000" cy="5308600"/>
            <a:chOff x="228600" y="1143000"/>
            <a:chExt cx="8255000" cy="5308600"/>
          </a:xfrm>
        </p:grpSpPr>
        <p:pic>
          <p:nvPicPr>
            <p:cNvPr descr="stp19.jpg" id="200" name="Google Shape;200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12"/>
            <p:cNvSpPr txBox="1"/>
            <p:nvPr/>
          </p:nvSpPr>
          <p:spPr>
            <a:xfrm>
              <a:off x="228600" y="3581400"/>
              <a:ext cx="25146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floods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the broadcast again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12"/>
            <p:cNvCxnSpPr/>
            <p:nvPr/>
          </p:nvCxnSpPr>
          <p:spPr>
            <a:xfrm rot="-5400000">
              <a:off x="4152900" y="3162300"/>
              <a:ext cx="609600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03" name="Google Shape;203;p12"/>
            <p:cNvCxnSpPr/>
            <p:nvPr/>
          </p:nvCxnSpPr>
          <p:spPr>
            <a:xfrm flipH="1" rot="5400000">
              <a:off x="3314700" y="3238500"/>
              <a:ext cx="5334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04" name="Google Shape;204;p12"/>
            <p:cNvCxnSpPr/>
            <p:nvPr/>
          </p:nvCxnSpPr>
          <p:spPr>
            <a:xfrm flipH="1" rot="-5400000">
              <a:off x="4038600" y="4114800"/>
              <a:ext cx="685800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05" name="Google Shape;205;p12"/>
            <p:cNvCxnSpPr/>
            <p:nvPr/>
          </p:nvCxnSpPr>
          <p:spPr>
            <a:xfrm rot="5400000">
              <a:off x="3429794" y="4342606"/>
              <a:ext cx="762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06" name="Google Shape;206;p12"/>
            <p:cNvCxnSpPr/>
            <p:nvPr/>
          </p:nvCxnSpPr>
          <p:spPr>
            <a:xfrm rot="5400000">
              <a:off x="3009900" y="4000500"/>
              <a:ext cx="685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07" name="Google Shape;207;p12"/>
          <p:cNvGrpSpPr/>
          <p:nvPr/>
        </p:nvGrpSpPr>
        <p:grpSpPr>
          <a:xfrm>
            <a:off x="-1123075" y="1143000"/>
            <a:ext cx="9606675" cy="5308600"/>
            <a:chOff x="-1123075" y="1143000"/>
            <a:chExt cx="9606675" cy="5308600"/>
          </a:xfrm>
        </p:grpSpPr>
        <p:pic>
          <p:nvPicPr>
            <p:cNvPr descr="stp20.jpg" id="208" name="Google Shape;208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2000" y="1143000"/>
              <a:ext cx="7721600" cy="530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12"/>
            <p:cNvSpPr txBox="1"/>
            <p:nvPr/>
          </p:nvSpPr>
          <p:spPr>
            <a:xfrm>
              <a:off x="-1123075" y="4698125"/>
              <a:ext cx="3657600" cy="120060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update their MAC tables again with the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wrong information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2"/>
            <p:cNvSpPr txBox="1"/>
            <p:nvPr/>
          </p:nvSpPr>
          <p:spPr>
            <a:xfrm>
              <a:off x="914400" y="1219200"/>
              <a:ext cx="19812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2"/>
            <p:cNvSpPr txBox="1"/>
            <p:nvPr/>
          </p:nvSpPr>
          <p:spPr>
            <a:xfrm>
              <a:off x="4953000" y="1219200"/>
              <a:ext cx="2057400" cy="8382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tp20a.jpg" id="212" name="Google Shape;212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36325" y="3790075"/>
            <a:ext cx="8013700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218" name="Google Shape;218;p13"/>
          <p:cNvSpPr txBox="1"/>
          <p:nvPr>
            <p:ph idx="1"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Broadcast Storms:</a:t>
            </a:r>
            <a:endParaRPr b="0" i="1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1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3"/>
          <p:cNvGrpSpPr/>
          <p:nvPr/>
        </p:nvGrpSpPr>
        <p:grpSpPr>
          <a:xfrm>
            <a:off x="1143000" y="1752600"/>
            <a:ext cx="7086600" cy="4916487"/>
            <a:chOff x="1143000" y="1752600"/>
            <a:chExt cx="7086600" cy="4916714"/>
          </a:xfrm>
        </p:grpSpPr>
        <p:pic>
          <p:nvPicPr>
            <p:cNvPr descr="stp22.jpg" id="220" name="Google Shape;22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0" y="1752600"/>
              <a:ext cx="6883400" cy="49167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3"/>
            <p:cNvSpPr txBox="1"/>
            <p:nvPr/>
          </p:nvSpPr>
          <p:spPr>
            <a:xfrm>
              <a:off x="6172200" y="3962502"/>
              <a:ext cx="2057400" cy="830301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PC1 sends a 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" name="Google Shape;222;p13"/>
            <p:cNvCxnSpPr/>
            <p:nvPr/>
          </p:nvCxnSpPr>
          <p:spPr>
            <a:xfrm rot="-5400000">
              <a:off x="1676386" y="4953161"/>
              <a:ext cx="609628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23" name="Google Shape;223;p13"/>
          <p:cNvGrpSpPr/>
          <p:nvPr/>
        </p:nvGrpSpPr>
        <p:grpSpPr>
          <a:xfrm>
            <a:off x="1143000" y="1752600"/>
            <a:ext cx="7315200" cy="4899025"/>
            <a:chOff x="1143000" y="1752600"/>
            <a:chExt cx="7315200" cy="4898572"/>
          </a:xfrm>
        </p:grpSpPr>
        <p:pic>
          <p:nvPicPr>
            <p:cNvPr descr="stp23.jpg" id="224" name="Google Shape;22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3000" y="1752600"/>
              <a:ext cx="6858000" cy="489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13"/>
            <p:cNvSpPr txBox="1"/>
            <p:nvPr/>
          </p:nvSpPr>
          <p:spPr>
            <a:xfrm>
              <a:off x="6096000" y="3962196"/>
              <a:ext cx="2362200" cy="83177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STP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so a</a:t>
              </a:r>
              <a:b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loop is created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3"/>
          <p:cNvGrpSpPr/>
          <p:nvPr/>
        </p:nvGrpSpPr>
        <p:grpSpPr>
          <a:xfrm>
            <a:off x="1143000" y="1752600"/>
            <a:ext cx="7315200" cy="4899025"/>
            <a:chOff x="1143000" y="1752600"/>
            <a:chExt cx="7315200" cy="4898572"/>
          </a:xfrm>
        </p:grpSpPr>
        <p:pic>
          <p:nvPicPr>
            <p:cNvPr descr="stp24.jpg" id="227" name="Google Shape;22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000" y="1752600"/>
              <a:ext cx="6858000" cy="489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3"/>
            <p:cNvSpPr txBox="1"/>
            <p:nvPr/>
          </p:nvSpPr>
          <p:spPr>
            <a:xfrm>
              <a:off x="6324600" y="3962196"/>
              <a:ext cx="2133600" cy="83177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PC4 sends a 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13"/>
            <p:cNvCxnSpPr/>
            <p:nvPr/>
          </p:nvCxnSpPr>
          <p:spPr>
            <a:xfrm rot="10800000">
              <a:off x="5791200" y="2285951"/>
              <a:ext cx="10668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30" name="Google Shape;230;p13"/>
          <p:cNvGrpSpPr/>
          <p:nvPr/>
        </p:nvGrpSpPr>
        <p:grpSpPr>
          <a:xfrm>
            <a:off x="1143000" y="1752600"/>
            <a:ext cx="7391400" cy="4899025"/>
            <a:chOff x="1143000" y="1752600"/>
            <a:chExt cx="7391400" cy="4898571"/>
          </a:xfrm>
        </p:grpSpPr>
        <p:pic>
          <p:nvPicPr>
            <p:cNvPr descr="stp25.jpg" id="231" name="Google Shape;231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43000" y="1752600"/>
              <a:ext cx="6858000" cy="4898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3"/>
            <p:cNvSpPr txBox="1"/>
            <p:nvPr/>
          </p:nvSpPr>
          <p:spPr>
            <a:xfrm>
              <a:off x="6248400" y="4190774"/>
              <a:ext cx="2286000" cy="46192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Another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3"/>
          <p:cNvGrpSpPr/>
          <p:nvPr/>
        </p:nvGrpSpPr>
        <p:grpSpPr>
          <a:xfrm>
            <a:off x="1143000" y="1752600"/>
            <a:ext cx="7848600" cy="4887912"/>
            <a:chOff x="1143000" y="1752600"/>
            <a:chExt cx="7848600" cy="4887686"/>
          </a:xfrm>
        </p:grpSpPr>
        <p:pic>
          <p:nvPicPr>
            <p:cNvPr descr="stp26.jpg" id="234" name="Google Shape;23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3000" y="1752600"/>
              <a:ext cx="6842760" cy="4887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3"/>
            <p:cNvSpPr txBox="1"/>
            <p:nvPr/>
          </p:nvSpPr>
          <p:spPr>
            <a:xfrm>
              <a:off x="4953000" y="3962297"/>
              <a:ext cx="4038600" cy="831811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PC3 sends a broadcast and creates yet another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" name="Google Shape;236;p13"/>
            <p:cNvCxnSpPr/>
            <p:nvPr/>
          </p:nvCxnSpPr>
          <p:spPr>
            <a:xfrm flipH="1" rot="5400000">
              <a:off x="4953012" y="4952838"/>
              <a:ext cx="533375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37" name="Google Shape;237;p13"/>
          <p:cNvGrpSpPr/>
          <p:nvPr/>
        </p:nvGrpSpPr>
        <p:grpSpPr>
          <a:xfrm>
            <a:off x="1143000" y="1752600"/>
            <a:ext cx="7696200" cy="4899025"/>
            <a:chOff x="1143000" y="1752600"/>
            <a:chExt cx="7696200" cy="4898572"/>
          </a:xfrm>
        </p:grpSpPr>
        <p:pic>
          <p:nvPicPr>
            <p:cNvPr descr="stp27.jpg" id="238" name="Google Shape;238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43000" y="1752600"/>
              <a:ext cx="6858000" cy="489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3"/>
            <p:cNvSpPr txBox="1"/>
            <p:nvPr/>
          </p:nvSpPr>
          <p:spPr>
            <a:xfrm>
              <a:off x="6705600" y="3962196"/>
              <a:ext cx="2133600" cy="83177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PC2 sends a 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" name="Google Shape;240;p13"/>
            <p:cNvCxnSpPr/>
            <p:nvPr/>
          </p:nvCxnSpPr>
          <p:spPr>
            <a:xfrm rot="-5400000">
              <a:off x="3771939" y="5676537"/>
              <a:ext cx="838122" cy="3175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41" name="Google Shape;241;p13"/>
          <p:cNvGrpSpPr/>
          <p:nvPr/>
        </p:nvGrpSpPr>
        <p:grpSpPr>
          <a:xfrm>
            <a:off x="1143000" y="1752600"/>
            <a:ext cx="7696200" cy="4899025"/>
            <a:chOff x="1143000" y="1752600"/>
            <a:chExt cx="7696200" cy="4898572"/>
          </a:xfrm>
        </p:grpSpPr>
        <p:pic>
          <p:nvPicPr>
            <p:cNvPr descr="stp28.jpg" id="242" name="Google Shape;242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43000" y="1752600"/>
              <a:ext cx="6858000" cy="48985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3"/>
            <p:cNvSpPr txBox="1"/>
            <p:nvPr/>
          </p:nvSpPr>
          <p:spPr>
            <a:xfrm>
              <a:off x="5715000" y="3581231"/>
              <a:ext cx="3124200" cy="1200039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Because of the high level of traffic, it cannot be processed.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13"/>
          <p:cNvSpPr txBox="1"/>
          <p:nvPr/>
        </p:nvSpPr>
        <p:spPr>
          <a:xfrm>
            <a:off x="533400" y="3048000"/>
            <a:ext cx="4572000" cy="120015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 fact, the entire network can no longer process new traffic and comes to a screeching halt.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Issues with Redundancy</a:t>
            </a:r>
            <a:endParaRPr/>
          </a:p>
        </p:txBody>
      </p:sp>
      <p:sp>
        <p:nvSpPr>
          <p:cNvPr id="250" name="Google Shape;250;p14"/>
          <p:cNvSpPr txBox="1"/>
          <p:nvPr>
            <p:ph idx="1" type="body"/>
          </p:nvPr>
        </p:nvSpPr>
        <p:spPr>
          <a:xfrm>
            <a:off x="152400" y="1295400"/>
            <a:ext cx="8839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Duplicate Unicast Frames:</a:t>
            </a:r>
            <a:endParaRPr b="0" i="1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1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4"/>
          <p:cNvGrpSpPr/>
          <p:nvPr/>
        </p:nvGrpSpPr>
        <p:grpSpPr>
          <a:xfrm>
            <a:off x="228600" y="1752600"/>
            <a:ext cx="7950200" cy="4935537"/>
            <a:chOff x="228600" y="1752600"/>
            <a:chExt cx="7950200" cy="4936289"/>
          </a:xfrm>
        </p:grpSpPr>
        <p:pic>
          <p:nvPicPr>
            <p:cNvPr descr="stp29.jpg" id="252" name="Google Shape;25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6800" y="1752600"/>
              <a:ext cx="7112000" cy="4936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4"/>
            <p:cNvSpPr txBox="1"/>
            <p:nvPr/>
          </p:nvSpPr>
          <p:spPr>
            <a:xfrm>
              <a:off x="228600" y="3886525"/>
              <a:ext cx="2286000" cy="120033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PC1 sends a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unicast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frame to PC4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14"/>
            <p:cNvCxnSpPr/>
            <p:nvPr/>
          </p:nvCxnSpPr>
          <p:spPr>
            <a:xfrm rot="-5400000">
              <a:off x="2362148" y="4953528"/>
              <a:ext cx="685904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55" name="Google Shape;255;p14"/>
          <p:cNvGrpSpPr/>
          <p:nvPr/>
        </p:nvGrpSpPr>
        <p:grpSpPr>
          <a:xfrm>
            <a:off x="228600" y="1752600"/>
            <a:ext cx="7924800" cy="4918075"/>
            <a:chOff x="228600" y="1752600"/>
            <a:chExt cx="7924800" cy="4918660"/>
          </a:xfrm>
        </p:grpSpPr>
        <p:pic>
          <p:nvPicPr>
            <p:cNvPr descr="stp30.jpg" id="256" name="Google Shape;25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800" y="1752600"/>
              <a:ext cx="7086600" cy="49186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14"/>
            <p:cNvSpPr txBox="1"/>
            <p:nvPr/>
          </p:nvSpPr>
          <p:spPr>
            <a:xfrm>
              <a:off x="228600" y="3657827"/>
              <a:ext cx="2819400" cy="1570225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has no entry for PC4 so the frame is flooded out the remaining ports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14"/>
            <p:cNvCxnSpPr/>
            <p:nvPr/>
          </p:nvCxnSpPr>
          <p:spPr>
            <a:xfrm flipH="1" rot="5400000">
              <a:off x="3086055" y="3695962"/>
              <a:ext cx="762091" cy="533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59" name="Google Shape;259;p14"/>
            <p:cNvCxnSpPr/>
            <p:nvPr/>
          </p:nvCxnSpPr>
          <p:spPr>
            <a:xfrm rot="-5400000">
              <a:off x="4114755" y="3505444"/>
              <a:ext cx="762091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60" name="Google Shape;260;p14"/>
            <p:cNvCxnSpPr/>
            <p:nvPr/>
          </p:nvCxnSpPr>
          <p:spPr>
            <a:xfrm flipH="1" rot="-5400000">
              <a:off x="4229068" y="4305630"/>
              <a:ext cx="533463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61" name="Google Shape;261;p14"/>
            <p:cNvCxnSpPr/>
            <p:nvPr/>
          </p:nvCxnSpPr>
          <p:spPr>
            <a:xfrm rot="5400000">
              <a:off x="3658349" y="4723958"/>
              <a:ext cx="762091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62" name="Google Shape;262;p14"/>
          <p:cNvGrpSpPr/>
          <p:nvPr/>
        </p:nvGrpSpPr>
        <p:grpSpPr>
          <a:xfrm>
            <a:off x="228600" y="1752600"/>
            <a:ext cx="7932737" cy="4924425"/>
            <a:chOff x="228600" y="1752600"/>
            <a:chExt cx="7932746" cy="4924175"/>
          </a:xfrm>
        </p:grpSpPr>
        <p:pic>
          <p:nvPicPr>
            <p:cNvPr descr="stp31.jpg" id="263" name="Google Shape;26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66800" y="1752600"/>
              <a:ext cx="7094546" cy="492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14"/>
            <p:cNvSpPr txBox="1"/>
            <p:nvPr/>
          </p:nvSpPr>
          <p:spPr>
            <a:xfrm>
              <a:off x="228600" y="3809896"/>
              <a:ext cx="3352803" cy="1200089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Both S3 and S1 have entries for PC4 so the frame is forwarded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5" name="Google Shape;265;p14"/>
            <p:cNvCxnSpPr/>
            <p:nvPr/>
          </p:nvCxnSpPr>
          <p:spPr>
            <a:xfrm>
              <a:off x="3429003" y="3200326"/>
              <a:ext cx="990601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266" name="Google Shape;266;p14"/>
            <p:cNvCxnSpPr/>
            <p:nvPr/>
          </p:nvCxnSpPr>
          <p:spPr>
            <a:xfrm>
              <a:off x="5638805" y="3200326"/>
              <a:ext cx="914401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267" name="Google Shape;267;p14"/>
          <p:cNvGrpSpPr/>
          <p:nvPr/>
        </p:nvGrpSpPr>
        <p:grpSpPr>
          <a:xfrm>
            <a:off x="228600" y="1752600"/>
            <a:ext cx="7924800" cy="4918075"/>
            <a:chOff x="228600" y="1752600"/>
            <a:chExt cx="7924800" cy="4918660"/>
          </a:xfrm>
        </p:grpSpPr>
        <p:pic>
          <p:nvPicPr>
            <p:cNvPr descr="stp32.jpg" id="268" name="Google Shape;26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6800" y="1752600"/>
              <a:ext cx="7086600" cy="49186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9" name="Google Shape;269;p14"/>
            <p:cNvCxnSpPr/>
            <p:nvPr/>
          </p:nvCxnSpPr>
          <p:spPr>
            <a:xfrm>
              <a:off x="5562600" y="3276781"/>
              <a:ext cx="10668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270" name="Google Shape;270;p14"/>
            <p:cNvSpPr txBox="1"/>
            <p:nvPr/>
          </p:nvSpPr>
          <p:spPr>
            <a:xfrm>
              <a:off x="228600" y="3810245"/>
              <a:ext cx="2514600" cy="120029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S1 also forwards the frame it received from S3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14"/>
          <p:cNvSpPr txBox="1"/>
          <p:nvPr/>
        </p:nvSpPr>
        <p:spPr>
          <a:xfrm>
            <a:off x="1828800" y="2971800"/>
            <a:ext cx="5486400" cy="120015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 result….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PC4 receives two copies of the same frame. One from S1 and one from S3.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Real-World Redundancy Issues</a:t>
            </a:r>
            <a:endParaRPr/>
          </a:p>
        </p:txBody>
      </p:sp>
      <p:sp>
        <p:nvSpPr>
          <p:cNvPr id="277" name="Google Shape;277;p15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Loops in the Wiring Closet: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Usually caused by an error in cabling.</a:t>
            </a:r>
            <a:endParaRPr/>
          </a:p>
        </p:txBody>
      </p:sp>
      <p:pic>
        <p:nvPicPr>
          <p:cNvPr descr="stp33.jpg" id="278" name="Google Shape;2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33600"/>
            <a:ext cx="7466012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34.jpg" id="279" name="Google Shape;2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133600"/>
            <a:ext cx="7467600" cy="444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35.jpg" id="280" name="Google Shape;2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2133600"/>
            <a:ext cx="7467600" cy="444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Real-World Redundancy Issues</a:t>
            </a:r>
            <a:endParaRPr/>
          </a:p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Loops in Cubicles: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Some users have a personal switch or hub.</a:t>
            </a:r>
            <a:endParaRPr/>
          </a:p>
        </p:txBody>
      </p:sp>
      <p:pic>
        <p:nvPicPr>
          <p:cNvPr descr="stp36.jpg"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33600"/>
            <a:ext cx="7335837" cy="4579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37.jpg" id="288" name="Google Shape;2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133600"/>
            <a:ext cx="7319962" cy="45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6"/>
          <p:cNvSpPr txBox="1"/>
          <p:nvPr/>
        </p:nvSpPr>
        <p:spPr>
          <a:xfrm>
            <a:off x="5867400" y="3581400"/>
            <a:ext cx="2362200" cy="8302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Affects all of the traffic on 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38.jpg" id="294" name="Google Shape;2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133600"/>
            <a:ext cx="7664450" cy="447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 Tree Protocol (STP)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762000" y="1447800"/>
            <a:ext cx="7772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to STP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Introduction to STP</a:t>
            </a:r>
            <a:endParaRPr/>
          </a:p>
        </p:txBody>
      </p:sp>
      <p:sp>
        <p:nvSpPr>
          <p:cNvPr id="302" name="Google Shape;302;p1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Redundancy: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Increases the availability of the network topology by protecting the network from a single point of failure.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a Layer 2 design, loops and duplicate frames can occur, having severe consequences.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 Tree Protocol (STP)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was developed to address these issues.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ensures that there is only one logical path between all destinations on the network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by intentionally blocking redundant paths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that could cause a loop.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switches running STP are able to compensate for failures by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dynamically unblocking the previously blocked ports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permitting traffic to traverse the alternate paths.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Spanning-Tree Algorithm (STA)</a:t>
            </a:r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Topology –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Avoiding a loop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grpSp>
        <p:nvGrpSpPr>
          <p:cNvPr id="309" name="Google Shape;309;p19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38a.jpg" id="310" name="Google Shape;31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9"/>
            <p:cNvSpPr txBox="1"/>
            <p:nvPr/>
          </p:nvSpPr>
          <p:spPr>
            <a:xfrm>
              <a:off x="228600" y="3276600"/>
              <a:ext cx="3124200" cy="157003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STP is in use and S3 has placed port F0/2 in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blocking state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to avoid a loop.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1752600" y="2286000"/>
              <a:ext cx="1828800" cy="9906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19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39.jpg" id="314" name="Google Shape;31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9"/>
            <p:cNvSpPr txBox="1"/>
            <p:nvPr/>
          </p:nvSpPr>
          <p:spPr>
            <a:xfrm>
              <a:off x="228600" y="3276600"/>
              <a:ext cx="21336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PC1 sends a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19"/>
            <p:cNvCxnSpPr/>
            <p:nvPr/>
          </p:nvCxnSpPr>
          <p:spPr>
            <a:xfrm rot="-5400000">
              <a:off x="2019300" y="4533900"/>
              <a:ext cx="685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17" name="Google Shape;317;p19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0.jpg" id="318" name="Google Shape;31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19"/>
            <p:cNvSpPr txBox="1"/>
            <p:nvPr/>
          </p:nvSpPr>
          <p:spPr>
            <a:xfrm>
              <a:off x="228600" y="3276600"/>
              <a:ext cx="2438400" cy="120015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forwards the broadcast –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but not to S3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" name="Google Shape;320;p19"/>
            <p:cNvCxnSpPr/>
            <p:nvPr/>
          </p:nvCxnSpPr>
          <p:spPr>
            <a:xfrm rot="-5400000">
              <a:off x="3733800" y="3200400"/>
              <a:ext cx="838200" cy="685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21" name="Google Shape;321;p19"/>
            <p:cNvCxnSpPr/>
            <p:nvPr/>
          </p:nvCxnSpPr>
          <p:spPr>
            <a:xfrm flipH="1" rot="-5400000">
              <a:off x="3771900" y="4152900"/>
              <a:ext cx="838200" cy="762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22" name="Google Shape;322;p19"/>
            <p:cNvCxnSpPr/>
            <p:nvPr/>
          </p:nvCxnSpPr>
          <p:spPr>
            <a:xfrm rot="5400000">
              <a:off x="3162300" y="4533900"/>
              <a:ext cx="838200" cy="3175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323" name="Google Shape;323;p19"/>
            <p:cNvSpPr/>
            <p:nvPr/>
          </p:nvSpPr>
          <p:spPr>
            <a:xfrm>
              <a:off x="2514600" y="2819400"/>
              <a:ext cx="762000" cy="4572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9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1.jpg" id="325" name="Google Shape;32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9"/>
            <p:cNvSpPr txBox="1"/>
            <p:nvPr/>
          </p:nvSpPr>
          <p:spPr>
            <a:xfrm>
              <a:off x="228600" y="3276600"/>
              <a:ext cx="23622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S1 forwards the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19"/>
            <p:cNvCxnSpPr/>
            <p:nvPr/>
          </p:nvCxnSpPr>
          <p:spPr>
            <a:xfrm>
              <a:off x="5105400" y="25146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28" name="Google Shape;328;p19"/>
            <p:cNvCxnSpPr/>
            <p:nvPr/>
          </p:nvCxnSpPr>
          <p:spPr>
            <a:xfrm rot="10800000">
              <a:off x="3581400" y="2514600"/>
              <a:ext cx="1143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29" name="Google Shape;329;p19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2.jpg" id="330" name="Google Shape;330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19"/>
            <p:cNvSpPr txBox="1"/>
            <p:nvPr/>
          </p:nvSpPr>
          <p:spPr>
            <a:xfrm>
              <a:off x="228600" y="3276600"/>
              <a:ext cx="2895600" cy="193833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Because F0/2 is in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blocking state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, the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broadcast is not forwarded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back to S2. – NO LOOP!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1981200" y="2286000"/>
              <a:ext cx="1295400" cy="9144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Spanning-Tree Algorithm (STA)</a:t>
            </a:r>
            <a:endParaRPr/>
          </a:p>
        </p:txBody>
      </p:sp>
      <p:sp>
        <p:nvSpPr>
          <p:cNvPr id="338" name="Google Shape;338;p20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Topology –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Failure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descr="stp42.jpg" id="339" name="Google Shape;3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28800"/>
            <a:ext cx="6324600" cy="459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20"/>
          <p:cNvGrpSpPr/>
          <p:nvPr/>
        </p:nvGrpSpPr>
        <p:grpSpPr>
          <a:xfrm>
            <a:off x="609600" y="1828800"/>
            <a:ext cx="7162800" cy="4597400"/>
            <a:chOff x="609600" y="1828800"/>
            <a:chExt cx="7162800" cy="4597400"/>
          </a:xfrm>
        </p:grpSpPr>
        <p:grpSp>
          <p:nvGrpSpPr>
            <p:cNvPr id="341" name="Google Shape;341;p20"/>
            <p:cNvGrpSpPr/>
            <p:nvPr/>
          </p:nvGrpSpPr>
          <p:grpSpPr>
            <a:xfrm>
              <a:off x="1447800" y="1828800"/>
              <a:ext cx="6324600" cy="4597400"/>
              <a:chOff x="1447800" y="1828800"/>
              <a:chExt cx="6324600" cy="4597400"/>
            </a:xfrm>
          </p:grpSpPr>
          <p:pic>
            <p:nvPicPr>
              <p:cNvPr descr="stp43.jpg" id="342" name="Google Shape;34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447800" y="1828800"/>
                <a:ext cx="6324600" cy="4597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3" name="Google Shape;343;p20"/>
              <p:cNvSpPr txBox="1"/>
              <p:nvPr/>
            </p:nvSpPr>
            <p:spPr>
              <a:xfrm>
                <a:off x="5181600" y="3200400"/>
                <a:ext cx="1447800" cy="830263"/>
              </a:xfrm>
              <a:prstGeom prst="rect">
                <a:avLst/>
              </a:prstGeom>
              <a:solidFill>
                <a:srgbClr val="800000"/>
              </a:solidFill>
              <a:ln cap="flat" cmpd="sng" w="254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63500" dir="5400000" dist="50800">
                  <a:schemeClr val="dk1"/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Trunk 1 Failure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4" name="Google Shape;344;p20"/>
            <p:cNvSpPr txBox="1"/>
            <p:nvPr/>
          </p:nvSpPr>
          <p:spPr>
            <a:xfrm>
              <a:off x="609600" y="2743200"/>
              <a:ext cx="14478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port activated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20"/>
            <p:cNvCxnSpPr/>
            <p:nvPr/>
          </p:nvCxnSpPr>
          <p:spPr>
            <a:xfrm>
              <a:off x="2057400" y="3124200"/>
              <a:ext cx="6858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46" name="Google Shape;346;p20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4.jpg" id="347" name="Google Shape;347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20"/>
            <p:cNvSpPr txBox="1"/>
            <p:nvPr/>
          </p:nvSpPr>
          <p:spPr>
            <a:xfrm>
              <a:off x="228600" y="3733800"/>
              <a:ext cx="23622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PC1 Sends a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20"/>
            <p:cNvCxnSpPr/>
            <p:nvPr/>
          </p:nvCxnSpPr>
          <p:spPr>
            <a:xfrm rot="-5400000">
              <a:off x="2247900" y="4686300"/>
              <a:ext cx="762000" cy="685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50" name="Google Shape;350;p20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5.jpg" id="351" name="Google Shape;351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0"/>
            <p:cNvSpPr txBox="1"/>
            <p:nvPr/>
          </p:nvSpPr>
          <p:spPr>
            <a:xfrm>
              <a:off x="228600" y="3733800"/>
              <a:ext cx="26670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S2 forwards the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3" name="Google Shape;353;p20"/>
            <p:cNvCxnSpPr/>
            <p:nvPr/>
          </p:nvCxnSpPr>
          <p:spPr>
            <a:xfrm flipH="1" rot="5400000">
              <a:off x="2933700" y="3314700"/>
              <a:ext cx="6858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54" name="Google Shape;354;p20"/>
            <p:cNvCxnSpPr/>
            <p:nvPr/>
          </p:nvCxnSpPr>
          <p:spPr>
            <a:xfrm rot="5400000">
              <a:off x="3276600" y="4648200"/>
              <a:ext cx="914400" cy="3175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55" name="Google Shape;355;p20"/>
            <p:cNvCxnSpPr/>
            <p:nvPr/>
          </p:nvCxnSpPr>
          <p:spPr>
            <a:xfrm flipH="1" rot="-5400000">
              <a:off x="3886200" y="4191000"/>
              <a:ext cx="7620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56" name="Google Shape;356;p20"/>
          <p:cNvGrpSpPr/>
          <p:nvPr/>
        </p:nvGrpSpPr>
        <p:grpSpPr>
          <a:xfrm>
            <a:off x="228600" y="1828800"/>
            <a:ext cx="7543800" cy="4597400"/>
            <a:chOff x="228600" y="1828800"/>
            <a:chExt cx="7543800" cy="4597400"/>
          </a:xfrm>
        </p:grpSpPr>
        <p:pic>
          <p:nvPicPr>
            <p:cNvPr descr="stp46.jpg" id="357" name="Google Shape;357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20"/>
            <p:cNvSpPr txBox="1"/>
            <p:nvPr/>
          </p:nvSpPr>
          <p:spPr>
            <a:xfrm>
              <a:off x="228600" y="3733800"/>
              <a:ext cx="29718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and S1 forward the broadcast.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9" name="Google Shape;359;p20"/>
            <p:cNvCxnSpPr/>
            <p:nvPr/>
          </p:nvCxnSpPr>
          <p:spPr>
            <a:xfrm>
              <a:off x="2819400" y="2514600"/>
              <a:ext cx="4038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360" name="Google Shape;360;p20"/>
          <p:cNvGrpSpPr/>
          <p:nvPr/>
        </p:nvGrpSpPr>
        <p:grpSpPr>
          <a:xfrm>
            <a:off x="1447800" y="1828800"/>
            <a:ext cx="6324600" cy="4597400"/>
            <a:chOff x="1447800" y="1828800"/>
            <a:chExt cx="6324600" cy="4597400"/>
          </a:xfrm>
        </p:grpSpPr>
        <p:pic>
          <p:nvPicPr>
            <p:cNvPr descr="stp42.jpg" id="361" name="Google Shape;36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7800" y="1828800"/>
              <a:ext cx="6324600" cy="459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20"/>
            <p:cNvSpPr txBox="1"/>
            <p:nvPr/>
          </p:nvSpPr>
          <p:spPr>
            <a:xfrm>
              <a:off x="5029200" y="3657600"/>
              <a:ext cx="2362200" cy="8302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Trunk 1 comes back up.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20"/>
          <p:cNvGrpSpPr/>
          <p:nvPr/>
        </p:nvGrpSpPr>
        <p:grpSpPr>
          <a:xfrm>
            <a:off x="381000" y="3200400"/>
            <a:ext cx="2438400" cy="1135062"/>
            <a:chOff x="685800" y="2667000"/>
            <a:chExt cx="2438400" cy="1135797"/>
          </a:xfrm>
        </p:grpSpPr>
        <p:cxnSp>
          <p:nvCxnSpPr>
            <p:cNvPr id="364" name="Google Shape;364;p20"/>
            <p:cNvCxnSpPr/>
            <p:nvPr/>
          </p:nvCxnSpPr>
          <p:spPr>
            <a:xfrm flipH="1" rot="10800000">
              <a:off x="2286000" y="2667000"/>
              <a:ext cx="838200" cy="304997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365" name="Google Shape;365;p20"/>
            <p:cNvSpPr txBox="1"/>
            <p:nvPr/>
          </p:nvSpPr>
          <p:spPr>
            <a:xfrm>
              <a:off x="685800" y="2971997"/>
              <a:ext cx="2438400" cy="83080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S3 port back to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blocking mode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Spanning-Tree Algorithm (STA)</a:t>
            </a:r>
            <a:endParaRPr/>
          </a:p>
        </p:txBody>
      </p:sp>
      <p:sp>
        <p:nvSpPr>
          <p:cNvPr id="371" name="Google Shape;371;p21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Terminology: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single switch used as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reference point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all calculations.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Ports: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port closest to the root bridge.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Designated Port: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non-root ports that are still permitted to forward traffic on the network.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Non-designated Ports: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ports configured to be in a blocking state to prevent loops.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Spanning-Tree Algorithm (STA)</a:t>
            </a:r>
            <a:endParaRPr/>
          </a:p>
        </p:txBody>
      </p:sp>
      <p:sp>
        <p:nvSpPr>
          <p:cNvPr id="377" name="Google Shape;377;p22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uses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Spanning Tree Algorithm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(STA) to determine which switch ports on a network need to be configured for blocking to prevent loops.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Through an election process, the algorithm designates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single switch as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uses it as the reference point for all calculations.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election process is controlled by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Bridge-ID (BID)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aphicFrame>
        <p:nvGraphicFramePr>
          <p:cNvPr id="378" name="Google Shape;378;p22"/>
          <p:cNvGraphicFramePr/>
          <p:nvPr/>
        </p:nvGraphicFramePr>
        <p:xfrm>
          <a:off x="1752600" y="43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{A0A898CA-A317-4B9E-B394-5E2068146708}</a:tableStyleId>
              </a:tblPr>
              <a:tblGrid>
                <a:gridCol w="1905000"/>
                <a:gridCol w="4191000"/>
              </a:tblGrid>
              <a:tr h="121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Bridge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Priority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</a:t>
                      </a:r>
                      <a:br>
                        <a:rPr b="0" i="0" lang="en-US" sz="2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</a:tbl>
          </a:graphicData>
        </a:graphic>
      </p:graphicFrame>
      <p:grpSp>
        <p:nvGrpSpPr>
          <p:cNvPr id="379" name="Google Shape;379;p22"/>
          <p:cNvGrpSpPr/>
          <p:nvPr/>
        </p:nvGrpSpPr>
        <p:grpSpPr>
          <a:xfrm>
            <a:off x="1752600" y="5791200"/>
            <a:ext cx="6096000" cy="614362"/>
            <a:chOff x="1752600" y="5791200"/>
            <a:chExt cx="6096000" cy="614065"/>
          </a:xfrm>
        </p:grpSpPr>
        <p:cxnSp>
          <p:nvCxnSpPr>
            <p:cNvPr id="380" name="Google Shape;380;p22"/>
            <p:cNvCxnSpPr/>
            <p:nvPr/>
          </p:nvCxnSpPr>
          <p:spPr>
            <a:xfrm>
              <a:off x="1752600" y="5791200"/>
              <a:ext cx="1828800" cy="1587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381" name="Google Shape;381;p22"/>
            <p:cNvCxnSpPr/>
            <p:nvPr/>
          </p:nvCxnSpPr>
          <p:spPr>
            <a:xfrm>
              <a:off x="3733800" y="5791200"/>
              <a:ext cx="4114800" cy="1587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382" name="Google Shape;382;p22"/>
            <p:cNvSpPr txBox="1"/>
            <p:nvPr/>
          </p:nvSpPr>
          <p:spPr>
            <a:xfrm>
              <a:off x="2362200" y="5943526"/>
              <a:ext cx="533400" cy="461739"/>
            </a:xfrm>
            <a:prstGeom prst="rect">
              <a:avLst/>
            </a:prstGeom>
            <a:noFill/>
            <a:ln>
              <a:noFill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2"/>
            <p:cNvSpPr txBox="1"/>
            <p:nvPr/>
          </p:nvSpPr>
          <p:spPr>
            <a:xfrm>
              <a:off x="5334000" y="5943526"/>
              <a:ext cx="457200" cy="461739"/>
            </a:xfrm>
            <a:prstGeom prst="rect">
              <a:avLst/>
            </a:prstGeom>
            <a:noFill/>
            <a:ln>
              <a:noFill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</a:t>
            </a:r>
            <a:endParaRPr/>
          </a:p>
        </p:txBody>
      </p:sp>
      <p:sp>
        <p:nvSpPr>
          <p:cNvPr id="389" name="Google Shape;389;p23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Election Process: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switches in the broadcast domain participate.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After a switch boots, it sends out Bridge Protocol Data Units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(BPDU)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frames containing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switch BID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every 2 seconds.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root 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identifies the root bridge on the network.</a:t>
            </a:r>
            <a:endParaRPr/>
          </a:p>
          <a:p>
            <a:pPr indent="-1365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By default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matches the local BID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all switches on the network. 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In other words, each switch considers itself as the root bridge when it boots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</a:t>
            </a:r>
            <a:endParaRPr/>
          </a:p>
        </p:txBody>
      </p:sp>
      <p:sp>
        <p:nvSpPr>
          <p:cNvPr id="395" name="Google Shape;395;p2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Election Process: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the switches forward their BPDU frames, switches in the broadcast domain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read the root ID information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from the BPDU frame.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the root ID from the BPDU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received is lower than the root ID on the receiving switch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the receiving switch updates its root ID identifying the adjacent switch as the root bridge.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then forwards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new BPDU frames with the lower root 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the other adjacent switches.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Eventually, 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the switch with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lowest BID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ends up being identified as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the spanning-tree instance.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Best Path</a:t>
            </a:r>
            <a:endParaRPr/>
          </a:p>
        </p:txBody>
      </p:sp>
      <p:sp>
        <p:nvSpPr>
          <p:cNvPr id="401" name="Google Shape;401;p25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that the root bridge has been elected, the STA starts the process of determining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best paths to the root bridge from all destinations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the broadcast domain.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path information is determined by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summing up the individual port costs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along the path from the destination to the root bridge.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default port costs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are specified by the IEEE and defined by the speed at which the port operates.</a:t>
            </a:r>
            <a:endParaRPr/>
          </a:p>
        </p:txBody>
      </p:sp>
      <p:graphicFrame>
        <p:nvGraphicFramePr>
          <p:cNvPr id="402" name="Google Shape;402;p25"/>
          <p:cNvGraphicFramePr/>
          <p:nvPr/>
        </p:nvGraphicFramePr>
        <p:xfrm>
          <a:off x="2667000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{A0A898CA-A317-4B9E-B394-5E2068146708}</a:tableStyleId>
              </a:tblPr>
              <a:tblGrid>
                <a:gridCol w="2057400"/>
                <a:gridCol w="16764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 Speed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10Gbps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1Gbps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100Mbps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CD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10Mbps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Best Path</a:t>
            </a:r>
            <a:endParaRPr/>
          </a:p>
        </p:txBody>
      </p:sp>
      <p:sp>
        <p:nvSpPr>
          <p:cNvPr id="408" name="Google Shape;408;p26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You are not restricted to the defaults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cost of a path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can be manually configured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specify that a specific path is the preferred path instead of allowing the STA to choose the best path.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Realize, however, that changing the cost of a particular path will affect the results of the STA.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‘no’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 of the following command will return the cost to its default value.</a:t>
            </a:r>
            <a:b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switch(config)#interface fa0/1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switch(config-if)#spanning-tree cost </a:t>
            </a:r>
            <a:r>
              <a:rPr b="1" i="1" lang="en-US" sz="2000" u="none">
                <a:solidFill>
                  <a:srgbClr val="66FF66"/>
                </a:solidFill>
                <a:latin typeface="Courier New"/>
                <a:ea typeface="Courier New"/>
                <a:cs typeface="Courier New"/>
                <a:sym typeface="Courier New"/>
              </a:rPr>
              <a:t>[value]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switch(config-if)#end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Best Path</a:t>
            </a:r>
            <a:endParaRPr/>
          </a:p>
        </p:txBody>
      </p:sp>
      <p:sp>
        <p:nvSpPr>
          <p:cNvPr id="414" name="Google Shape;414;p27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Verifying the port and path cost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stp50.jpg" id="415" name="Google Shape;4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676400"/>
            <a:ext cx="8763000" cy="49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7"/>
          <p:cNvSpPr txBox="1"/>
          <p:nvPr/>
        </p:nvSpPr>
        <p:spPr>
          <a:xfrm>
            <a:off x="5486400" y="2286000"/>
            <a:ext cx="1524000" cy="4619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27"/>
          <p:cNvCxnSpPr/>
          <p:nvPr/>
        </p:nvCxnSpPr>
        <p:spPr>
          <a:xfrm flipH="1">
            <a:off x="3505200" y="2516187"/>
            <a:ext cx="1981200" cy="531812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cxnSp>
        <p:nvCxnSpPr>
          <p:cNvPr id="418" name="Google Shape;418;p27"/>
          <p:cNvCxnSpPr/>
          <p:nvPr/>
        </p:nvCxnSpPr>
        <p:spPr>
          <a:xfrm flipH="1">
            <a:off x="3657600" y="5411787"/>
            <a:ext cx="2743200" cy="379412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sp>
        <p:nvSpPr>
          <p:cNvPr id="419" name="Google Shape;419;p27"/>
          <p:cNvSpPr txBox="1"/>
          <p:nvPr/>
        </p:nvSpPr>
        <p:spPr>
          <a:xfrm>
            <a:off x="6400800" y="5181600"/>
            <a:ext cx="1752600" cy="4619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Path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Bridge Protocol Data Unit</a:t>
            </a:r>
            <a:endParaRPr/>
          </a:p>
        </p:txBody>
      </p:sp>
      <p:sp>
        <p:nvSpPr>
          <p:cNvPr id="425" name="Google Shape;425;p2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determines a root bridge for the spanning-tree instance by exchanging Bridge Protocol Data Units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(BPDU)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stp51.jpg" id="426" name="Google Shape;4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133600"/>
            <a:ext cx="554990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8"/>
          <p:cNvSpPr/>
          <p:nvPr/>
        </p:nvSpPr>
        <p:spPr>
          <a:xfrm>
            <a:off x="5105400" y="3962400"/>
            <a:ext cx="533400" cy="1066800"/>
          </a:xfrm>
          <a:prstGeom prst="rightBrace">
            <a:avLst>
              <a:gd fmla="val 900" name="adj1"/>
              <a:gd fmla="val 50000" name="adj2"/>
            </a:avLst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5105400" y="2743200"/>
            <a:ext cx="533400" cy="1066800"/>
          </a:xfrm>
          <a:prstGeom prst="rightBrace">
            <a:avLst>
              <a:gd fmla="val 900" name="adj1"/>
              <a:gd fmla="val 50000" name="adj2"/>
            </a:avLst>
          </a:prstGeom>
          <a:noFill/>
          <a:ln cap="flat" cmpd="sng" w="508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5105400" y="5257800"/>
            <a:ext cx="533400" cy="1066800"/>
          </a:xfrm>
          <a:prstGeom prst="rightBrace">
            <a:avLst>
              <a:gd fmla="val 900" name="adj1"/>
              <a:gd fmla="val 50000" name="adj2"/>
            </a:avLst>
          </a:prstGeom>
          <a:noFill/>
          <a:ln cap="flat" cmpd="sng" w="508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8"/>
          <p:cNvSpPr txBox="1"/>
          <p:nvPr/>
        </p:nvSpPr>
        <p:spPr>
          <a:xfrm>
            <a:off x="6096000" y="3733800"/>
            <a:ext cx="2743200" cy="1570037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Identifies the root bridge and the cost of the path to the root bridge.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Bridge Protocol Data Unit</a:t>
            </a:r>
            <a:endParaRPr/>
          </a:p>
        </p:txBody>
      </p:sp>
      <p:sp>
        <p:nvSpPr>
          <p:cNvPr id="436" name="Google Shape;436;p2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determines a root bridge for the spanning-tree instance by exchanging Bridge Protocol Data Units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(BPDU)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stp52.jpg" id="437" name="Google Shape;4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057400"/>
            <a:ext cx="7086600" cy="45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9"/>
          <p:cNvSpPr txBox="1"/>
          <p:nvPr/>
        </p:nvSpPr>
        <p:spPr>
          <a:xfrm>
            <a:off x="1447800" y="4648200"/>
            <a:ext cx="4572000" cy="22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1447800" y="5105400"/>
            <a:ext cx="4648200" cy="22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1447800" y="2590800"/>
            <a:ext cx="6477000" cy="22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Process</a:t>
            </a:r>
            <a:endParaRPr/>
          </a:p>
        </p:txBody>
      </p:sp>
      <p:sp>
        <p:nvSpPr>
          <p:cNvPr id="446" name="Google Shape;446;p30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 Election Process:</a:t>
            </a:r>
            <a:endParaRPr/>
          </a:p>
        </p:txBody>
      </p:sp>
      <p:pic>
        <p:nvPicPr>
          <p:cNvPr descr="stp53.jpg" id="447" name="Google Shape;4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81200"/>
            <a:ext cx="8610600" cy="383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30"/>
          <p:cNvGrpSpPr/>
          <p:nvPr/>
        </p:nvGrpSpPr>
        <p:grpSpPr>
          <a:xfrm>
            <a:off x="3352800" y="3505200"/>
            <a:ext cx="2133600" cy="838200"/>
            <a:chOff x="3352800" y="3505200"/>
            <a:chExt cx="2133600" cy="838200"/>
          </a:xfrm>
        </p:grpSpPr>
        <p:cxnSp>
          <p:nvCxnSpPr>
            <p:cNvPr id="449" name="Google Shape;449;p30"/>
            <p:cNvCxnSpPr/>
            <p:nvPr/>
          </p:nvCxnSpPr>
          <p:spPr>
            <a:xfrm rot="-5400000">
              <a:off x="4800600" y="3581400"/>
              <a:ext cx="7620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450" name="Google Shape;450;p30"/>
            <p:cNvCxnSpPr/>
            <p:nvPr/>
          </p:nvCxnSpPr>
          <p:spPr>
            <a:xfrm flipH="1" rot="5400000">
              <a:off x="3314700" y="3619500"/>
              <a:ext cx="762000" cy="685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cxnSp>
        <p:nvCxnSpPr>
          <p:cNvPr id="451" name="Google Shape;451;p30"/>
          <p:cNvCxnSpPr/>
          <p:nvPr/>
        </p:nvCxnSpPr>
        <p:spPr>
          <a:xfrm>
            <a:off x="2133600" y="3352800"/>
            <a:ext cx="3352800" cy="1295400"/>
          </a:xfrm>
          <a:prstGeom prst="straightConnector1">
            <a:avLst/>
          </a:prstGeom>
          <a:noFill/>
          <a:ln cap="flat" cmpd="sng" w="50800">
            <a:solidFill>
              <a:srgbClr val="0070C0"/>
            </a:solidFill>
            <a:prstDash val="solid"/>
            <a:miter lim="800000"/>
            <a:headEnd len="med" w="med" type="triangl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sp>
        <p:nvSpPr>
          <p:cNvPr id="452" name="Google Shape;452;p30"/>
          <p:cNvSpPr txBox="1"/>
          <p:nvPr/>
        </p:nvSpPr>
        <p:spPr>
          <a:xfrm>
            <a:off x="5181600" y="4267200"/>
            <a:ext cx="2667000" cy="99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0"/>
          <p:cNvSpPr txBox="1"/>
          <p:nvPr/>
        </p:nvSpPr>
        <p:spPr>
          <a:xfrm>
            <a:off x="381000" y="2590800"/>
            <a:ext cx="2590800" cy="91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6172200" y="2590800"/>
            <a:ext cx="2590800" cy="91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30"/>
          <p:cNvCxnSpPr/>
          <p:nvPr/>
        </p:nvCxnSpPr>
        <p:spPr>
          <a:xfrm rot="-5400000">
            <a:off x="6019800" y="3429000"/>
            <a:ext cx="1371600" cy="762000"/>
          </a:xfrm>
          <a:prstGeom prst="straightConnector1">
            <a:avLst/>
          </a:prstGeom>
          <a:noFill/>
          <a:ln cap="flat" cmpd="sng" w="50800">
            <a:solidFill>
              <a:srgbClr val="0070C0"/>
            </a:solidFill>
            <a:prstDash val="solid"/>
            <a:miter lim="800000"/>
            <a:headEnd len="med" w="med" type="triangl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sp>
        <p:nvSpPr>
          <p:cNvPr id="456" name="Google Shape;456;p30"/>
          <p:cNvSpPr txBox="1"/>
          <p:nvPr/>
        </p:nvSpPr>
        <p:spPr>
          <a:xfrm>
            <a:off x="2133600" y="5791200"/>
            <a:ext cx="5029200" cy="830262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S3 believes S2 is the root bridge.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S1 still thinks it is the root bridge.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54.jpg" id="461" name="Google Shape;4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28800"/>
            <a:ext cx="8616950" cy="38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Process</a:t>
            </a:r>
            <a:endParaRPr/>
          </a:p>
        </p:txBody>
      </p:sp>
      <p:sp>
        <p:nvSpPr>
          <p:cNvPr id="463" name="Google Shape;463;p31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 Election Process:</a:t>
            </a:r>
            <a:endParaRPr/>
          </a:p>
        </p:txBody>
      </p:sp>
      <p:grpSp>
        <p:nvGrpSpPr>
          <p:cNvPr id="464" name="Google Shape;464;p31"/>
          <p:cNvGrpSpPr/>
          <p:nvPr/>
        </p:nvGrpSpPr>
        <p:grpSpPr>
          <a:xfrm>
            <a:off x="3276600" y="2743200"/>
            <a:ext cx="1752600" cy="1676400"/>
            <a:chOff x="3276600" y="2743200"/>
            <a:chExt cx="1752600" cy="1676400"/>
          </a:xfrm>
        </p:grpSpPr>
        <p:cxnSp>
          <p:nvCxnSpPr>
            <p:cNvPr id="465" name="Google Shape;465;p31"/>
            <p:cNvCxnSpPr/>
            <p:nvPr/>
          </p:nvCxnSpPr>
          <p:spPr>
            <a:xfrm>
              <a:off x="3505200" y="2743200"/>
              <a:ext cx="1524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466" name="Google Shape;466;p31"/>
            <p:cNvCxnSpPr/>
            <p:nvPr/>
          </p:nvCxnSpPr>
          <p:spPr>
            <a:xfrm flipH="1" rot="-5400000">
              <a:off x="3200400" y="3581400"/>
              <a:ext cx="914400" cy="762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467" name="Google Shape;467;p31"/>
          <p:cNvSpPr txBox="1"/>
          <p:nvPr/>
        </p:nvSpPr>
        <p:spPr>
          <a:xfrm>
            <a:off x="5181600" y="4267200"/>
            <a:ext cx="2743200" cy="99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Google Shape;468;p31"/>
          <p:cNvGrpSpPr/>
          <p:nvPr/>
        </p:nvGrpSpPr>
        <p:grpSpPr>
          <a:xfrm>
            <a:off x="5562600" y="2590800"/>
            <a:ext cx="3276600" cy="1981200"/>
            <a:chOff x="5562600" y="2590800"/>
            <a:chExt cx="3276600" cy="1981200"/>
          </a:xfrm>
        </p:grpSpPr>
        <p:sp>
          <p:nvSpPr>
            <p:cNvPr id="469" name="Google Shape;469;p31"/>
            <p:cNvSpPr txBox="1"/>
            <p:nvPr/>
          </p:nvSpPr>
          <p:spPr>
            <a:xfrm>
              <a:off x="6172200" y="2590800"/>
              <a:ext cx="2667000" cy="914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31"/>
            <p:cNvCxnSpPr/>
            <p:nvPr/>
          </p:nvCxnSpPr>
          <p:spPr>
            <a:xfrm rot="5400000">
              <a:off x="5219700" y="3314700"/>
              <a:ext cx="1600200" cy="9144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471" name="Google Shape;471;p31"/>
          <p:cNvSpPr txBox="1"/>
          <p:nvPr/>
        </p:nvSpPr>
        <p:spPr>
          <a:xfrm>
            <a:off x="2133600" y="5791200"/>
            <a:ext cx="5029200" cy="830262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S2 and S1 both think that they</a:t>
            </a:r>
            <a:b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are the root bridge.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Process</a:t>
            </a:r>
            <a:endParaRPr/>
          </a:p>
        </p:txBody>
      </p:sp>
      <p:sp>
        <p:nvSpPr>
          <p:cNvPr id="477" name="Google Shape;477;p32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 Election Process:</a:t>
            </a:r>
            <a:endParaRPr/>
          </a:p>
        </p:txBody>
      </p:sp>
      <p:pic>
        <p:nvPicPr>
          <p:cNvPr descr="stp53.jpg" id="478" name="Google Shape;4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28800"/>
            <a:ext cx="861060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p55.jpg" id="479" name="Google Shape;47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828800"/>
            <a:ext cx="8610600" cy="383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32"/>
          <p:cNvGrpSpPr/>
          <p:nvPr/>
        </p:nvGrpSpPr>
        <p:grpSpPr>
          <a:xfrm>
            <a:off x="3962400" y="2819400"/>
            <a:ext cx="1676400" cy="1447800"/>
            <a:chOff x="3962400" y="2819400"/>
            <a:chExt cx="1676400" cy="1447800"/>
          </a:xfrm>
        </p:grpSpPr>
        <p:cxnSp>
          <p:nvCxnSpPr>
            <p:cNvPr id="481" name="Google Shape;481;p32"/>
            <p:cNvCxnSpPr/>
            <p:nvPr/>
          </p:nvCxnSpPr>
          <p:spPr>
            <a:xfrm rot="10800000">
              <a:off x="3962400" y="2819400"/>
              <a:ext cx="1143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482" name="Google Shape;482;p32"/>
            <p:cNvCxnSpPr/>
            <p:nvPr/>
          </p:nvCxnSpPr>
          <p:spPr>
            <a:xfrm rot="5400000">
              <a:off x="4914900" y="3543300"/>
              <a:ext cx="762000" cy="685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483" name="Google Shape;483;p32"/>
          <p:cNvSpPr txBox="1"/>
          <p:nvPr/>
        </p:nvSpPr>
        <p:spPr>
          <a:xfrm>
            <a:off x="6172200" y="2590800"/>
            <a:ext cx="2590800" cy="91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32"/>
          <p:cNvGrpSpPr/>
          <p:nvPr/>
        </p:nvGrpSpPr>
        <p:grpSpPr>
          <a:xfrm>
            <a:off x="381000" y="2590800"/>
            <a:ext cx="6019800" cy="914400"/>
            <a:chOff x="381000" y="2590800"/>
            <a:chExt cx="6019800" cy="914400"/>
          </a:xfrm>
        </p:grpSpPr>
        <p:sp>
          <p:nvSpPr>
            <p:cNvPr id="485" name="Google Shape;485;p32"/>
            <p:cNvSpPr txBox="1"/>
            <p:nvPr/>
          </p:nvSpPr>
          <p:spPr>
            <a:xfrm>
              <a:off x="381000" y="2590800"/>
              <a:ext cx="2590800" cy="914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" name="Google Shape;486;p32"/>
            <p:cNvCxnSpPr/>
            <p:nvPr/>
          </p:nvCxnSpPr>
          <p:spPr>
            <a:xfrm>
              <a:off x="2743200" y="3048000"/>
              <a:ext cx="3657600" cy="1588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487" name="Google Shape;487;p32"/>
          <p:cNvGrpSpPr/>
          <p:nvPr/>
        </p:nvGrpSpPr>
        <p:grpSpPr>
          <a:xfrm>
            <a:off x="5257800" y="3276600"/>
            <a:ext cx="2667000" cy="1905000"/>
            <a:chOff x="5257800" y="3276600"/>
            <a:chExt cx="2667000" cy="1905000"/>
          </a:xfrm>
        </p:grpSpPr>
        <p:sp>
          <p:nvSpPr>
            <p:cNvPr id="488" name="Google Shape;488;p32"/>
            <p:cNvSpPr txBox="1"/>
            <p:nvPr/>
          </p:nvSpPr>
          <p:spPr>
            <a:xfrm>
              <a:off x="5257800" y="4267200"/>
              <a:ext cx="2667000" cy="914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9" name="Google Shape;489;p32"/>
            <p:cNvCxnSpPr/>
            <p:nvPr/>
          </p:nvCxnSpPr>
          <p:spPr>
            <a:xfrm rot="-5400000">
              <a:off x="6553200" y="3352800"/>
              <a:ext cx="1143000" cy="9906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miter lim="800000"/>
              <a:headEnd len="med" w="med" type="triangl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490" name="Google Shape;490;p32"/>
          <p:cNvSpPr txBox="1"/>
          <p:nvPr/>
        </p:nvSpPr>
        <p:spPr>
          <a:xfrm>
            <a:off x="2133600" y="5791200"/>
            <a:ext cx="5029200" cy="830262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S3 recognizes S1 as the root.</a:t>
            </a:r>
            <a:b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S2 recognizes S1 as the root.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56.jpg" id="495" name="Google Shape;4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28800"/>
            <a:ext cx="861060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Process</a:t>
            </a:r>
            <a:endParaRPr/>
          </a:p>
        </p:txBody>
      </p:sp>
      <p:sp>
        <p:nvSpPr>
          <p:cNvPr id="497" name="Google Shape;497;p33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 Election Process:</a:t>
            </a:r>
            <a:endParaRPr/>
          </a:p>
        </p:txBody>
      </p:sp>
      <p:sp>
        <p:nvSpPr>
          <p:cNvPr id="498" name="Google Shape;498;p33"/>
          <p:cNvSpPr txBox="1"/>
          <p:nvPr/>
        </p:nvSpPr>
        <p:spPr>
          <a:xfrm>
            <a:off x="2133600" y="5791200"/>
            <a:ext cx="5029200" cy="830262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66FF6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If the root bridge fails, the election process begins again.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3"/>
          <p:cNvSpPr txBox="1"/>
          <p:nvPr/>
        </p:nvSpPr>
        <p:spPr>
          <a:xfrm>
            <a:off x="5257800" y="1905000"/>
            <a:ext cx="11430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33"/>
          <p:cNvCxnSpPr/>
          <p:nvPr/>
        </p:nvCxnSpPr>
        <p:spPr>
          <a:xfrm rot="5400000">
            <a:off x="5410200" y="2514600"/>
            <a:ext cx="762000" cy="4572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  <p:cxnSp>
        <p:nvCxnSpPr>
          <p:cNvPr id="501" name="Google Shape;501;p33"/>
          <p:cNvCxnSpPr/>
          <p:nvPr/>
        </p:nvCxnSpPr>
        <p:spPr>
          <a:xfrm>
            <a:off x="609600" y="2819400"/>
            <a:ext cx="2133600" cy="158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</p:cxnSp>
      <p:cxnSp>
        <p:nvCxnSpPr>
          <p:cNvPr id="502" name="Google Shape;502;p33"/>
          <p:cNvCxnSpPr/>
          <p:nvPr/>
        </p:nvCxnSpPr>
        <p:spPr>
          <a:xfrm>
            <a:off x="5334000" y="5029200"/>
            <a:ext cx="2133600" cy="1587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pic>
        <p:nvPicPr>
          <p:cNvPr descr="stp57.jpg" id="508" name="Google Shape;5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00200"/>
            <a:ext cx="8491537" cy="4595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34"/>
          <p:cNvGrpSpPr/>
          <p:nvPr/>
        </p:nvGrpSpPr>
        <p:grpSpPr>
          <a:xfrm>
            <a:off x="228600" y="1143000"/>
            <a:ext cx="8534400" cy="2362200"/>
            <a:chOff x="228600" y="1143000"/>
            <a:chExt cx="8534400" cy="2362200"/>
          </a:xfrm>
        </p:grpSpPr>
        <p:sp>
          <p:nvSpPr>
            <p:cNvPr id="510" name="Google Shape;510;p34"/>
            <p:cNvSpPr txBox="1"/>
            <p:nvPr/>
          </p:nvSpPr>
          <p:spPr>
            <a:xfrm>
              <a:off x="2133600" y="1752600"/>
              <a:ext cx="6629400" cy="17526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4"/>
            <p:cNvSpPr txBox="1"/>
            <p:nvPr/>
          </p:nvSpPr>
          <p:spPr>
            <a:xfrm>
              <a:off x="228600" y="1143000"/>
              <a:ext cx="57150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Early STP implementation – no VLANs.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34"/>
          <p:cNvGrpSpPr/>
          <p:nvPr/>
        </p:nvGrpSpPr>
        <p:grpSpPr>
          <a:xfrm>
            <a:off x="1219200" y="3810000"/>
            <a:ext cx="7543800" cy="2900362"/>
            <a:chOff x="1219200" y="3810000"/>
            <a:chExt cx="7543800" cy="2900065"/>
          </a:xfrm>
        </p:grpSpPr>
        <p:sp>
          <p:nvSpPr>
            <p:cNvPr id="513" name="Google Shape;513;p34"/>
            <p:cNvSpPr txBox="1"/>
            <p:nvPr/>
          </p:nvSpPr>
          <p:spPr>
            <a:xfrm>
              <a:off x="2133600" y="3810000"/>
              <a:ext cx="6629400" cy="2285765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4"/>
            <p:cNvSpPr txBox="1"/>
            <p:nvPr/>
          </p:nvSpPr>
          <p:spPr>
            <a:xfrm>
              <a:off x="1219200" y="6248149"/>
              <a:ext cx="4648200" cy="461916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Changed to include VLAN ID.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34"/>
          <p:cNvSpPr txBox="1"/>
          <p:nvPr/>
        </p:nvSpPr>
        <p:spPr>
          <a:xfrm>
            <a:off x="1905000" y="3124200"/>
            <a:ext cx="5257800" cy="830262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That means that there is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separate instance of STP</a:t>
            </a: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for each VLAN.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pic>
        <p:nvPicPr>
          <p:cNvPr descr="stp57.jpg" id="521" name="Google Shape;5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00200"/>
            <a:ext cx="8491537" cy="459581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5"/>
          <p:cNvSpPr txBox="1"/>
          <p:nvPr/>
        </p:nvSpPr>
        <p:spPr>
          <a:xfrm>
            <a:off x="2209800" y="1905000"/>
            <a:ext cx="2286000" cy="1524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5"/>
          <p:cNvSpPr txBox="1"/>
          <p:nvPr/>
        </p:nvSpPr>
        <p:spPr>
          <a:xfrm>
            <a:off x="2286000" y="3810000"/>
            <a:ext cx="914400" cy="1752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sp>
        <p:nvSpPr>
          <p:cNvPr id="529" name="Google Shape;529;p36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Priority: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customizable value that you can use to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influence which switch becomes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(Another rigged election!)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with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lowest priority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which means lowest BID,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becomes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lower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the priority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higher</a:t>
            </a: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sp>
        <p:nvSpPr>
          <p:cNvPr id="535" name="Google Shape;535;p37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Priority: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Notice that the addition of the VLAN ID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leaves fewer bits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available for the bridge priority (4 instead of 16).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a result, the bridge priority is assigned in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multiples of 4096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priority is added to the extended system value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(VLAN ID) to uniquely identify the priority and VLAN of the BPDU frame.</a:t>
            </a:r>
            <a:endParaRPr/>
          </a:p>
        </p:txBody>
      </p:sp>
      <p:pic>
        <p:nvPicPr>
          <p:cNvPr descr="stp58.jpg" id="536" name="Google Shape;53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4419600"/>
            <a:ext cx="6705600" cy="2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7"/>
          <p:cNvSpPr txBox="1"/>
          <p:nvPr/>
        </p:nvSpPr>
        <p:spPr>
          <a:xfrm>
            <a:off x="2209800" y="4724400"/>
            <a:ext cx="304800" cy="584200"/>
          </a:xfrm>
          <a:prstGeom prst="rect">
            <a:avLst/>
          </a:prstGeom>
          <a:noFill/>
          <a:ln>
            <a:noFill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sp>
        <p:nvSpPr>
          <p:cNvPr id="543" name="Google Shape;543;p3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Priority: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bridge priority is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32,769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(4096 * 8) + VLAN 1 ( native VLAN)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I assign bridge priority 24,576 for VLAN 1 (4096 *6), the bridge priority becomes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24,567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switch will become the root bridge.</a:t>
            </a:r>
            <a:endParaRPr/>
          </a:p>
        </p:txBody>
      </p:sp>
      <p:pic>
        <p:nvPicPr>
          <p:cNvPr descr="stp58.jpg" id="544" name="Google Shape;5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4419600"/>
            <a:ext cx="6705600" cy="2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8"/>
          <p:cNvSpPr txBox="1"/>
          <p:nvPr/>
        </p:nvSpPr>
        <p:spPr>
          <a:xfrm>
            <a:off x="2209800" y="4724400"/>
            <a:ext cx="304800" cy="584200"/>
          </a:xfrm>
          <a:prstGeom prst="rect">
            <a:avLst/>
          </a:prstGeom>
          <a:noFill/>
          <a:ln>
            <a:noFill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sp>
        <p:nvSpPr>
          <p:cNvPr id="551" name="Google Shape;551;p3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Priority:</a:t>
            </a:r>
            <a:endParaRPr/>
          </a:p>
        </p:txBody>
      </p:sp>
      <p:pic>
        <p:nvPicPr>
          <p:cNvPr descr="stp59.jpg" id="552" name="Google Shape;55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76400"/>
            <a:ext cx="81534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9"/>
          <p:cNvSpPr txBox="1"/>
          <p:nvPr/>
        </p:nvSpPr>
        <p:spPr>
          <a:xfrm>
            <a:off x="762000" y="4038600"/>
            <a:ext cx="2819400" cy="120015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Default Priority:</a:t>
            </a:r>
            <a:b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Election based on 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60.jpg" id="558" name="Google Shape;5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676400"/>
            <a:ext cx="81534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</a:t>
            </a:r>
            <a:endParaRPr/>
          </a:p>
        </p:txBody>
      </p:sp>
      <p:sp>
        <p:nvSpPr>
          <p:cNvPr id="560" name="Google Shape;560;p40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Priority:</a:t>
            </a:r>
            <a:endParaRPr/>
          </a:p>
        </p:txBody>
      </p:sp>
      <p:sp>
        <p:nvSpPr>
          <p:cNvPr id="561" name="Google Shape;561;p40"/>
          <p:cNvSpPr txBox="1"/>
          <p:nvPr/>
        </p:nvSpPr>
        <p:spPr>
          <a:xfrm>
            <a:off x="762000" y="4038600"/>
            <a:ext cx="2819400" cy="120015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Modified Priority:</a:t>
            </a:r>
            <a:b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Election based on priority.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Configure and Verify the Bridge ID</a:t>
            </a:r>
            <a:endParaRPr/>
          </a:p>
        </p:txBody>
      </p:sp>
      <p:sp>
        <p:nvSpPr>
          <p:cNvPr id="567" name="Google Shape;567;p41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Two Methods to configure the Bridge ID: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1:</a:t>
            </a:r>
            <a:endParaRPr/>
          </a:p>
        </p:txBody>
      </p:sp>
      <p:pic>
        <p:nvPicPr>
          <p:cNvPr descr="stp61.jpg"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52800"/>
            <a:ext cx="7620000" cy="130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41"/>
          <p:cNvGrpSpPr/>
          <p:nvPr/>
        </p:nvGrpSpPr>
        <p:grpSpPr>
          <a:xfrm>
            <a:off x="2895600" y="1752600"/>
            <a:ext cx="5257800" cy="2057400"/>
            <a:chOff x="2895600" y="1752600"/>
            <a:chExt cx="5257800" cy="2057400"/>
          </a:xfrm>
        </p:grpSpPr>
        <p:sp>
          <p:nvSpPr>
            <p:cNvPr id="570" name="Google Shape;570;p41"/>
            <p:cNvSpPr txBox="1"/>
            <p:nvPr/>
          </p:nvSpPr>
          <p:spPr>
            <a:xfrm>
              <a:off x="6629400" y="3505200"/>
              <a:ext cx="12954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1" name="Google Shape;571;p41"/>
            <p:cNvCxnSpPr/>
            <p:nvPr/>
          </p:nvCxnSpPr>
          <p:spPr>
            <a:xfrm flipH="1" rot="-5400000">
              <a:off x="6210300" y="2933700"/>
              <a:ext cx="838200" cy="457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572" name="Google Shape;572;p41"/>
            <p:cNvSpPr txBox="1"/>
            <p:nvPr/>
          </p:nvSpPr>
          <p:spPr>
            <a:xfrm>
              <a:off x="2895600" y="1752600"/>
              <a:ext cx="5257800" cy="1200150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Ensures that the switch has the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lowest priority value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 after determining the lowest value on the network.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1"/>
          <p:cNvGrpSpPr/>
          <p:nvPr/>
        </p:nvGrpSpPr>
        <p:grpSpPr>
          <a:xfrm>
            <a:off x="1143000" y="4191000"/>
            <a:ext cx="7239000" cy="2190750"/>
            <a:chOff x="1143000" y="4191000"/>
            <a:chExt cx="7239000" cy="2190929"/>
          </a:xfrm>
        </p:grpSpPr>
        <p:sp>
          <p:nvSpPr>
            <p:cNvPr id="574" name="Google Shape;574;p41"/>
            <p:cNvSpPr txBox="1"/>
            <p:nvPr/>
          </p:nvSpPr>
          <p:spPr>
            <a:xfrm>
              <a:off x="6629400" y="4191000"/>
              <a:ext cx="1600200" cy="304825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5" name="Google Shape;575;p41"/>
            <p:cNvCxnSpPr/>
            <p:nvPr/>
          </p:nvCxnSpPr>
          <p:spPr>
            <a:xfrm flipH="1" rot="10800000">
              <a:off x="5562600" y="4419619"/>
              <a:ext cx="1143000" cy="990681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576" name="Google Shape;576;p41"/>
            <p:cNvSpPr txBox="1"/>
            <p:nvPr/>
          </p:nvSpPr>
          <p:spPr>
            <a:xfrm>
              <a:off x="1143000" y="5181681"/>
              <a:ext cx="7239000" cy="1200248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Ensures that the switch will become the root bridge if the primary fails. 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This one assumes that all other switches have the default value</a:t>
              </a: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Configure and Verify the Bridge ID</a:t>
            </a:r>
            <a:endParaRPr/>
          </a:p>
        </p:txBody>
      </p:sp>
      <p:sp>
        <p:nvSpPr>
          <p:cNvPr id="582" name="Google Shape;582;p42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Two Methods to configure the Bridge ID: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2:</a:t>
            </a:r>
            <a:endParaRPr/>
          </a:p>
        </p:txBody>
      </p:sp>
      <p:pic>
        <p:nvPicPr>
          <p:cNvPr descr="stp62.jpg" id="583" name="Google Shape;5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352800"/>
            <a:ext cx="8051800" cy="77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p42"/>
          <p:cNvGrpSpPr/>
          <p:nvPr/>
        </p:nvGrpSpPr>
        <p:grpSpPr>
          <a:xfrm>
            <a:off x="1828800" y="2514600"/>
            <a:ext cx="6096000" cy="1143000"/>
            <a:chOff x="1828800" y="2514600"/>
            <a:chExt cx="6096000" cy="1143000"/>
          </a:xfrm>
        </p:grpSpPr>
        <p:cxnSp>
          <p:nvCxnSpPr>
            <p:cNvPr id="585" name="Google Shape;585;p42"/>
            <p:cNvCxnSpPr/>
            <p:nvPr/>
          </p:nvCxnSpPr>
          <p:spPr>
            <a:xfrm flipH="1" rot="-5400000">
              <a:off x="3505200" y="2819400"/>
              <a:ext cx="838200" cy="8382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586" name="Google Shape;586;p42"/>
            <p:cNvCxnSpPr/>
            <p:nvPr/>
          </p:nvCxnSpPr>
          <p:spPr>
            <a:xfrm flipH="1" rot="-5400000">
              <a:off x="6629400" y="2971800"/>
              <a:ext cx="762000" cy="6096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587" name="Google Shape;587;p42"/>
            <p:cNvSpPr txBox="1"/>
            <p:nvPr/>
          </p:nvSpPr>
          <p:spPr>
            <a:xfrm>
              <a:off x="1828800" y="2514600"/>
              <a:ext cx="28194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VLAN ID Number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2"/>
            <p:cNvSpPr txBox="1"/>
            <p:nvPr/>
          </p:nvSpPr>
          <p:spPr>
            <a:xfrm>
              <a:off x="5791200" y="2514600"/>
              <a:ext cx="21336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Priority 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Configure and Verify the Bridge ID</a:t>
            </a:r>
            <a:endParaRPr/>
          </a:p>
        </p:txBody>
      </p:sp>
      <p:pic>
        <p:nvPicPr>
          <p:cNvPr descr="stp63.jpg" id="594" name="Google Shape;5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162" y="2209800"/>
            <a:ext cx="5013325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5" name="Google Shape;595;p43"/>
          <p:cNvGrpSpPr/>
          <p:nvPr/>
        </p:nvGrpSpPr>
        <p:grpSpPr>
          <a:xfrm>
            <a:off x="1295400" y="1219200"/>
            <a:ext cx="6477000" cy="1828800"/>
            <a:chOff x="1295400" y="1219200"/>
            <a:chExt cx="6477000" cy="1828800"/>
          </a:xfrm>
        </p:grpSpPr>
        <p:cxnSp>
          <p:nvCxnSpPr>
            <p:cNvPr id="596" name="Google Shape;596;p43"/>
            <p:cNvCxnSpPr/>
            <p:nvPr/>
          </p:nvCxnSpPr>
          <p:spPr>
            <a:xfrm>
              <a:off x="6324600" y="1905000"/>
              <a:ext cx="1447800" cy="1143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pic>
          <p:nvPicPr>
            <p:cNvPr descr="stp64.jpg" id="597" name="Google Shape;597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95400" y="1219200"/>
              <a:ext cx="6248400" cy="9997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8" name="Google Shape;598;p43"/>
          <p:cNvGrpSpPr/>
          <p:nvPr/>
        </p:nvGrpSpPr>
        <p:grpSpPr>
          <a:xfrm>
            <a:off x="1676400" y="5257800"/>
            <a:ext cx="6203950" cy="1416050"/>
            <a:chOff x="1676400" y="5257800"/>
            <a:chExt cx="6203950" cy="1416769"/>
          </a:xfrm>
        </p:grpSpPr>
        <p:cxnSp>
          <p:nvCxnSpPr>
            <p:cNvPr id="599" name="Google Shape;599;p43"/>
            <p:cNvCxnSpPr/>
            <p:nvPr/>
          </p:nvCxnSpPr>
          <p:spPr>
            <a:xfrm flipH="1" rot="10800000">
              <a:off x="4572000" y="5257800"/>
              <a:ext cx="1219200" cy="68614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pic>
          <p:nvPicPr>
            <p:cNvPr descr="stp65.jpg" id="600" name="Google Shape;600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76400" y="5715000"/>
              <a:ext cx="6203950" cy="9595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1" name="Google Shape;601;p43"/>
          <p:cNvGrpSpPr/>
          <p:nvPr/>
        </p:nvGrpSpPr>
        <p:grpSpPr>
          <a:xfrm>
            <a:off x="228600" y="3276600"/>
            <a:ext cx="6172200" cy="1381125"/>
            <a:chOff x="228600" y="3276600"/>
            <a:chExt cx="6172200" cy="1380674"/>
          </a:xfrm>
        </p:grpSpPr>
        <p:cxnSp>
          <p:nvCxnSpPr>
            <p:cNvPr id="602" name="Google Shape;602;p43"/>
            <p:cNvCxnSpPr/>
            <p:nvPr/>
          </p:nvCxnSpPr>
          <p:spPr>
            <a:xfrm flipH="1" rot="10800000">
              <a:off x="3276600" y="3276600"/>
              <a:ext cx="1143000" cy="609401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pic>
          <p:nvPicPr>
            <p:cNvPr descr="stp66.jpg" id="603" name="Google Shape;603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8600" y="3733800"/>
              <a:ext cx="6172200" cy="923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4" name="Google Shape;604;p43"/>
          <p:cNvGrpSpPr/>
          <p:nvPr/>
        </p:nvGrpSpPr>
        <p:grpSpPr>
          <a:xfrm>
            <a:off x="152400" y="1752600"/>
            <a:ext cx="7315200" cy="4170362"/>
            <a:chOff x="152400" y="1752601"/>
            <a:chExt cx="7315200" cy="4170836"/>
          </a:xfrm>
        </p:grpSpPr>
        <p:cxnSp>
          <p:nvCxnSpPr>
            <p:cNvPr id="605" name="Google Shape;605;p43"/>
            <p:cNvCxnSpPr/>
            <p:nvPr/>
          </p:nvCxnSpPr>
          <p:spPr>
            <a:xfrm>
              <a:off x="5867400" y="3352982"/>
              <a:ext cx="1600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pic>
          <p:nvPicPr>
            <p:cNvPr descr="stp67.jpg" id="606" name="Google Shape;606;p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2400" y="1752601"/>
              <a:ext cx="6934200" cy="4170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Roles</a:t>
            </a:r>
            <a:endParaRPr/>
          </a:p>
        </p:txBody>
      </p:sp>
      <p:sp>
        <p:nvSpPr>
          <p:cNvPr id="612" name="Google Shape;612;p4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elected for the spanning-tree instance.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location of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the network topology determines how port roles are calculated.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Port: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port with the best path to forward traffic to the root bridge.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Designated Port: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port that receives and forwards frames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toward the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needed. Only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designated port is allowed per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Non-designated Port: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switch port that is blocked, so it is not forwarding data frames.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Roles</a:t>
            </a:r>
            <a:endParaRPr/>
          </a:p>
        </p:txBody>
      </p:sp>
      <p:sp>
        <p:nvSpPr>
          <p:cNvPr id="618" name="Google Shape;618;p45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STA determines which port role is assigned to each switch port.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determine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port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a switch: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switch compares the path costs on all switch ports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participating in the spanning tree.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there are two switch ports that have the same path cost to the root bridge: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switch uses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customizable port priority value, or the lowest port ID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break the tie.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ID is the number of the connected port. 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Roles – Root Port</a:t>
            </a:r>
            <a:endParaRPr/>
          </a:p>
        </p:txBody>
      </p:sp>
      <p:sp>
        <p:nvSpPr>
          <p:cNvPr id="624" name="Google Shape;624;p46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/>
          </a:p>
        </p:txBody>
      </p:sp>
      <p:pic>
        <p:nvPicPr>
          <p:cNvPr descr="stp68.jpg" id="625" name="Google Shape;62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905000"/>
            <a:ext cx="8389937" cy="430371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 txBox="1"/>
          <p:nvPr/>
        </p:nvSpPr>
        <p:spPr>
          <a:xfrm>
            <a:off x="3505200" y="1295400"/>
            <a:ext cx="3886200" cy="461962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Default Port Priority =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6"/>
          <p:cNvSpPr/>
          <p:nvPr/>
        </p:nvSpPr>
        <p:spPr>
          <a:xfrm>
            <a:off x="2133600" y="3810000"/>
            <a:ext cx="2438400" cy="1524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2762250"/>
            <a:ext cx="5718175" cy="206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587" y="2687637"/>
            <a:ext cx="3273425" cy="191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0" name="Google Shape;630;p46"/>
          <p:cNvGrpSpPr/>
          <p:nvPr/>
        </p:nvGrpSpPr>
        <p:grpSpPr>
          <a:xfrm>
            <a:off x="4191000" y="4800600"/>
            <a:ext cx="3886200" cy="690562"/>
            <a:chOff x="381000" y="2667000"/>
            <a:chExt cx="3886200" cy="690265"/>
          </a:xfrm>
        </p:grpSpPr>
        <p:cxnSp>
          <p:nvCxnSpPr>
            <p:cNvPr id="631" name="Google Shape;631;p46"/>
            <p:cNvCxnSpPr/>
            <p:nvPr/>
          </p:nvCxnSpPr>
          <p:spPr>
            <a:xfrm rot="10800000">
              <a:off x="381000" y="2667000"/>
              <a:ext cx="1676400" cy="380836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632" name="Google Shape;632;p46"/>
            <p:cNvSpPr txBox="1"/>
            <p:nvPr/>
          </p:nvSpPr>
          <p:spPr>
            <a:xfrm>
              <a:off x="1219200" y="2895501"/>
              <a:ext cx="3048000" cy="461764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F0/1 Priority = 128,1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46"/>
          <p:cNvSpPr txBox="1"/>
          <p:nvPr/>
        </p:nvSpPr>
        <p:spPr>
          <a:xfrm>
            <a:off x="2971800" y="5562600"/>
            <a:ext cx="1066800" cy="60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Roles – Root Port</a:t>
            </a:r>
            <a:endParaRPr/>
          </a:p>
        </p:txBody>
      </p:sp>
      <p:sp>
        <p:nvSpPr>
          <p:cNvPr id="639" name="Google Shape;639;p47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You can specify the root port: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Configure Port Priority:</a:t>
            </a:r>
            <a:endParaRPr/>
          </a:p>
          <a:p>
            <a:pPr indent="-1333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Priority values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0 - 240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in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increments of 16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port priority value is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lower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port priority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higher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stp69.jpg" id="640" name="Google Shape;64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133600"/>
            <a:ext cx="8089900" cy="16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7"/>
          <p:cNvSpPr/>
          <p:nvPr/>
        </p:nvSpPr>
        <p:spPr>
          <a:xfrm>
            <a:off x="7696200" y="2895600"/>
            <a:ext cx="838200" cy="381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p47"/>
          <p:cNvCxnSpPr/>
          <p:nvPr/>
        </p:nvCxnSpPr>
        <p:spPr>
          <a:xfrm flipH="1" rot="10800000">
            <a:off x="6781800" y="3276600"/>
            <a:ext cx="914400" cy="6096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63500" dir="5400000" dist="50800">
              <a:schemeClr val="dk1"/>
            </a:outerShdw>
          </a:effec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Roles – Root Port</a:t>
            </a:r>
            <a:endParaRPr/>
          </a:p>
        </p:txBody>
      </p:sp>
      <p:sp>
        <p:nvSpPr>
          <p:cNvPr id="648" name="Google Shape;648;p4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Verifying the Port Priority:</a:t>
            </a:r>
            <a:endParaRPr/>
          </a:p>
        </p:txBody>
      </p:sp>
      <p:pic>
        <p:nvPicPr>
          <p:cNvPr descr="stp77.jpg" id="649" name="Google Shape;6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76400"/>
            <a:ext cx="790575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4724400" y="5562600"/>
            <a:ext cx="914400" cy="609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8"/>
          <p:cNvSpPr txBox="1"/>
          <p:nvPr/>
        </p:nvSpPr>
        <p:spPr>
          <a:xfrm>
            <a:off x="2667000" y="5638800"/>
            <a:ext cx="13716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8"/>
          <p:cNvSpPr txBox="1"/>
          <p:nvPr/>
        </p:nvSpPr>
        <p:spPr>
          <a:xfrm>
            <a:off x="990600" y="2514600"/>
            <a:ext cx="4267200" cy="68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58" name="Google Shape;658;p4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States: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spanning tree is determined by the exchange of the BPDU frames between the interconnected switches.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Each switch port: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Five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possible port states.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BPDU timers.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spanning tree is determined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immediately after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switch has finished booting.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Going directly from a blocking state to a forwarding state could create a temporary loop.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five states and the timers address this issue.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64" name="Google Shape;664;p50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States: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Blocking: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is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non-designated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port and does not participate in frame forwarding.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Listening: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STP has determined that the port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can participate in frame forwarding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according to the BPDU frames that the switch has received thus far.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Learning: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prepares to participate in frame forwarding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begins to populate the MAC address table.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70" name="Google Shape;670;p51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 States: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Forwarding: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is considered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part of the active topology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forwards frames and also sends and receives BPDU frames.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Disabled: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Layer 2 port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does not participate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STP and does not forward frames.</a:t>
            </a:r>
            <a:endParaRPr/>
          </a:p>
        </p:txBody>
      </p:sp>
      <p:pic>
        <p:nvPicPr>
          <p:cNvPr descr="stp78.jpg" id="671" name="Google Shape;67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4572000"/>
            <a:ext cx="8686800" cy="204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77" name="Google Shape;677;p52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Timers: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amount of time that a port stays in the various port states depends on the BPDU timers.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Only the switch in the role of 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may send information through the tree to adjust the timers.</a:t>
            </a:r>
            <a:endParaRPr/>
          </a:p>
        </p:txBody>
      </p:sp>
      <p:pic>
        <p:nvPicPr>
          <p:cNvPr descr="stp79.jpg" id="678" name="Google Shape;67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429000"/>
            <a:ext cx="8686800" cy="247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84" name="Google Shape;684;p53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Timers: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At power up: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Every switch port goes through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blocking, listening and learning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states.</a:t>
            </a:r>
            <a:endParaRPr/>
          </a:p>
          <a:p>
            <a:pPr indent="-285750" lvl="3" marL="17113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ports then stabilize to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forwarding or blocking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state.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During a topology change: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port temporarily implements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listening and learning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states for a specified period. </a:t>
            </a:r>
            <a:endParaRPr/>
          </a:p>
        </p:txBody>
      </p:sp>
      <p:pic>
        <p:nvPicPr>
          <p:cNvPr descr="stp80.jpg" id="685" name="Google Shape;6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28800"/>
            <a:ext cx="8458200" cy="407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6" name="Google Shape;686;p53"/>
          <p:cNvGrpSpPr/>
          <p:nvPr/>
        </p:nvGrpSpPr>
        <p:grpSpPr>
          <a:xfrm>
            <a:off x="2590800" y="3429000"/>
            <a:ext cx="5181600" cy="2038350"/>
            <a:chOff x="2590800" y="3429000"/>
            <a:chExt cx="5181600" cy="2038529"/>
          </a:xfrm>
        </p:grpSpPr>
        <p:cxnSp>
          <p:nvCxnSpPr>
            <p:cNvPr id="687" name="Google Shape;687;p53"/>
            <p:cNvCxnSpPr/>
            <p:nvPr/>
          </p:nvCxnSpPr>
          <p:spPr>
            <a:xfrm rot="10800000">
              <a:off x="2743200" y="3429000"/>
              <a:ext cx="1981200" cy="1219307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688" name="Google Shape;688;p53"/>
            <p:cNvCxnSpPr/>
            <p:nvPr/>
          </p:nvCxnSpPr>
          <p:spPr>
            <a:xfrm rot="10800000">
              <a:off x="2590800" y="4572100"/>
              <a:ext cx="2057400" cy="45724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689" name="Google Shape;689;p53"/>
            <p:cNvSpPr txBox="1"/>
            <p:nvPr/>
          </p:nvSpPr>
          <p:spPr>
            <a:xfrm>
              <a:off x="4419600" y="4267274"/>
              <a:ext cx="3352800" cy="1200255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Power up Delay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Maximum of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15 + 15 = 30 Seconds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0" name="Google Shape;69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8037" y="1773237"/>
            <a:ext cx="6138862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Port States and BPDU Timers</a:t>
            </a:r>
            <a:endParaRPr/>
          </a:p>
        </p:txBody>
      </p:sp>
      <p:sp>
        <p:nvSpPr>
          <p:cNvPr id="696" name="Google Shape;696;p5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BPDU Timers: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 a race 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between operating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systems and CPU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manufacturers.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CPU manufacturers keep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making the chips faster, while, at the same time, operating systems keep slowing down.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As a result the BPDU timer delays can affect DHCP.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network device is often booted and ready to use the network before the switch port becomes active.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can prevent the device from immediately obtaining a useable IP configuration from DHCP.</a:t>
            </a:r>
            <a:endParaRPr/>
          </a:p>
        </p:txBody>
      </p:sp>
      <p:pic>
        <p:nvPicPr>
          <p:cNvPr descr="stp80.jpg" id="697" name="Google Shape;69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990600"/>
            <a:ext cx="4800600" cy="2312987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 txBox="1"/>
          <p:nvPr/>
        </p:nvSpPr>
        <p:spPr>
          <a:xfrm>
            <a:off x="4191000" y="1066800"/>
            <a:ext cx="14478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4191000" y="1676400"/>
            <a:ext cx="14478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4191000" y="2286000"/>
            <a:ext cx="14478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Cisco PortFast</a:t>
            </a:r>
            <a:endParaRPr/>
          </a:p>
        </p:txBody>
      </p:sp>
      <p:sp>
        <p:nvSpPr>
          <p:cNvPr id="706" name="Google Shape;706;p55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Cisco has addressed this issue with their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PortFast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technology.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is configured as an access port.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port transitions from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blocking to forwarding state immediately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bypassing the listening and learning states.</a:t>
            </a:r>
            <a:endParaRPr/>
          </a:p>
          <a:p>
            <a:pPr indent="-1365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PortFast is disabled by default.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should be used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only on access ports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66FF66"/>
                </a:solidFill>
                <a:latin typeface="Arial"/>
                <a:ea typeface="Arial"/>
                <a:cs typeface="Arial"/>
                <a:sym typeface="Arial"/>
              </a:rPr>
              <a:t>If you enable PortFast on a port connecting to another switch, you risk creating a spanning-tree loop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stp81.jpg" id="707" name="Google Shape;70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362200"/>
            <a:ext cx="8686800" cy="270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6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</a:t>
            </a:r>
            <a:endParaRPr/>
          </a:p>
        </p:txBody>
      </p:sp>
      <p:sp>
        <p:nvSpPr>
          <p:cNvPr id="713" name="Google Shape;713;p56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STP Convergence: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Convergence is the time it takes for the network to: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Determine which switch is going to assume the role of the root bridge.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Set switch ports to their final spanning-tree port roles where all potential loops are eliminated.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Three Steps: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AutoNum type="arabicPeriod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bridge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AutoNum type="arabicPeriod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ports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AutoNum type="arabicPeriod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Designated and Non-designated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ports.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7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- Step 1</a:t>
            </a:r>
            <a:endParaRPr/>
          </a:p>
        </p:txBody>
      </p:sp>
      <p:sp>
        <p:nvSpPr>
          <p:cNvPr id="719" name="Google Shape;719;p57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 a Root Bridge:</a:t>
            </a:r>
            <a:endParaRPr/>
          </a:p>
        </p:txBody>
      </p:sp>
      <p:pic>
        <p:nvPicPr>
          <p:cNvPr descr="stp82.jpg" id="720" name="Google Shape;72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7"/>
          <p:cNvSpPr txBox="1"/>
          <p:nvPr/>
        </p:nvSpPr>
        <p:spPr>
          <a:xfrm>
            <a:off x="5105400" y="54864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7"/>
          <p:cNvSpPr txBox="1"/>
          <p:nvPr/>
        </p:nvSpPr>
        <p:spPr>
          <a:xfrm>
            <a:off x="3429000" y="21336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7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7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7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7" name="Google Shape;727;p57"/>
          <p:cNvGrpSpPr/>
          <p:nvPr/>
        </p:nvGrpSpPr>
        <p:grpSpPr>
          <a:xfrm>
            <a:off x="2590800" y="3657600"/>
            <a:ext cx="3962400" cy="1524000"/>
            <a:chOff x="2590800" y="3657600"/>
            <a:chExt cx="3962400" cy="1524000"/>
          </a:xfrm>
        </p:grpSpPr>
        <p:pic>
          <p:nvPicPr>
            <p:cNvPr descr="stp84.jpg" id="728" name="Google Shape;72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0400" y="3733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tp84.jpg" id="729" name="Google Shape;729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9200" y="3733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0" name="Google Shape;730;p57"/>
            <p:cNvCxnSpPr/>
            <p:nvPr/>
          </p:nvCxnSpPr>
          <p:spPr>
            <a:xfrm rot="-5400000">
              <a:off x="5334000" y="3886200"/>
              <a:ext cx="1371600" cy="1066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731" name="Google Shape;731;p57"/>
            <p:cNvCxnSpPr/>
            <p:nvPr/>
          </p:nvCxnSpPr>
          <p:spPr>
            <a:xfrm flipH="1" rot="5400000">
              <a:off x="2286000" y="3962400"/>
              <a:ext cx="1524000" cy="9144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732" name="Google Shape;732;p57"/>
          <p:cNvSpPr txBox="1"/>
          <p:nvPr/>
        </p:nvSpPr>
        <p:spPr>
          <a:xfrm>
            <a:off x="152400" y="32004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7"/>
          <p:cNvSpPr/>
          <p:nvPr/>
        </p:nvSpPr>
        <p:spPr>
          <a:xfrm>
            <a:off x="1371600" y="2514600"/>
            <a:ext cx="228600" cy="762000"/>
          </a:xfrm>
          <a:prstGeom prst="upDownArrow">
            <a:avLst>
              <a:gd fmla="val 50000" name="adj1"/>
              <a:gd fmla="val 3240" name="adj2"/>
            </a:avLst>
          </a:prstGeom>
          <a:solidFill>
            <a:srgbClr val="CC9B0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7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7"/>
          <p:cNvSpPr txBox="1"/>
          <p:nvPr/>
        </p:nvSpPr>
        <p:spPr>
          <a:xfrm>
            <a:off x="5867400" y="32004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7"/>
          <p:cNvSpPr/>
          <p:nvPr/>
        </p:nvSpPr>
        <p:spPr>
          <a:xfrm>
            <a:off x="7086600" y="2514600"/>
            <a:ext cx="228600" cy="762000"/>
          </a:xfrm>
          <a:prstGeom prst="upDownArrow">
            <a:avLst>
              <a:gd fmla="val 50000" name="adj1"/>
              <a:gd fmla="val 3240" name="adj2"/>
            </a:avLst>
          </a:prstGeom>
          <a:solidFill>
            <a:srgbClr val="CC9B0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8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– Step 1</a:t>
            </a:r>
            <a:endParaRPr/>
          </a:p>
        </p:txBody>
      </p:sp>
      <p:sp>
        <p:nvSpPr>
          <p:cNvPr id="742" name="Google Shape;742;p58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 a Root Bridge:</a:t>
            </a:r>
            <a:endParaRPr/>
          </a:p>
        </p:txBody>
      </p:sp>
      <p:pic>
        <p:nvPicPr>
          <p:cNvPr descr="stp82.jpg" id="743" name="Google Shape;74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58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8"/>
          <p:cNvSpPr txBox="1"/>
          <p:nvPr/>
        </p:nvSpPr>
        <p:spPr>
          <a:xfrm>
            <a:off x="5105400" y="54864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8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8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8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58"/>
          <p:cNvGrpSpPr/>
          <p:nvPr/>
        </p:nvGrpSpPr>
        <p:grpSpPr>
          <a:xfrm>
            <a:off x="3124200" y="2667000"/>
            <a:ext cx="2438400" cy="2209800"/>
            <a:chOff x="3124200" y="2667000"/>
            <a:chExt cx="2438400" cy="2209800"/>
          </a:xfrm>
        </p:grpSpPr>
        <p:pic>
          <p:nvPicPr>
            <p:cNvPr descr="stp85.jpg" id="750" name="Google Shape;750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38600" y="26670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tp85.jpg" id="751" name="Google Shape;751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733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2" name="Google Shape;752;p58"/>
            <p:cNvCxnSpPr/>
            <p:nvPr/>
          </p:nvCxnSpPr>
          <p:spPr>
            <a:xfrm>
              <a:off x="3581400" y="3124200"/>
              <a:ext cx="1981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753" name="Google Shape;753;p58"/>
            <p:cNvCxnSpPr/>
            <p:nvPr/>
          </p:nvCxnSpPr>
          <p:spPr>
            <a:xfrm flipH="1" rot="-5400000">
              <a:off x="3124200" y="3505200"/>
              <a:ext cx="1600200" cy="1143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754" name="Google Shape;754;p58"/>
          <p:cNvGrpSpPr/>
          <p:nvPr/>
        </p:nvGrpSpPr>
        <p:grpSpPr>
          <a:xfrm>
            <a:off x="5867400" y="2514600"/>
            <a:ext cx="2971800" cy="1393825"/>
            <a:chOff x="5867400" y="2514600"/>
            <a:chExt cx="2971800" cy="1393686"/>
          </a:xfrm>
        </p:grpSpPr>
        <p:sp>
          <p:nvSpPr>
            <p:cNvPr id="755" name="Google Shape;755;p58"/>
            <p:cNvSpPr txBox="1"/>
            <p:nvPr/>
          </p:nvSpPr>
          <p:spPr>
            <a:xfrm>
              <a:off x="5867400" y="3200332"/>
              <a:ext cx="2971800" cy="70795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32769.00A111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3279.00A222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8"/>
            <p:cNvSpPr/>
            <p:nvPr/>
          </p:nvSpPr>
          <p:spPr>
            <a:xfrm>
              <a:off x="7086600" y="2514600"/>
              <a:ext cx="228600" cy="761924"/>
            </a:xfrm>
            <a:prstGeom prst="upDownArrow">
              <a:avLst>
                <a:gd fmla="val 50000" name="adj1"/>
                <a:gd fmla="val 3240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7" name="Google Shape;757;p58"/>
          <p:cNvGrpSpPr/>
          <p:nvPr/>
        </p:nvGrpSpPr>
        <p:grpSpPr>
          <a:xfrm>
            <a:off x="1066800" y="4038600"/>
            <a:ext cx="2971800" cy="1371600"/>
            <a:chOff x="1066800" y="4114800"/>
            <a:chExt cx="2971800" cy="1371600"/>
          </a:xfrm>
        </p:grpSpPr>
        <p:sp>
          <p:nvSpPr>
            <p:cNvPr id="758" name="Google Shape;758;p58"/>
            <p:cNvSpPr txBox="1"/>
            <p:nvPr/>
          </p:nvSpPr>
          <p:spPr>
            <a:xfrm>
              <a:off x="1066800" y="4114800"/>
              <a:ext cx="2971800" cy="708025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32769.00A111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3279.00A222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8"/>
            <p:cNvSpPr/>
            <p:nvPr/>
          </p:nvSpPr>
          <p:spPr>
            <a:xfrm>
              <a:off x="2362200" y="4724400"/>
              <a:ext cx="228600" cy="762000"/>
            </a:xfrm>
            <a:prstGeom prst="upDownArrow">
              <a:avLst>
                <a:gd fmla="val 50000" name="adj1"/>
                <a:gd fmla="val 3240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9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– Step 1</a:t>
            </a:r>
            <a:endParaRPr/>
          </a:p>
        </p:txBody>
      </p:sp>
      <p:sp>
        <p:nvSpPr>
          <p:cNvPr id="765" name="Google Shape;765;p59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 a Root Bridge:</a:t>
            </a:r>
            <a:endParaRPr/>
          </a:p>
        </p:txBody>
      </p:sp>
      <p:pic>
        <p:nvPicPr>
          <p:cNvPr descr="stp82.jpg" id="766" name="Google Shape;7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9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9"/>
          <p:cNvSpPr txBox="1"/>
          <p:nvPr/>
        </p:nvSpPr>
        <p:spPr>
          <a:xfrm>
            <a:off x="5105400" y="54864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9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9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9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p59"/>
          <p:cNvGrpSpPr/>
          <p:nvPr/>
        </p:nvGrpSpPr>
        <p:grpSpPr>
          <a:xfrm>
            <a:off x="3581400" y="2590800"/>
            <a:ext cx="2590800" cy="2362200"/>
            <a:chOff x="3581400" y="2590800"/>
            <a:chExt cx="2590800" cy="2362200"/>
          </a:xfrm>
        </p:grpSpPr>
        <p:pic>
          <p:nvPicPr>
            <p:cNvPr descr="stp83.jpg" id="773" name="Google Shape;773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05400" y="3733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tp83.jpg" id="774" name="Google Shape;774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14800" y="2590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5" name="Google Shape;775;p59"/>
            <p:cNvCxnSpPr/>
            <p:nvPr/>
          </p:nvCxnSpPr>
          <p:spPr>
            <a:xfrm rot="5400000">
              <a:off x="4838700" y="3619500"/>
              <a:ext cx="1524000" cy="1143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cxnSp>
          <p:nvCxnSpPr>
            <p:cNvPr id="776" name="Google Shape;776;p59"/>
            <p:cNvCxnSpPr/>
            <p:nvPr/>
          </p:nvCxnSpPr>
          <p:spPr>
            <a:xfrm rot="10800000">
              <a:off x="3581400" y="3048000"/>
              <a:ext cx="1981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777" name="Google Shape;777;p59"/>
          <p:cNvGrpSpPr/>
          <p:nvPr/>
        </p:nvGrpSpPr>
        <p:grpSpPr>
          <a:xfrm>
            <a:off x="152400" y="2514600"/>
            <a:ext cx="2971800" cy="1393825"/>
            <a:chOff x="152400" y="2514600"/>
            <a:chExt cx="2971800" cy="1393686"/>
          </a:xfrm>
        </p:grpSpPr>
        <p:sp>
          <p:nvSpPr>
            <p:cNvPr id="778" name="Google Shape;778;p59"/>
            <p:cNvSpPr txBox="1"/>
            <p:nvPr/>
          </p:nvSpPr>
          <p:spPr>
            <a:xfrm>
              <a:off x="152400" y="3200332"/>
              <a:ext cx="2971800" cy="707954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9"/>
            <p:cNvSpPr/>
            <p:nvPr/>
          </p:nvSpPr>
          <p:spPr>
            <a:xfrm>
              <a:off x="1295400" y="2514600"/>
              <a:ext cx="228600" cy="761924"/>
            </a:xfrm>
            <a:prstGeom prst="upDownArrow">
              <a:avLst>
                <a:gd fmla="val 50000" name="adj1"/>
                <a:gd fmla="val 3240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59"/>
          <p:cNvGrpSpPr/>
          <p:nvPr/>
        </p:nvGrpSpPr>
        <p:grpSpPr>
          <a:xfrm>
            <a:off x="1066800" y="4038600"/>
            <a:ext cx="2971800" cy="1371600"/>
            <a:chOff x="1066800" y="4038600"/>
            <a:chExt cx="2971800" cy="1371600"/>
          </a:xfrm>
        </p:grpSpPr>
        <p:sp>
          <p:nvSpPr>
            <p:cNvPr id="781" name="Google Shape;781;p59"/>
            <p:cNvSpPr txBox="1"/>
            <p:nvPr/>
          </p:nvSpPr>
          <p:spPr>
            <a:xfrm>
              <a:off x="1066800" y="4038600"/>
              <a:ext cx="2971800" cy="708025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9"/>
            <p:cNvSpPr/>
            <p:nvPr/>
          </p:nvSpPr>
          <p:spPr>
            <a:xfrm>
              <a:off x="2286000" y="4648200"/>
              <a:ext cx="228600" cy="762000"/>
            </a:xfrm>
            <a:prstGeom prst="upDownArrow">
              <a:avLst>
                <a:gd fmla="val 50000" name="adj1"/>
                <a:gd fmla="val 3240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59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9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82.jpg" id="789" name="Google Shape;78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0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0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– Step 2</a:t>
            </a:r>
            <a:endParaRPr/>
          </a:p>
        </p:txBody>
      </p:sp>
      <p:sp>
        <p:nvSpPr>
          <p:cNvPr id="792" name="Google Shape;792;p60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Ports:</a:t>
            </a:r>
            <a:endParaRPr/>
          </a:p>
        </p:txBody>
      </p:sp>
      <p:sp>
        <p:nvSpPr>
          <p:cNvPr id="793" name="Google Shape;793;p60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0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0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0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0"/>
          <p:cNvSpPr txBox="1"/>
          <p:nvPr/>
        </p:nvSpPr>
        <p:spPr>
          <a:xfrm>
            <a:off x="2362200" y="838200"/>
            <a:ext cx="4876800" cy="10160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Throughout the root bridge election, the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path cost</a:t>
            </a: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has also been updated.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All links are 100Mbps.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 =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2322512"/>
            <a:ext cx="1638300" cy="987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9" name="Google Shape;799;p60"/>
          <p:cNvGrpSpPr/>
          <p:nvPr/>
        </p:nvGrpSpPr>
        <p:grpSpPr>
          <a:xfrm>
            <a:off x="2438400" y="3276600"/>
            <a:ext cx="1524000" cy="914400"/>
            <a:chOff x="2438400" y="3276600"/>
            <a:chExt cx="1524000" cy="914400"/>
          </a:xfrm>
        </p:grpSpPr>
        <p:cxnSp>
          <p:nvCxnSpPr>
            <p:cNvPr id="800" name="Google Shape;800;p60"/>
            <p:cNvCxnSpPr/>
            <p:nvPr/>
          </p:nvCxnSpPr>
          <p:spPr>
            <a:xfrm flipH="1" rot="-5400000">
              <a:off x="3162300" y="3390900"/>
              <a:ext cx="914400" cy="685800"/>
            </a:xfrm>
            <a:prstGeom prst="straightConnector1">
              <a:avLst/>
            </a:prstGeom>
            <a:noFill/>
            <a:ln cap="flat" cmpd="sng" w="50800">
              <a:solidFill>
                <a:srgbClr val="66FF66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801" name="Google Shape;801;p60"/>
            <p:cNvSpPr txBox="1"/>
            <p:nvPr/>
          </p:nvSpPr>
          <p:spPr>
            <a:xfrm>
              <a:off x="2438400" y="3276600"/>
              <a:ext cx="609600" cy="400050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38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60"/>
          <p:cNvGrpSpPr/>
          <p:nvPr/>
        </p:nvGrpSpPr>
        <p:grpSpPr>
          <a:xfrm>
            <a:off x="5181600" y="3810000"/>
            <a:ext cx="1066800" cy="990600"/>
            <a:chOff x="5181600" y="3810000"/>
            <a:chExt cx="1066800" cy="990600"/>
          </a:xfrm>
        </p:grpSpPr>
        <p:cxnSp>
          <p:nvCxnSpPr>
            <p:cNvPr id="803" name="Google Shape;803;p60"/>
            <p:cNvCxnSpPr/>
            <p:nvPr/>
          </p:nvCxnSpPr>
          <p:spPr>
            <a:xfrm rot="-5400000">
              <a:off x="5029200" y="3962400"/>
              <a:ext cx="990600" cy="6858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  <p:sp>
          <p:nvSpPr>
            <p:cNvPr id="804" name="Google Shape;804;p60"/>
            <p:cNvSpPr txBox="1"/>
            <p:nvPr/>
          </p:nvSpPr>
          <p:spPr>
            <a:xfrm>
              <a:off x="5638800" y="4343400"/>
              <a:ext cx="609600" cy="400050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p60"/>
          <p:cNvGrpSpPr/>
          <p:nvPr/>
        </p:nvGrpSpPr>
        <p:grpSpPr>
          <a:xfrm>
            <a:off x="3048000" y="4343398"/>
            <a:ext cx="1066800" cy="857252"/>
            <a:chOff x="3048000" y="4343399"/>
            <a:chExt cx="1066800" cy="857311"/>
          </a:xfrm>
        </p:grpSpPr>
        <p:sp>
          <p:nvSpPr>
            <p:cNvPr id="806" name="Google Shape;806;p60"/>
            <p:cNvSpPr txBox="1"/>
            <p:nvPr/>
          </p:nvSpPr>
          <p:spPr>
            <a:xfrm>
              <a:off x="3048000" y="4800632"/>
              <a:ext cx="609600" cy="400078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38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7" name="Google Shape;807;p60"/>
            <p:cNvCxnSpPr/>
            <p:nvPr/>
          </p:nvCxnSpPr>
          <p:spPr>
            <a:xfrm flipH="1" rot="5400000">
              <a:off x="3390871" y="4457728"/>
              <a:ext cx="838259" cy="6096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808" name="Google Shape;808;p60"/>
          <p:cNvSpPr txBox="1"/>
          <p:nvPr/>
        </p:nvSpPr>
        <p:spPr>
          <a:xfrm>
            <a:off x="3429000" y="23622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0"/>
          <p:cNvSpPr txBox="1"/>
          <p:nvPr/>
        </p:nvSpPr>
        <p:spPr>
          <a:xfrm>
            <a:off x="5181600" y="49530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82.jpg" id="814" name="Google Shape;81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1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1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– Step 3</a:t>
            </a:r>
            <a:endParaRPr/>
          </a:p>
        </p:txBody>
      </p:sp>
      <p:sp>
        <p:nvSpPr>
          <p:cNvPr id="817" name="Google Shape;817;p61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Designated and Non-designated Ports: </a:t>
            </a:r>
            <a:endParaRPr/>
          </a:p>
        </p:txBody>
      </p:sp>
      <p:sp>
        <p:nvSpPr>
          <p:cNvPr id="818" name="Google Shape;818;p61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1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1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61"/>
          <p:cNvSpPr txBox="1"/>
          <p:nvPr/>
        </p:nvSpPr>
        <p:spPr>
          <a:xfrm>
            <a:off x="3429000" y="23622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1"/>
          <p:cNvSpPr txBox="1"/>
          <p:nvPr/>
        </p:nvSpPr>
        <p:spPr>
          <a:xfrm>
            <a:off x="5181600" y="49530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3" name="Google Shape;823;p61"/>
          <p:cNvGrpSpPr/>
          <p:nvPr/>
        </p:nvGrpSpPr>
        <p:grpSpPr>
          <a:xfrm>
            <a:off x="5334000" y="2362200"/>
            <a:ext cx="1219200" cy="1300162"/>
            <a:chOff x="5334000" y="2362200"/>
            <a:chExt cx="1219200" cy="1299865"/>
          </a:xfrm>
        </p:grpSpPr>
        <p:sp>
          <p:nvSpPr>
            <p:cNvPr id="824" name="Google Shape;824;p61"/>
            <p:cNvSpPr txBox="1"/>
            <p:nvPr/>
          </p:nvSpPr>
          <p:spPr>
            <a:xfrm>
              <a:off x="5334000" y="2362200"/>
              <a:ext cx="457200" cy="46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61"/>
            <p:cNvSpPr txBox="1"/>
            <p:nvPr/>
          </p:nvSpPr>
          <p:spPr>
            <a:xfrm>
              <a:off x="6096000" y="3200208"/>
              <a:ext cx="457200" cy="46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6" name="Google Shape;826;p61"/>
          <p:cNvSpPr txBox="1"/>
          <p:nvPr/>
        </p:nvSpPr>
        <p:spPr>
          <a:xfrm>
            <a:off x="5791200" y="3733800"/>
            <a:ext cx="3048000" cy="10160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S1 is the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root bridge</a:t>
            </a: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so both ports become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designated</a:t>
            </a: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ports.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7" name="Google Shape;827;p61"/>
          <p:cNvGrpSpPr/>
          <p:nvPr/>
        </p:nvGrpSpPr>
        <p:grpSpPr>
          <a:xfrm>
            <a:off x="2819400" y="3200400"/>
            <a:ext cx="1371600" cy="1143000"/>
            <a:chOff x="2819400" y="3200400"/>
            <a:chExt cx="1371600" cy="1143000"/>
          </a:xfrm>
        </p:grpSpPr>
        <p:pic>
          <p:nvPicPr>
            <p:cNvPr descr="stp85.jpg" id="828" name="Google Shape;828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19400" y="35814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29" name="Google Shape;829;p61"/>
            <p:cNvCxnSpPr/>
            <p:nvPr/>
          </p:nvCxnSpPr>
          <p:spPr>
            <a:xfrm flipH="1" rot="-5400000">
              <a:off x="3238500" y="3390900"/>
              <a:ext cx="1143000" cy="762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830" name="Google Shape;830;p61"/>
          <p:cNvSpPr txBox="1"/>
          <p:nvPr/>
        </p:nvSpPr>
        <p:spPr>
          <a:xfrm>
            <a:off x="1066800" y="5334000"/>
            <a:ext cx="2971800" cy="708025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3657600" y="48006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61"/>
          <p:cNvGrpSpPr/>
          <p:nvPr/>
        </p:nvGrpSpPr>
        <p:grpSpPr>
          <a:xfrm>
            <a:off x="1066800" y="5334000"/>
            <a:ext cx="4648200" cy="708025"/>
            <a:chOff x="1066800" y="5334000"/>
            <a:chExt cx="4648200" cy="707886"/>
          </a:xfrm>
        </p:grpSpPr>
        <p:sp>
          <p:nvSpPr>
            <p:cNvPr id="833" name="Google Shape;833;p61"/>
            <p:cNvSpPr txBox="1"/>
            <p:nvPr/>
          </p:nvSpPr>
          <p:spPr>
            <a:xfrm>
              <a:off x="1066800" y="5334000"/>
              <a:ext cx="2971800" cy="707886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3279.00A111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4" name="Google Shape;834;p61"/>
            <p:cNvCxnSpPr/>
            <p:nvPr/>
          </p:nvCxnSpPr>
          <p:spPr>
            <a:xfrm rot="10800000">
              <a:off x="3810000" y="5867295"/>
              <a:ext cx="19050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835" name="Google Shape;835;p61"/>
          <p:cNvGrpSpPr/>
          <p:nvPr/>
        </p:nvGrpSpPr>
        <p:grpSpPr>
          <a:xfrm>
            <a:off x="533400" y="4267200"/>
            <a:ext cx="2971800" cy="1371600"/>
            <a:chOff x="533400" y="4267200"/>
            <a:chExt cx="2971800" cy="1371600"/>
          </a:xfrm>
        </p:grpSpPr>
        <p:sp>
          <p:nvSpPr>
            <p:cNvPr id="836" name="Google Shape;836;p61"/>
            <p:cNvSpPr txBox="1"/>
            <p:nvPr/>
          </p:nvSpPr>
          <p:spPr>
            <a:xfrm>
              <a:off x="533400" y="4267200"/>
              <a:ext cx="2971800" cy="708025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3279.00A222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1"/>
            <p:cNvSpPr/>
            <p:nvPr/>
          </p:nvSpPr>
          <p:spPr>
            <a:xfrm>
              <a:off x="1295400" y="4876800"/>
              <a:ext cx="228600" cy="762000"/>
            </a:xfrm>
            <a:prstGeom prst="upDownArrow">
              <a:avLst>
                <a:gd fmla="val 50000" name="adj1"/>
                <a:gd fmla="val 3240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p82.jpg" id="842" name="Google Shape;84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33600"/>
            <a:ext cx="56388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62"/>
          <p:cNvSpPr txBox="1"/>
          <p:nvPr/>
        </p:nvSpPr>
        <p:spPr>
          <a:xfrm>
            <a:off x="152400" y="1905000"/>
            <a:ext cx="2971800" cy="708025"/>
          </a:xfrm>
          <a:prstGeom prst="rect">
            <a:avLst/>
          </a:prstGeom>
          <a:solidFill>
            <a:srgbClr val="003300"/>
          </a:solidFill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3279.00A222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2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 – Step 3</a:t>
            </a:r>
            <a:endParaRPr/>
          </a:p>
        </p:txBody>
      </p:sp>
      <p:sp>
        <p:nvSpPr>
          <p:cNvPr id="845" name="Google Shape;845;p62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Designated and Non-designated Ports:</a:t>
            </a:r>
            <a:endParaRPr/>
          </a:p>
        </p:txBody>
      </p:sp>
      <p:sp>
        <p:nvSpPr>
          <p:cNvPr id="846" name="Google Shape;846;p62"/>
          <p:cNvSpPr txBox="1"/>
          <p:nvPr/>
        </p:nvSpPr>
        <p:spPr>
          <a:xfrm>
            <a:off x="6858000" y="3124200"/>
            <a:ext cx="990600" cy="457200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62"/>
          <p:cNvSpPr txBox="1"/>
          <p:nvPr/>
        </p:nvSpPr>
        <p:spPr>
          <a:xfrm>
            <a:off x="-1600200" y="5410200"/>
            <a:ext cx="2971800" cy="7080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32769.00A111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62"/>
          <p:cNvSpPr txBox="1"/>
          <p:nvPr/>
        </p:nvSpPr>
        <p:spPr>
          <a:xfrm>
            <a:off x="5867400" y="1905000"/>
            <a:ext cx="2971800" cy="708025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62"/>
          <p:cNvSpPr txBox="1"/>
          <p:nvPr/>
        </p:nvSpPr>
        <p:spPr>
          <a:xfrm>
            <a:off x="3429000" y="23622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2"/>
          <p:cNvSpPr txBox="1"/>
          <p:nvPr/>
        </p:nvSpPr>
        <p:spPr>
          <a:xfrm>
            <a:off x="5181600" y="49530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62"/>
          <p:cNvGrpSpPr/>
          <p:nvPr/>
        </p:nvGrpSpPr>
        <p:grpSpPr>
          <a:xfrm>
            <a:off x="5334000" y="2362200"/>
            <a:ext cx="1219200" cy="1300162"/>
            <a:chOff x="5334000" y="2362200"/>
            <a:chExt cx="1219200" cy="1299865"/>
          </a:xfrm>
        </p:grpSpPr>
        <p:sp>
          <p:nvSpPr>
            <p:cNvPr id="852" name="Google Shape;852;p62"/>
            <p:cNvSpPr txBox="1"/>
            <p:nvPr/>
          </p:nvSpPr>
          <p:spPr>
            <a:xfrm>
              <a:off x="5334000" y="2362200"/>
              <a:ext cx="457200" cy="46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62"/>
            <p:cNvSpPr txBox="1"/>
            <p:nvPr/>
          </p:nvSpPr>
          <p:spPr>
            <a:xfrm>
              <a:off x="6096000" y="3200208"/>
              <a:ext cx="457200" cy="461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4" name="Google Shape;854;p62"/>
          <p:cNvSpPr txBox="1"/>
          <p:nvPr/>
        </p:nvSpPr>
        <p:spPr>
          <a:xfrm>
            <a:off x="-331350" y="5746625"/>
            <a:ext cx="2971800" cy="7080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24577.00A333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Bridge ID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3279.00A111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2"/>
          <p:cNvSpPr txBox="1"/>
          <p:nvPr/>
        </p:nvSpPr>
        <p:spPr>
          <a:xfrm>
            <a:off x="3657600" y="4800600"/>
            <a:ext cx="457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62"/>
          <p:cNvGrpSpPr/>
          <p:nvPr/>
        </p:nvGrpSpPr>
        <p:grpSpPr>
          <a:xfrm>
            <a:off x="3200400" y="3505200"/>
            <a:ext cx="1143000" cy="1143000"/>
            <a:chOff x="3124200" y="3352800"/>
            <a:chExt cx="1143000" cy="1143000"/>
          </a:xfrm>
        </p:grpSpPr>
        <p:pic>
          <p:nvPicPr>
            <p:cNvPr descr="stp84.jpg" id="857" name="Google Shape;857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24200" y="3733800"/>
              <a:ext cx="965200" cy="60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58" name="Google Shape;858;p62"/>
            <p:cNvCxnSpPr/>
            <p:nvPr/>
          </p:nvCxnSpPr>
          <p:spPr>
            <a:xfrm flipH="1" rot="5400000">
              <a:off x="3314700" y="3543300"/>
              <a:ext cx="1143000" cy="762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sp>
        <p:nvSpPr>
          <p:cNvPr id="859" name="Google Shape;859;p62"/>
          <p:cNvSpPr txBox="1"/>
          <p:nvPr/>
        </p:nvSpPr>
        <p:spPr>
          <a:xfrm>
            <a:off x="3048000" y="3048000"/>
            <a:ext cx="6858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2"/>
          <p:cNvSpPr txBox="1"/>
          <p:nvPr/>
        </p:nvSpPr>
        <p:spPr>
          <a:xfrm>
            <a:off x="3048000" y="3276600"/>
            <a:ext cx="381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" name="Google Shape;861;p62"/>
          <p:cNvGrpSpPr/>
          <p:nvPr/>
        </p:nvGrpSpPr>
        <p:grpSpPr>
          <a:xfrm>
            <a:off x="-331350" y="511180"/>
            <a:ext cx="5055750" cy="1852608"/>
            <a:chOff x="-331350" y="511454"/>
            <a:chExt cx="5055750" cy="1852244"/>
          </a:xfrm>
        </p:grpSpPr>
        <p:sp>
          <p:nvSpPr>
            <p:cNvPr id="862" name="Google Shape;862;p62"/>
            <p:cNvSpPr txBox="1"/>
            <p:nvPr/>
          </p:nvSpPr>
          <p:spPr>
            <a:xfrm>
              <a:off x="-331350" y="511454"/>
              <a:ext cx="2971800" cy="708000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3279.00A222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3" name="Google Shape;863;p62"/>
            <p:cNvCxnSpPr/>
            <p:nvPr/>
          </p:nvCxnSpPr>
          <p:spPr>
            <a:xfrm rot="10800000">
              <a:off x="2971800" y="2362110"/>
              <a:ext cx="1752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  <a:effectLst>
              <a:outerShdw blurRad="63500" dir="5400000" dist="50800">
                <a:schemeClr val="dk1"/>
              </a:outerShdw>
            </a:effectLst>
          </p:spPr>
        </p:cxnSp>
      </p:grpSp>
      <p:grpSp>
        <p:nvGrpSpPr>
          <p:cNvPr id="864" name="Google Shape;864;p62"/>
          <p:cNvGrpSpPr/>
          <p:nvPr/>
        </p:nvGrpSpPr>
        <p:grpSpPr>
          <a:xfrm>
            <a:off x="-1143000" y="2514600"/>
            <a:ext cx="2971800" cy="2422594"/>
            <a:chOff x="-1143000" y="2514600"/>
            <a:chExt cx="2971800" cy="2422338"/>
          </a:xfrm>
        </p:grpSpPr>
        <p:sp>
          <p:nvSpPr>
            <p:cNvPr id="865" name="Google Shape;865;p62"/>
            <p:cNvSpPr txBox="1"/>
            <p:nvPr/>
          </p:nvSpPr>
          <p:spPr>
            <a:xfrm>
              <a:off x="-1143000" y="4228938"/>
              <a:ext cx="2971800" cy="708000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dir="5400000" dist="50800">
                <a:schemeClr val="dk1"/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Root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24577.00A333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Bridge ID </a:t>
              </a: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3279.00A111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62"/>
            <p:cNvSpPr/>
            <p:nvPr/>
          </p:nvSpPr>
          <p:spPr>
            <a:xfrm>
              <a:off x="685800" y="2514600"/>
              <a:ext cx="228600" cy="1066687"/>
            </a:xfrm>
            <a:prstGeom prst="upDownArrow">
              <a:avLst>
                <a:gd fmla="val 50000" name="adj1"/>
                <a:gd fmla="val 2315" name="adj2"/>
              </a:avLst>
            </a:prstGeom>
            <a:solidFill>
              <a:srgbClr val="CC9B00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3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</a:t>
            </a:r>
            <a:endParaRPr/>
          </a:p>
        </p:txBody>
      </p:sp>
      <p:sp>
        <p:nvSpPr>
          <p:cNvPr id="872" name="Google Shape;872;p63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Verifying STP Configuration:</a:t>
            </a:r>
            <a:endParaRPr/>
          </a:p>
        </p:txBody>
      </p:sp>
      <p:pic>
        <p:nvPicPr>
          <p:cNvPr descr="stp82.jpg" id="873" name="Google Shape;8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762000"/>
            <a:ext cx="31242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63"/>
          <p:cNvSpPr txBox="1"/>
          <p:nvPr/>
        </p:nvSpPr>
        <p:spPr>
          <a:xfrm>
            <a:off x="6448425" y="903287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3"/>
          <p:cNvSpPr txBox="1"/>
          <p:nvPr/>
        </p:nvSpPr>
        <p:spPr>
          <a:xfrm>
            <a:off x="7419975" y="2508250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6" name="Google Shape;876;p63"/>
          <p:cNvGrpSpPr/>
          <p:nvPr/>
        </p:nvGrpSpPr>
        <p:grpSpPr>
          <a:xfrm>
            <a:off x="7504112" y="903287"/>
            <a:ext cx="676275" cy="827087"/>
            <a:chOff x="5334000" y="2362200"/>
            <a:chExt cx="1219200" cy="1335100"/>
          </a:xfrm>
        </p:grpSpPr>
        <p:sp>
          <p:nvSpPr>
            <p:cNvPr id="877" name="Google Shape;877;p63"/>
            <p:cNvSpPr txBox="1"/>
            <p:nvPr/>
          </p:nvSpPr>
          <p:spPr>
            <a:xfrm>
              <a:off x="5334000" y="2362200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3"/>
            <p:cNvSpPr txBox="1"/>
            <p:nvPr/>
          </p:nvSpPr>
          <p:spPr>
            <a:xfrm>
              <a:off x="6095285" y="3200161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p63"/>
          <p:cNvSpPr txBox="1"/>
          <p:nvPr/>
        </p:nvSpPr>
        <p:spPr>
          <a:xfrm>
            <a:off x="6575425" y="2414587"/>
            <a:ext cx="2540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63"/>
          <p:cNvSpPr txBox="1"/>
          <p:nvPr/>
        </p:nvSpPr>
        <p:spPr>
          <a:xfrm>
            <a:off x="6238875" y="1328737"/>
            <a:ext cx="4667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63"/>
          <p:cNvSpPr txBox="1"/>
          <p:nvPr/>
        </p:nvSpPr>
        <p:spPr>
          <a:xfrm>
            <a:off x="6248400" y="1447800"/>
            <a:ext cx="211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63"/>
          <p:cNvSpPr/>
          <p:nvPr/>
        </p:nvSpPr>
        <p:spPr>
          <a:xfrm>
            <a:off x="7315200" y="838200"/>
            <a:ext cx="13716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3"/>
          <p:cNvSpPr txBox="1"/>
          <p:nvPr/>
        </p:nvSpPr>
        <p:spPr>
          <a:xfrm>
            <a:off x="7924800" y="685800"/>
            <a:ext cx="685800" cy="338137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86.jpg" id="884" name="Google Shape;88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250" y="2054213"/>
            <a:ext cx="7620001" cy="458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4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</a:t>
            </a:r>
            <a:endParaRPr/>
          </a:p>
        </p:txBody>
      </p:sp>
      <p:sp>
        <p:nvSpPr>
          <p:cNvPr id="890" name="Google Shape;890;p64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Verifying STP Configuration:</a:t>
            </a:r>
            <a:endParaRPr/>
          </a:p>
        </p:txBody>
      </p:sp>
      <p:pic>
        <p:nvPicPr>
          <p:cNvPr descr="stp82.jpg" id="891" name="Google Shape;89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4267200"/>
            <a:ext cx="31242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64"/>
          <p:cNvSpPr txBox="1"/>
          <p:nvPr/>
        </p:nvSpPr>
        <p:spPr>
          <a:xfrm>
            <a:off x="6753225" y="4408487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64"/>
          <p:cNvSpPr txBox="1"/>
          <p:nvPr/>
        </p:nvSpPr>
        <p:spPr>
          <a:xfrm>
            <a:off x="7724775" y="6013450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4" name="Google Shape;894;p64"/>
          <p:cNvGrpSpPr/>
          <p:nvPr/>
        </p:nvGrpSpPr>
        <p:grpSpPr>
          <a:xfrm>
            <a:off x="7808912" y="4408487"/>
            <a:ext cx="676275" cy="827087"/>
            <a:chOff x="5334000" y="2362200"/>
            <a:chExt cx="1219200" cy="1335100"/>
          </a:xfrm>
        </p:grpSpPr>
        <p:sp>
          <p:nvSpPr>
            <p:cNvPr id="895" name="Google Shape;895;p64"/>
            <p:cNvSpPr txBox="1"/>
            <p:nvPr/>
          </p:nvSpPr>
          <p:spPr>
            <a:xfrm>
              <a:off x="5334000" y="2362200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4"/>
            <p:cNvSpPr txBox="1"/>
            <p:nvPr/>
          </p:nvSpPr>
          <p:spPr>
            <a:xfrm>
              <a:off x="6095285" y="3200161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7" name="Google Shape;897;p64"/>
          <p:cNvSpPr txBox="1"/>
          <p:nvPr/>
        </p:nvSpPr>
        <p:spPr>
          <a:xfrm>
            <a:off x="6880225" y="5919787"/>
            <a:ext cx="2540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64"/>
          <p:cNvSpPr txBox="1"/>
          <p:nvPr/>
        </p:nvSpPr>
        <p:spPr>
          <a:xfrm>
            <a:off x="6543675" y="4833937"/>
            <a:ext cx="4667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4"/>
          <p:cNvSpPr txBox="1"/>
          <p:nvPr/>
        </p:nvSpPr>
        <p:spPr>
          <a:xfrm>
            <a:off x="6553200" y="4953000"/>
            <a:ext cx="211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64"/>
          <p:cNvSpPr/>
          <p:nvPr/>
        </p:nvSpPr>
        <p:spPr>
          <a:xfrm>
            <a:off x="6705600" y="5791200"/>
            <a:ext cx="13716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64"/>
          <p:cNvSpPr txBox="1"/>
          <p:nvPr/>
        </p:nvSpPr>
        <p:spPr>
          <a:xfrm>
            <a:off x="8229600" y="4191000"/>
            <a:ext cx="685800" cy="338137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p87.jpg" id="902" name="Google Shape;902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914400"/>
            <a:ext cx="76200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5"/>
          <p:cNvSpPr txBox="1"/>
          <p:nvPr>
            <p:ph type="title"/>
          </p:nvPr>
        </p:nvSpPr>
        <p:spPr>
          <a:xfrm>
            <a:off x="3048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</a:t>
            </a:r>
            <a:endParaRPr/>
          </a:p>
        </p:txBody>
      </p:sp>
      <p:sp>
        <p:nvSpPr>
          <p:cNvPr id="908" name="Google Shape;908;p65"/>
          <p:cNvSpPr txBox="1"/>
          <p:nvPr>
            <p:ph idx="1" type="body"/>
          </p:nvPr>
        </p:nvSpPr>
        <p:spPr>
          <a:xfrm>
            <a:off x="152400" y="12192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Verifying STP Configuration:</a:t>
            </a:r>
            <a:endParaRPr/>
          </a:p>
        </p:txBody>
      </p:sp>
      <p:pic>
        <p:nvPicPr>
          <p:cNvPr descr="stp82.jpg" id="909" name="Google Shape;90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762000"/>
            <a:ext cx="31242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65"/>
          <p:cNvSpPr txBox="1"/>
          <p:nvPr/>
        </p:nvSpPr>
        <p:spPr>
          <a:xfrm>
            <a:off x="6448425" y="903287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65"/>
          <p:cNvSpPr txBox="1"/>
          <p:nvPr/>
        </p:nvSpPr>
        <p:spPr>
          <a:xfrm>
            <a:off x="7419975" y="2508250"/>
            <a:ext cx="254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65"/>
          <p:cNvGrpSpPr/>
          <p:nvPr/>
        </p:nvGrpSpPr>
        <p:grpSpPr>
          <a:xfrm>
            <a:off x="7504112" y="903287"/>
            <a:ext cx="676275" cy="827087"/>
            <a:chOff x="5334000" y="2362200"/>
            <a:chExt cx="1219200" cy="1335100"/>
          </a:xfrm>
        </p:grpSpPr>
        <p:sp>
          <p:nvSpPr>
            <p:cNvPr id="913" name="Google Shape;913;p65"/>
            <p:cNvSpPr txBox="1"/>
            <p:nvPr/>
          </p:nvSpPr>
          <p:spPr>
            <a:xfrm>
              <a:off x="5334000" y="2362200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5"/>
            <p:cNvSpPr txBox="1"/>
            <p:nvPr/>
          </p:nvSpPr>
          <p:spPr>
            <a:xfrm>
              <a:off x="6095285" y="3200161"/>
              <a:ext cx="457915" cy="497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65"/>
          <p:cNvSpPr txBox="1"/>
          <p:nvPr/>
        </p:nvSpPr>
        <p:spPr>
          <a:xfrm>
            <a:off x="6575425" y="2414587"/>
            <a:ext cx="2540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5"/>
          <p:cNvSpPr txBox="1"/>
          <p:nvPr/>
        </p:nvSpPr>
        <p:spPr>
          <a:xfrm>
            <a:off x="6238875" y="1328737"/>
            <a:ext cx="4667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5"/>
          <p:cNvSpPr txBox="1"/>
          <p:nvPr/>
        </p:nvSpPr>
        <p:spPr>
          <a:xfrm>
            <a:off x="6248400" y="1447800"/>
            <a:ext cx="211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65"/>
          <p:cNvSpPr/>
          <p:nvPr/>
        </p:nvSpPr>
        <p:spPr>
          <a:xfrm>
            <a:off x="5638800" y="914400"/>
            <a:ext cx="13716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65"/>
          <p:cNvSpPr txBox="1"/>
          <p:nvPr/>
        </p:nvSpPr>
        <p:spPr>
          <a:xfrm>
            <a:off x="7924800" y="685800"/>
            <a:ext cx="685800" cy="338137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50800">
              <a:schemeClr val="dk1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65"/>
          <p:cNvGrpSpPr/>
          <p:nvPr/>
        </p:nvGrpSpPr>
        <p:grpSpPr>
          <a:xfrm>
            <a:off x="-123825" y="1101761"/>
            <a:ext cx="7543800" cy="4775065"/>
            <a:chOff x="228600" y="1808534"/>
            <a:chExt cx="7543800" cy="4775065"/>
          </a:xfrm>
        </p:grpSpPr>
        <p:pic>
          <p:nvPicPr>
            <p:cNvPr descr="stp88.jpg" id="921" name="Google Shape;921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" y="1808534"/>
              <a:ext cx="7543800" cy="47750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65"/>
            <p:cNvSpPr txBox="1"/>
            <p:nvPr/>
          </p:nvSpPr>
          <p:spPr>
            <a:xfrm>
              <a:off x="304800" y="5791458"/>
              <a:ext cx="2819400" cy="304791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CNA1-Master">
  <a:themeElements>
    <a:clrScheme name="CCNA1-Master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2005-08-02T10:12:17Z</dcterms:created>
  <dc:creator>tdame</dc:creator>
</cp:coreProperties>
</file>