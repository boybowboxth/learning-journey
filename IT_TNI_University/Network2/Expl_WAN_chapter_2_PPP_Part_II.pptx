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2" Target="ppt/presentation.xml" Type="http://schemas.openxmlformats.org/officeDocument/2006/relationships/officeDocument"/><Relationship Id="rId1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9144000" cy="6858000" type="screen4x3"/>
  <p:notesSz cx="6858000" cy="9144000"/>
  <p:defaultTextStyle>
    <a:lvl1pPr algn="ctr" defTabSz="914400" fontAlgn="base" indent="0" marL="0" rtl="0">
      <a:lnSpc>
        <a:spcPct val="100000"/>
      </a:lnSpc>
      <a:spcBef>
        <a:spcPct val="0"/>
      </a:spcBef>
      <a:spcAft>
        <a:spcPct val="0"/>
      </a:spcAft>
      <a:buNone/>
      <a:defRPr b="0" baseline="0" dirty="0" i="0" lang="en-US" smtClean="0" sz="2400" u="none">
        <a:solidFill>
          <a:srgbClr val="FFFF00"/>
        </a:solidFill>
        <a:latin charset="0" typeface="Arial"/>
      </a:defRPr>
    </a:lvl1pPr>
    <a:lvl2pPr indent="0" marL="457200">
      <a:lnSpc>
        <a:spcPct val="100000"/>
      </a:lnSpc>
      <a:spcBef>
        <a:spcPct val="0"/>
      </a:spcBef>
      <a:spcAft>
        <a:spcPct val="0"/>
      </a:spcAft>
      <a:buNone/>
      <a:defRPr b="0" dirty="0" i="0" lang="en-US" smtClean="0" sz="2400" u="none">
        <a:solidFill>
          <a:srgbClr val="FFFF00"/>
        </a:solidFill>
        <a:latin charset="0" typeface="Arial"/>
      </a:defRPr>
    </a:lvl2pPr>
    <a:lvl3pPr indent="0" marL="914400">
      <a:lnSpc>
        <a:spcPct val="100000"/>
      </a:lnSpc>
      <a:spcBef>
        <a:spcPct val="0"/>
      </a:spcBef>
      <a:spcAft>
        <a:spcPct val="0"/>
      </a:spcAft>
      <a:buNone/>
      <a:defRPr b="0" dirty="0" i="0" lang="en-US" smtClean="0" sz="2400" u="none">
        <a:solidFill>
          <a:srgbClr val="FFFF00"/>
        </a:solidFill>
        <a:latin charset="0" typeface="Arial"/>
      </a:defRPr>
    </a:lvl3pPr>
    <a:lvl4pPr indent="0" marL="1371600">
      <a:lnSpc>
        <a:spcPct val="100000"/>
      </a:lnSpc>
      <a:spcBef>
        <a:spcPct val="0"/>
      </a:spcBef>
      <a:spcAft>
        <a:spcPct val="0"/>
      </a:spcAft>
      <a:buNone/>
      <a:defRPr b="0" dirty="0" i="0" lang="en-US" smtClean="0" sz="2400" u="none">
        <a:solidFill>
          <a:srgbClr val="FFFF00"/>
        </a:solidFill>
        <a:latin charset="0" typeface="Arial"/>
      </a:defRPr>
    </a:lvl4pPr>
    <a:lvl5pPr indent="0" marL="1828800">
      <a:lnSpc>
        <a:spcPct val="100000"/>
      </a:lnSpc>
      <a:spcBef>
        <a:spcPct val="0"/>
      </a:spcBef>
      <a:spcAft>
        <a:spcPct val="0"/>
      </a:spcAft>
      <a:buNone/>
      <a:defRPr b="0" dirty="0" i="0" lang="en-US" smtClean="0" sz="2400" u="none">
        <a:solidFill>
          <a:srgbClr val="FFFF00"/>
        </a:solidFill>
        <a:latin charset="0" typeface="Arial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A143736B-1D72-846C-1A73-0734C1C32C6A}">
  <a:tblStyle styleId="{A143736B-1D72-846C-1A73-0734C1C32C6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cmpd="sng" w="12700">
              <a:solidFill>
                <a:schemeClr val="lt1"/>
              </a:solidFill>
            </a:ln>
          </a:left>
          <a:right>
            <a:ln cmpd="sng" w="12700">
              <a:solidFill>
                <a:schemeClr val="lt1"/>
              </a:solidFill>
            </a:ln>
          </a:right>
          <a:top>
            <a:ln cmpd="sng" w="12700">
              <a:solidFill>
                <a:schemeClr val="lt1"/>
              </a:solidFill>
            </a:ln>
          </a:top>
          <a:bottom>
            <a:ln cmpd="sng" w="12700">
              <a:solidFill>
                <a:schemeClr val="lt1"/>
              </a:solidFill>
            </a:ln>
          </a:bottom>
          <a:insideH>
            <a:ln cmpd="sng" w="12700">
              <a:solidFill>
                <a:schemeClr val="lt1"/>
              </a:solidFill>
            </a:ln>
          </a:insideH>
          <a:insideV>
            <a:ln cmpd="sng"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cmpd="sng"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cmpd="sng"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cmpd="sng" w="12700">
              <a:solidFill>
                <a:schemeClr val="lt1"/>
              </a:solidFill>
            </a:ln>
          </a:left>
          <a:right>
            <a:ln cmpd="sng" w="12700">
              <a:solidFill>
                <a:schemeClr val="lt1"/>
              </a:solidFill>
            </a:ln>
          </a:right>
          <a:top>
            <a:ln cmpd="sng" w="12700">
              <a:solidFill>
                <a:schemeClr val="lt1"/>
              </a:solidFill>
            </a:ln>
          </a:top>
          <a:bottom>
            <a:ln cmpd="sng" w="12700">
              <a:solidFill>
                <a:schemeClr val="lt1"/>
              </a:solidFill>
            </a:ln>
          </a:bottom>
          <a:insideH>
            <a:ln cmpd="sng" w="12700">
              <a:solidFill>
                <a:schemeClr val="lt1"/>
              </a:solidFill>
            </a:ln>
          </a:insideH>
          <a:insideV>
            <a:ln cmpd="sng" w="12700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cmpd="sng" w="38100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cmpd="sng" w="38100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cmpd="sng" w="12700">
              <a:solidFill>
                <a:schemeClr val="lt1"/>
              </a:solidFill>
            </a:ln>
          </a:left>
          <a:right>
            <a:ln cmpd="sng" w="12700">
              <a:solidFill>
                <a:schemeClr val="lt1"/>
              </a:solidFill>
            </a:ln>
          </a:right>
          <a:top>
            <a:ln cmpd="sng" w="12700">
              <a:solidFill>
                <a:schemeClr val="lt1"/>
              </a:solidFill>
            </a:ln>
          </a:top>
          <a:bottom>
            <a:ln cmpd="sng" w="12700">
              <a:solidFill>
                <a:schemeClr val="lt1"/>
              </a:solidFill>
            </a:ln>
          </a:bottom>
          <a:insideH>
            <a:ln cmpd="sng" w="12700">
              <a:solidFill>
                <a:schemeClr val="lt1"/>
              </a:solidFill>
            </a:ln>
          </a:insideH>
          <a:insideV>
            <a:ln cmpd="sng" w="12700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cmpd="sng" w="38100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cmpd="sng" w="38100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b="0" g="0" r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cmpd="sng" w="12700">
              <a:solidFill>
                <a:schemeClr val="lt1"/>
              </a:solidFill>
            </a:ln>
          </a:left>
          <a:right>
            <a:ln cmpd="sng" w="12700">
              <a:solidFill>
                <a:schemeClr val="lt1"/>
              </a:solidFill>
            </a:ln>
          </a:right>
          <a:top>
            <a:ln cmpd="sng" w="12700">
              <a:solidFill>
                <a:schemeClr val="lt1"/>
              </a:solidFill>
            </a:ln>
          </a:top>
          <a:bottom>
            <a:ln cmpd="sng" w="12700">
              <a:solidFill>
                <a:schemeClr val="lt1"/>
              </a:solidFill>
            </a:ln>
          </a:bottom>
          <a:insideH>
            <a:ln cmpd="sng" w="12700">
              <a:solidFill>
                <a:schemeClr val="lt1"/>
              </a:solidFill>
            </a:ln>
          </a:insideH>
          <a:insideV>
            <a:ln cmpd="sng" w="12700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cmpd="sng" w="38100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cmpd="sng" w="38100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b="0" g="0" r="0"/>
        </a:fontRef>
        <a:schemeClr val="tx1"/>
      </a:tcTxStyle>
      <a:tcStyle>
        <a:tcBdr>
          <a:left>
            <a:ln cmpd="sng" w="12700">
              <a:solidFill>
                <a:schemeClr val="tx1"/>
              </a:solidFill>
            </a:ln>
          </a:left>
          <a:right>
            <a:ln cmpd="sng" w="12700">
              <a:solidFill>
                <a:schemeClr val="tx1"/>
              </a:solidFill>
            </a:ln>
          </a:right>
          <a:top>
            <a:ln cmpd="sng" w="12700">
              <a:solidFill>
                <a:schemeClr val="tx1"/>
              </a:solidFill>
            </a:ln>
          </a:top>
          <a:bottom>
            <a:ln cmpd="sng" w="12700">
              <a:solidFill>
                <a:schemeClr val="tx1"/>
              </a:solidFill>
            </a:ln>
          </a:bottom>
          <a:insideH>
            <a:ln cmpd="sng" w="12700">
              <a:solidFill>
                <a:schemeClr val="tx1"/>
              </a:solidFill>
            </a:ln>
          </a:insideH>
          <a:insideV>
            <a:ln cmpd="sng" w="12700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b="0" g="0" r="0"/>
        </a:fontRef>
        <a:schemeClr val="tx1"/>
      </a:tcTxStyle>
      <a:tcStyle>
        <a:tcBdr>
          <a:left>
            <a:ln cmpd="sng" w="12700">
              <a:solidFill>
                <a:schemeClr val="accent3"/>
              </a:solidFill>
            </a:ln>
          </a:left>
          <a:right>
            <a:ln cmpd="sng" w="12700">
              <a:solidFill>
                <a:schemeClr val="accent3"/>
              </a:solidFill>
            </a:ln>
          </a:right>
          <a:top>
            <a:ln cmpd="sng" w="12700">
              <a:solidFill>
                <a:schemeClr val="accent3"/>
              </a:solidFill>
            </a:ln>
          </a:top>
          <a:bottom>
            <a:ln cmpd="sng" w="12700">
              <a:solidFill>
                <a:schemeClr val="accent3"/>
              </a:solidFill>
            </a:ln>
          </a:bottom>
          <a:insideH>
            <a:ln cmpd="sng" w="12700">
              <a:solidFill>
                <a:schemeClr val="accent3"/>
              </a:solidFill>
            </a:ln>
          </a:insideH>
          <a:insideV>
            <a:ln cmpd="sng" w="12700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cmpd="dbl" w="50800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cmpd="sng" w="25400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cmpd="sng" w="12700">
              <a:solidFill>
                <a:schemeClr val="lt1"/>
              </a:solidFill>
            </a:ln>
          </a:left>
          <a:right>
            <a:ln cmpd="sng" w="12700">
              <a:solidFill>
                <a:schemeClr val="lt1"/>
              </a:solidFill>
            </a:ln>
          </a:right>
          <a:top>
            <a:ln cmpd="sng" w="12700">
              <a:solidFill>
                <a:schemeClr val="lt1"/>
              </a:solidFill>
            </a:ln>
          </a:top>
          <a:bottom>
            <a:ln cmpd="sng" w="12700">
              <a:solidFill>
                <a:schemeClr val="lt1"/>
              </a:solidFill>
            </a:ln>
          </a:bottom>
          <a:insideH>
            <a:ln cmpd="sng" w="12700">
              <a:solidFill>
                <a:schemeClr val="lt1"/>
              </a:solidFill>
            </a:ln>
          </a:insideH>
          <a:insideV>
            <a:ln cmpd="sng" w="12700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cmpd="sng" w="38100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cmpd="sng" w="38100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cmpd="sng" w="12700">
              <a:solidFill>
                <a:schemeClr val="lt1"/>
              </a:solidFill>
            </a:ln>
          </a:left>
          <a:right>
            <a:ln cmpd="sng" w="12700">
              <a:solidFill>
                <a:schemeClr val="lt1"/>
              </a:solidFill>
            </a:ln>
          </a:right>
          <a:top>
            <a:ln cmpd="sng" w="12700">
              <a:solidFill>
                <a:schemeClr val="lt1"/>
              </a:solidFill>
            </a:ln>
          </a:top>
          <a:bottom>
            <a:ln cmpd="sng" w="12700">
              <a:solidFill>
                <a:schemeClr val="lt1"/>
              </a:solidFill>
            </a:ln>
          </a:bottom>
          <a:insideH>
            <a:ln cmpd="sng" w="12700">
              <a:solidFill>
                <a:schemeClr val="lt1"/>
              </a:solidFill>
            </a:ln>
          </a:insideH>
          <a:insideV>
            <a:ln cmpd="sng" w="12700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cmpd="sng" w="38100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cmpd="sng" w="38100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b="0" g="0" r="0"/>
        </a:fontRef>
        <a:schemeClr val="dk1"/>
      </a:tcTxStyle>
      <a:tcStyle>
        <a:tcBdr>
          <a:left>
            <a:ln cmpd="sng" w="12700">
              <a:solidFill>
                <a:schemeClr val="accent2"/>
              </a:solidFill>
            </a:ln>
          </a:left>
          <a:right>
            <a:ln cmpd="sng" w="12700">
              <a:solidFill>
                <a:schemeClr val="accent2"/>
              </a:solidFill>
            </a:ln>
          </a:right>
          <a:top>
            <a:ln cmpd="sng" w="12700">
              <a:solidFill>
                <a:schemeClr val="accent2"/>
              </a:solidFill>
            </a:ln>
          </a:top>
          <a:bottom>
            <a:ln cmpd="sng" w="12700">
              <a:solidFill>
                <a:schemeClr val="accent2"/>
              </a:solidFill>
            </a:ln>
          </a:bottom>
          <a:insideH>
            <a:ln cmpd="sng" w="12700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cmpd="dbl" w="50800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b="0" g="0" r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4"/>
    <p:restoredTop sz="99473"/>
  </p:normalViewPr>
</p:viewPr>
</file>

<file path=ppt/_rels/presentation.xml.rels><?xml version="1.0" encoding="UTF-8" standalone="yes"?><Relationships xmlns="http://schemas.openxmlformats.org/package/2006/relationships"><Relationship Id="rId53" Target="slides/slide47.xml" Type="http://schemas.openxmlformats.org/officeDocument/2006/relationships/slide"/><Relationship Id="rId52" Target="slides/slide46.xml" Type="http://schemas.openxmlformats.org/officeDocument/2006/relationships/slide"/><Relationship Id="rId51" Target="slides/slide45.xml" Type="http://schemas.openxmlformats.org/officeDocument/2006/relationships/slide"/><Relationship Id="rId50" Target="slides/slide44.xml" Type="http://schemas.openxmlformats.org/officeDocument/2006/relationships/slide"/><Relationship Id="rId5" Target="slideMasters/slideMaster1.xml" Type="http://schemas.openxmlformats.org/officeDocument/2006/relationships/slideMaster"/><Relationship Id="rId39" Target="slides/slide33.xml" Type="http://schemas.openxmlformats.org/officeDocument/2006/relationships/slide"/><Relationship Id="rId4" Target="tableStyles.xml" Type="http://schemas.openxmlformats.org/officeDocument/2006/relationships/tableStyles"/><Relationship Id="rId38" Target="slides/slide32.xml" Type="http://schemas.openxmlformats.org/officeDocument/2006/relationships/slide"/><Relationship Id="rId3" Target="presProps.xml" Type="http://schemas.openxmlformats.org/officeDocument/2006/relationships/presProps"/><Relationship Id="rId37" Target="slides/slide31.xml" Type="http://schemas.openxmlformats.org/officeDocument/2006/relationships/slide"/><Relationship Id="rId2" Target="viewProps.xml" Type="http://schemas.openxmlformats.org/officeDocument/2006/relationships/viewProps"/><Relationship Id="rId36" Target="slides/slide30.xml" Type="http://schemas.openxmlformats.org/officeDocument/2006/relationships/slide"/><Relationship Id="rId1" Target="theme/theme1.xml" Type="http://schemas.openxmlformats.org/officeDocument/2006/relationships/theme"/><Relationship Id="rId35" Target="slides/slide29.xml" Type="http://schemas.openxmlformats.org/officeDocument/2006/relationships/slide"/><Relationship Id="rId34" Target="slides/slide28.xml" Type="http://schemas.openxmlformats.org/officeDocument/2006/relationships/slide"/><Relationship Id="rId33" Target="slides/slide27.xml" Type="http://schemas.openxmlformats.org/officeDocument/2006/relationships/slide"/><Relationship Id="rId32" Target="slides/slide26.xml" Type="http://schemas.openxmlformats.org/officeDocument/2006/relationships/slide"/><Relationship Id="rId31" Target="slides/slide25.xml" Type="http://schemas.openxmlformats.org/officeDocument/2006/relationships/slide"/><Relationship Id="rId30" Target="slides/slide24.xml" Type="http://schemas.openxmlformats.org/officeDocument/2006/relationships/slide"/><Relationship Id="rId27" Target="slides/slide21.xml" Type="http://schemas.openxmlformats.org/officeDocument/2006/relationships/slide"/><Relationship Id="rId26" Target="slides/slide20.xml" Type="http://schemas.openxmlformats.org/officeDocument/2006/relationships/slide"/><Relationship Id="rId25" Target="slides/slide19.xml" Type="http://schemas.openxmlformats.org/officeDocument/2006/relationships/slide"/><Relationship Id="rId24" Target="slides/slide18.xml" Type="http://schemas.openxmlformats.org/officeDocument/2006/relationships/slide"/><Relationship Id="rId55" Target="slides/slide49.xml" Type="http://schemas.openxmlformats.org/officeDocument/2006/relationships/slide"/><Relationship Id="rId21" Target="slides/slide15.xml" Type="http://schemas.openxmlformats.org/officeDocument/2006/relationships/slide"/><Relationship Id="rId19" Target="slides/slide13.xml" Type="http://schemas.openxmlformats.org/officeDocument/2006/relationships/slide"/><Relationship Id="rId54" Target="slides/slide48.xml" Type="http://schemas.openxmlformats.org/officeDocument/2006/relationships/slide"/><Relationship Id="rId20" Target="slides/slide14.xml" Type="http://schemas.openxmlformats.org/officeDocument/2006/relationships/slide"/><Relationship Id="rId18" Target="slides/slide12.xml" Type="http://schemas.openxmlformats.org/officeDocument/2006/relationships/slide"/><Relationship Id="rId17" Target="slides/slide11.xml" Type="http://schemas.openxmlformats.org/officeDocument/2006/relationships/slide"/><Relationship Id="rId13" Target="slides/slide7.xml" Type="http://schemas.openxmlformats.org/officeDocument/2006/relationships/slide"/><Relationship Id="rId47" Target="slides/slide41.xml" Type="http://schemas.openxmlformats.org/officeDocument/2006/relationships/slide"/><Relationship Id="rId16" Target="slides/slide10.xml" Type="http://schemas.openxmlformats.org/officeDocument/2006/relationships/slide"/><Relationship Id="rId12" Target="slides/slide6.xml" Type="http://schemas.openxmlformats.org/officeDocument/2006/relationships/slide"/><Relationship Id="rId46" Target="slides/slide40.xml" Type="http://schemas.openxmlformats.org/officeDocument/2006/relationships/slide"/><Relationship Id="rId49" Target="slides/slide43.xml" Type="http://schemas.openxmlformats.org/officeDocument/2006/relationships/slide"/><Relationship Id="rId15" Target="slides/slide9.xml" Type="http://schemas.openxmlformats.org/officeDocument/2006/relationships/slide"/><Relationship Id="rId11" Target="slides/slide5.xml" Type="http://schemas.openxmlformats.org/officeDocument/2006/relationships/slide"/><Relationship Id="rId45" Target="slides/slide39.xml" Type="http://schemas.openxmlformats.org/officeDocument/2006/relationships/slide"/><Relationship Id="rId48" Target="slides/slide42.xml" Type="http://schemas.openxmlformats.org/officeDocument/2006/relationships/slide"/><Relationship Id="rId14" Target="slides/slide8.xml" Type="http://schemas.openxmlformats.org/officeDocument/2006/relationships/slide"/><Relationship Id="rId10" Target="slides/slide4.xml" Type="http://schemas.openxmlformats.org/officeDocument/2006/relationships/slide"/><Relationship Id="rId44" Target="slides/slide38.xml" Type="http://schemas.openxmlformats.org/officeDocument/2006/relationships/slide"/><Relationship Id="rId43" Target="slides/slide37.xml" Type="http://schemas.openxmlformats.org/officeDocument/2006/relationships/slide"/><Relationship Id="rId42" Target="slides/slide36.xml" Type="http://schemas.openxmlformats.org/officeDocument/2006/relationships/slide"/><Relationship Id="rId41" Target="slides/slide35.xml" Type="http://schemas.openxmlformats.org/officeDocument/2006/relationships/slide"/><Relationship Id="rId9" Target="slides/slide3.xml" Type="http://schemas.openxmlformats.org/officeDocument/2006/relationships/slide"/><Relationship Id="rId40" Target="slides/slide34.xml" Type="http://schemas.openxmlformats.org/officeDocument/2006/relationships/slide"/><Relationship Id="rId8" Target="slides/slide2.xml" Type="http://schemas.openxmlformats.org/officeDocument/2006/relationships/slide"/><Relationship Id="rId7" Target="slides/slide1.xml" Type="http://schemas.openxmlformats.org/officeDocument/2006/relationships/slide"/><Relationship Id="rId6" Target="notesMasters/notesMaster1.xml" Type="http://schemas.openxmlformats.org/officeDocument/2006/relationships/notesMaster"/><Relationship Id="rId23" Target="slides/slide17.xml" Type="http://schemas.openxmlformats.org/officeDocument/2006/relationships/slide"/><Relationship Id="rId29" Target="slides/slide23.xml" Type="http://schemas.openxmlformats.org/officeDocument/2006/relationships/slide"/><Relationship Id="rId22" Target="slides/slide16.xml" Type="http://schemas.openxmlformats.org/officeDocument/2006/relationships/slide"/><Relationship Id="rId28" Target="slides/slide22.xml" Type="http://schemas.openxmlformats.org/officeDocument/2006/relationships/slide"/></Relationships>
</file>

<file path=ppt/notesMasters/_rels/notesMaster1.xml.rels><?xml version="1.0" encoding="UTF-8" standalone="yes"?>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9"/>
          <p:cNvSpPr>
            <a:spLocks/>
          </p:cNvSpPr>
          <p:nvPr>
            <p:ph sz="quarter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ln>
            <a:noFill/>
          </a:ln>
        </p:spPr>
        <p:txBody>
          <a:bodyPr numCol="1"/>
          <a:lstStyle/>
          <a:p>
            <a:endParaRPr/>
          </a:p>
        </p:txBody>
      </p:sp>
      <p:sp>
        <p:nvSpPr>
          <p:cNvPr id="10" name="Text Box 10"/>
          <p:cNvSpPr>
            <a:spLocks/>
          </p:cNvSpPr>
          <p:nvPr>
            <p:ph idx="1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ln>
            <a:noFill/>
          </a:ln>
        </p:spPr>
        <p:txBody>
          <a:bodyPr numCol="1"/>
          <a:lstStyle/>
          <a:p>
            <a:endParaRPr/>
          </a:p>
        </p:txBody>
      </p:sp>
      <p:sp>
        <p:nvSpPr>
          <p:cNvPr id="11" name="Text Box 11"/>
          <p:cNvSpPr>
            <a:spLocks/>
          </p:cNvSpPr>
          <p:nvPr>
            <p:ph idx="2"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>
            <a:solidFill>
              <a:srgbClr val="000000"/>
            </a:solidFill>
            <a:round/>
            <a:headEnd/>
            <a:tailEnd/>
          </a:ln>
        </p:spPr>
      </p:sp>
      <p:sp>
        <p:nvSpPr>
          <p:cNvPr id="12" name="Text Box 12"/>
          <p:cNvSpPr>
            <a:spLocks/>
          </p:cNvSpPr>
          <p:nvPr>
            <p:ph idx="3" sz="quarter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ln>
            <a:noFill/>
          </a:ln>
        </p:spPr>
        <p:txBody>
          <a:bodyPr numCol="1"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13" name="Text Box 13"/>
          <p:cNvSpPr>
            <a:spLocks/>
          </p:cNvSpPr>
          <p:nvPr>
            <p:ph idx="4" sz="quarter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ln>
            <a:noFill/>
          </a:ln>
        </p:spPr>
        <p:txBody>
          <a:bodyPr anchor="b" numCol="1"/>
          <a:lstStyle/>
          <a:p>
            <a:endParaRPr/>
          </a:p>
        </p:txBody>
      </p:sp>
      <p:sp>
        <p:nvSpPr>
          <p:cNvPr id="14" name="Text Box 14"/>
          <p:cNvSpPr>
            <a:spLocks/>
          </p:cNvSpPr>
          <p:nvPr>
            <p:ph idx="5" sz="quarter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ln>
            <a:noFill/>
          </a:ln>
        </p:spPr>
        <p:txBody>
          <a:bodyPr anchor="b" numCol="1"/>
          <a:lstStyle/>
          <a:p>
            <a:pPr algn="r"/>
            <a:r>
              <a:rPr b="1" dirty="0" lang="en-US" smtClean="0" sz="1200">
                <a:solidFill>
                  <a:srgbClr val="DC4900"/>
                </a:solidFill>
              </a:rPr>
              <a:t>*</a:t>
            </a:r>
          </a:p>
        </p:txBody>
      </p:sp>
    </p:spTree>
  </p:cSld>
  <p:clrMap accent1="accent1" accent2="accent2" accent3="accent3" accent4="accent4" accent5="accent5" accent6="accent6" bg1="lt1" bg2="lt2" folHlink="folHlink" hlink="hlink" tx1="dk1" tx2="dk2"/>
</p:notesMaster>
</file>

<file path=ppt/slideLayouts/_rels/slideLayout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 numCol="1"/>
          <a:lstStyle>
            <a:lvl1pPr algn="ctr" indent="0" marL="0">
              <a:buNone/>
              <a:defRPr/>
            </a:lvl1pPr>
            <a:lvl2pPr algn="ctr" indent="0" marL="457200">
              <a:buNone/>
              <a:defRPr/>
            </a:lvl2pPr>
            <a:lvl3pPr algn="ctr" indent="0" marL="914400">
              <a:buNone/>
              <a:defRPr/>
            </a:lvl3pPr>
            <a:lvl4pPr algn="ctr" indent="0" marL="1371600">
              <a:buNone/>
              <a:defRPr/>
            </a:lvl4pPr>
            <a:lvl5pPr algn="ctr" indent="0" marL="1828800">
              <a:buNone/>
              <a:defRPr/>
            </a:lvl5pPr>
            <a:lvl6pPr algn="ctr" indent="0" marL="2286000">
              <a:buNone/>
              <a:defRPr/>
            </a:lvl6pPr>
            <a:lvl7pPr algn="ctr" indent="0" marL="2743200">
              <a:buNone/>
              <a:defRPr/>
            </a:lvl7pPr>
            <a:lvl8pPr algn="ctr" indent="0" marL="3200400">
              <a:buNone/>
              <a:defRPr/>
            </a:lvl8pPr>
            <a:lvl9pPr algn="ctr" indent="0" marL="3657600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C9600221-B624-45B7-9E68-D1D7975258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A5BC7F78-48E6-4BBC-B0E1-56BD2A17FC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numCol="1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22313" y="2906713"/>
            <a:ext cx="7772400" cy="1500187"/>
          </a:xfrm>
        </p:spPr>
        <p:txBody>
          <a:bodyPr anchor="b" numCol="1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E83BA4B-50FE-4B84-AE64-D7F085A2A31A}" type="datetimeFigureOut">
              <a:rPr lang="en-US" smtClean="0"/>
              <a:t>2/4/2014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FD6B306A-339E-4A68-B601-FE88844A1F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648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146B05A8-4507-4941-A8ED-92C83DD237D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535113"/>
            <a:ext cx="4040188" cy="63976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57200" y="2174875"/>
            <a:ext cx="4040188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>
          <a:xfrm>
            <a:off x="4645025" y="1535113"/>
            <a:ext cx="4041775" cy="63976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4645025" y="2174875"/>
            <a:ext cx="4041775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E83BA4B-50FE-4B84-AE64-D7F085A2A31A}" type="datetimeFigureOut">
              <a:rPr lang="en-US" smtClean="0"/>
              <a:t>2/4/2014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FD6B306A-339E-4A68-B601-FE88844A1F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2D52B7B6-6F1B-4A62-B87E-81AD4998D87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08F7B79A-4EA2-44AE-9F7F-F6A143AD22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numCol="1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numCol="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457200" y="1435100"/>
            <a:ext cx="3008313" cy="4691063"/>
          </a:xfrm>
        </p:spPr>
        <p:txBody>
          <a:bodyPr numCol="1"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E83BA4B-50FE-4B84-AE64-D7F085A2A31A}" type="datetimeFigureOut">
              <a:rPr lang="en-US" smtClean="0"/>
              <a:t>2/4/2014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FD6B306A-339E-4A68-B601-FE88844A1F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numCol="1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idx="1" type="pic"/>
          </p:nvPr>
        </p:nvSpPr>
        <p:spPr>
          <a:xfrm>
            <a:off x="1792288" y="612775"/>
            <a:ext cx="5486400" cy="4114800"/>
          </a:xfrm>
        </p:spPr>
        <p:txBody>
          <a:bodyPr numCol="1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1792288" y="5367338"/>
            <a:ext cx="5486400" cy="804862"/>
          </a:xfrm>
        </p:spPr>
        <p:txBody>
          <a:bodyPr numCol="1"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4E83BA4B-50FE-4B84-AE64-D7F085A2A31A}" type="datetimeFigureOut">
              <a:rPr lang="en-US" smtClean="0"/>
              <a:t>2/4/2014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FD6B306A-339E-4A68-B601-FE88844A1F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/>
        <p:txBody>
          <a:bodyPr numCol="1"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C543D10D-1B83-4EE9-8835-AFAF7628ADB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orient="vert" type="title"/>
          </p:nvPr>
        </p:nvSpPr>
        <p:spPr>
          <a:xfrm>
            <a:off x="6629400" y="274638"/>
            <a:ext cx="2057400" cy="5851525"/>
          </a:xfrm>
        </p:spPr>
        <p:txBody>
          <a:bodyPr numCol="1"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>
          <a:xfrm>
            <a:off x="457200" y="274638"/>
            <a:ext cx="6019800" cy="5851525"/>
          </a:xfrm>
        </p:spPr>
        <p:txBody>
          <a:bodyPr numCol="1"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>
            <a:lvl1pPr>
              <a:defRPr/>
            </a:lvl1pPr>
          </a:lstStyle>
          <a:p>
            <a:fld id="{8A0F8399-60D2-4F5D-9CEE-64FA3803ED8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3" Target="../slideLayouts/slideLayout11.xml" Type="http://schemas.openxmlformats.org/officeDocument/2006/relationships/slideLayout"/><Relationship Id="rId12" Target="../slideLayouts/slideLayout10.xml" Type="http://schemas.openxmlformats.org/officeDocument/2006/relationships/slideLayout"/><Relationship Id="rId11" Target="../slideLayouts/slideLayout9.xml" Type="http://schemas.openxmlformats.org/officeDocument/2006/relationships/slideLayout"/><Relationship Id="rId9" Target="../slideLayouts/slideLayout7.xml" Type="http://schemas.openxmlformats.org/officeDocument/2006/relationships/slideLayout"/><Relationship Id="rId10" Target="../slideLayouts/slideLayout8.xml" Type="http://schemas.openxmlformats.org/officeDocument/2006/relationships/slideLayout"/><Relationship Id="rId8" Target="../slideLayouts/slideLayout6.xml" Type="http://schemas.openxmlformats.org/officeDocument/2006/relationships/slideLayout"/><Relationship Id="rId7" Target="../slideLayouts/slideLayout5.xml" Type="http://schemas.openxmlformats.org/officeDocument/2006/relationships/slideLayout"/><Relationship Id="rId6" Target="../slideLayouts/slideLayout4.xml" Type="http://schemas.openxmlformats.org/officeDocument/2006/relationships/slideLayout"/><Relationship Id="rId5" Target="../slideLayouts/slideLayout3.xml" Type="http://schemas.openxmlformats.org/officeDocument/2006/relationships/slideLayout"/><Relationship Id="rId4" Target="../slideLayouts/slideLayout2.xml" Type="http://schemas.openxmlformats.org/officeDocument/2006/relationships/slideLayout"/><Relationship Id="rId3" Target="../slideLayouts/slideLayout1.xml" Type="http://schemas.openxmlformats.org/officeDocument/2006/relationships/slideLayout"/><Relationship Id="rId2" Target="../media/image1.png" Type="http://schemas.openxmlformats.org/officeDocument/2006/relationships/image"/><Relationship Id="rId1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00"/>
            </a:gs>
            <a:gs pos="100000">
              <a:srgbClr val="1C385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 Box 1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ln>
            <a:noFill/>
          </a:ln>
        </p:spPr>
        <p:txBody>
          <a:bodyPr anchor="ctr" numCol="1"/>
          <a:lstStyle/>
          <a:p>
            <a:endParaRPr/>
          </a:p>
        </p:txBody>
      </p:sp>
      <p:sp>
        <p:nvSpPr>
          <p:cNvPr id="2" name="Text Box 2"/>
          <p:cNvSpPr>
            <a:spLocks/>
          </p:cNvSpPr>
          <p:nvPr>
            <p:ph idx="1" type="body"/>
          </p:nvPr>
        </p:nvSpPr>
        <p:spPr>
          <a:xfrm>
            <a:off x="152400" y="1371600"/>
            <a:ext cx="8839200" cy="5105400"/>
          </a:xfrm>
          <a:prstGeom prst="rect">
            <a:avLst/>
          </a:prstGeom>
          <a:ln>
            <a:noFill/>
          </a:ln>
        </p:spPr>
        <p:txBody>
          <a:bodyPr numCol="1"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grpSp>
        <p:nvGrpSpPr>
          <p:cNvPr id="3" name="Group 3"/>
          <p:cNvGrpSpPr>
            <a:grpSpLocks noChangeAspect="0" noGrp="0" noMove="0" noRot="0" noSelect="0"/>
          </p:cNvGrpSpPr>
          <p:nvPr/>
        </p:nvGrpSpPr>
        <p:grpSpPr>
          <a:xfrm>
            <a:off x="-6350" y="987425"/>
            <a:ext cx="9156700" cy="238125"/>
            <a:chOff x="-4" y="622"/>
            <a:chExt cx="5768" cy="1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2"/>
            <a:stretch/>
          </p:blipFill>
          <p:spPr>
            <a:xfrm>
              <a:off x="-4" y="622"/>
              <a:ext cx="5768" cy="150"/>
            </a:xfrm>
            <a:prstGeom prst="rect">
              <a:avLst/>
            </a:prstGeom>
            <a:noFill/>
          </p:spPr>
        </p:pic>
        <p:sp>
          <p:nvSpPr>
            <p:cNvPr id="6" name="Text Box 6"/>
            <p:cNvSpPr txBox="1">
              <a:spLocks/>
            </p:cNvSpPr>
            <p:nvPr/>
          </p:nvSpPr>
          <p:spPr>
            <a:xfrm>
              <a:off x="0" y="624"/>
              <a:ext cx="5760" cy="144"/>
            </a:xfrm>
            <a:prstGeom prst="rect">
              <a:avLst/>
            </a:prstGeom>
            <a:noFill/>
            <a:ln>
              <a:noFill/>
            </a:ln>
          </p:spPr>
          <p:txBody>
            <a:bodyPr anchor="ctr" numCol="1" wrap="none"/>
            <a:lstStyle/>
            <a:p>
              <a:endParaRPr/>
            </a:p>
          </p:txBody>
        </p:sp>
      </p:grpSp>
      <p:sp>
        <p:nvSpPr>
          <p:cNvPr id="7" name="Text Box 7"/>
          <p:cNvSpPr txBox="1">
            <a:spLocks/>
          </p:cNvSpPr>
          <p:nvPr/>
        </p:nvSpPr>
        <p:spPr>
          <a:xfrm>
            <a:off x="0" y="6521450"/>
            <a:ext cx="1066800" cy="274637"/>
          </a:xfrm>
          <a:prstGeom prst="rect">
            <a:avLst/>
          </a:prstGeom>
          <a:noFill/>
          <a:ln>
            <a:noFill/>
          </a:ln>
        </p:spPr>
        <p:txBody>
          <a:bodyPr lIns="182880" numCol="1">
            <a:spAutoFit/>
          </a:bodyPr>
          <a:lstStyle/>
          <a:p>
            <a:pPr algn="l" indent="0" marL="0">
              <a:spcBef>
                <a:spcPct val="50000"/>
              </a:spcBef>
            </a:pPr>
            <a:r>
              <a:rPr dirty="0" lang="en-US" smtClean="0" sz="1200">
                <a:solidFill>
                  <a:schemeClr val="hlink"/>
                </a:solidFill>
              </a:rPr>
              <a:t>CCNA4-*</a:t>
            </a:r>
          </a:p>
        </p:txBody>
      </p:sp>
      <p:sp>
        <p:nvSpPr>
          <p:cNvPr id="8" name="Text Box 8"/>
          <p:cNvSpPr txBox="1">
            <a:spLocks/>
          </p:cNvSpPr>
          <p:nvPr/>
        </p:nvSpPr>
        <p:spPr>
          <a:xfrm>
            <a:off x="8001000" y="6553200"/>
            <a:ext cx="838200" cy="184150"/>
          </a:xfrm>
          <a:prstGeom prst="rect">
            <a:avLst/>
          </a:prstGeom>
          <a:noFill/>
          <a:ln>
            <a:noFill/>
          </a:ln>
        </p:spPr>
        <p:txBody>
          <a:bodyPr anchor="b" anchorCtr="1" bIns="0" lIns="0" numCol="1" rIns="0" tIns="0">
            <a:spAutoFit/>
          </a:bodyPr>
          <a:lstStyle/>
          <a:p>
            <a:pPr algn="l" indent="0" marL="0">
              <a:spcBef>
                <a:spcPct val="50000"/>
              </a:spcBef>
            </a:pPr>
            <a:r>
              <a:rPr dirty="0" lang="en-US" smtClean="0" sz="1200">
                <a:solidFill>
                  <a:schemeClr val="hlink"/>
                </a:solidFill>
              </a:rPr>
              <a:t>Chapter </a:t>
            </a:r>
            <a:r>
              <a:rPr dirty="0" lang="en-US" smtClean="0" sz="1200">
                <a:solidFill>
                  <a:schemeClr val="hlink"/>
                </a:solidFill>
              </a:rPr>
              <a:t>2-2</a:t>
            </a: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sldNum="0"/>
  <p:txStyles>
    <p:titleStyle>
      <a:lvl1pPr algn="l" defTabSz="914400" fontAlgn="base" indent="0" marL="0" rtl="0">
        <a:lnSpc>
          <a:spcPct val="100000"/>
        </a:lnSpc>
        <a:spcBef>
          <a:spcPct val="0"/>
        </a:spcBef>
        <a:spcAft>
          <a:spcPct val="0"/>
        </a:spcAft>
        <a:buNone/>
        <a:defRPr b="0" baseline="0" dirty="0" i="0" lang="en-US" smtClean="0" sz="3200" u="none">
          <a:solidFill>
            <a:srgbClr val="FFFF00"/>
          </a:solidFill>
          <a:latin charset="0" typeface="Arial"/>
        </a:defRPr>
      </a:lvl1pPr>
    </p:titleStyle>
    <p:bodyStyle>
      <a:lvl1pPr algn="l" defTabSz="914400" fontAlgn="base" indent="-342900" marL="342900" rtl="0">
        <a:lnSpc>
          <a:spcPct val="100000"/>
        </a:lnSpc>
        <a:spcBef>
          <a:spcPct val="20000"/>
        </a:spcBef>
        <a:spcAft>
          <a:spcPct val="0"/>
        </a:spcAft>
        <a:buClr>
          <a:srgbClr val="FFFF00"/>
        </a:buClr>
        <a:buFont charset="0" pitchFamily="34" typeface="Tahoma"/>
        <a:buChar char="•"/>
        <a:defRPr b="0" baseline="0" dirty="0" i="0" lang="en-US" smtClean="0" sz="2400" u="none">
          <a:solidFill>
            <a:schemeClr val="bg1"/>
          </a:solidFill>
          <a:latin charset="0" typeface="Arial"/>
        </a:defRPr>
      </a:lvl1pPr>
      <a:lvl2pPr indent="-288925" marL="855662">
        <a:lnSpc>
          <a:spcPct val="100000"/>
        </a:lnSpc>
        <a:spcBef>
          <a:spcPct val="20000"/>
        </a:spcBef>
        <a:spcAft>
          <a:spcPct val="0"/>
        </a:spcAft>
        <a:buClr>
          <a:srgbClr val="FFFF00"/>
        </a:buClr>
        <a:buFont charset="0" pitchFamily="34" typeface="Tahoma"/>
        <a:buChar char="•"/>
        <a:defRPr b="0" dirty="0" i="0" lang="en-US" smtClean="0" sz="2400" u="none">
          <a:solidFill>
            <a:schemeClr val="bg1"/>
          </a:solidFill>
          <a:latin charset="0" typeface="Arial"/>
        </a:defRPr>
      </a:lvl2pPr>
      <a:lvl3pPr indent="-341312" marL="1311275">
        <a:lnSpc>
          <a:spcPct val="100000"/>
        </a:lnSpc>
        <a:spcBef>
          <a:spcPct val="20000"/>
        </a:spcBef>
        <a:spcAft>
          <a:spcPct val="0"/>
        </a:spcAft>
        <a:buClr>
          <a:srgbClr val="FFFF00"/>
        </a:buClr>
        <a:buFont charset="0" pitchFamily="34" typeface="Tahoma"/>
        <a:buChar char="•"/>
        <a:defRPr b="0" dirty="0" i="0" lang="en-US" smtClean="0" sz="2400" u="none">
          <a:solidFill>
            <a:schemeClr val="bg1"/>
          </a:solidFill>
          <a:latin charset="0" typeface="Arial"/>
        </a:defRPr>
      </a:lvl3pPr>
      <a:lvl4pPr indent="-285750" marL="1711325">
        <a:lnSpc>
          <a:spcPct val="100000"/>
        </a:lnSpc>
        <a:spcBef>
          <a:spcPct val="20000"/>
        </a:spcBef>
        <a:spcAft>
          <a:spcPct val="0"/>
        </a:spcAft>
        <a:buClr>
          <a:srgbClr val="FFFF00"/>
        </a:buClr>
        <a:buFont charset="0" pitchFamily="34" typeface="Tahoma"/>
        <a:buChar char="•"/>
        <a:defRPr b="0" dirty="0" i="0" lang="en-US" smtClean="0" sz="2400" u="none">
          <a:solidFill>
            <a:schemeClr val="bg1"/>
          </a:solidFill>
          <a:latin charset="0" typeface="Arial"/>
        </a:defRPr>
      </a:lvl4pPr>
      <a:lvl5pPr indent="-228600" marL="2054225">
        <a:lnSpc>
          <a:spcPct val="100000"/>
        </a:lnSpc>
        <a:spcBef>
          <a:spcPct val="20000"/>
        </a:spcBef>
        <a:spcAft>
          <a:spcPct val="0"/>
        </a:spcAft>
        <a:buClr>
          <a:srgbClr val="FFFF00"/>
        </a:buClr>
        <a:buFont charset="0" pitchFamily="34" typeface="Tahoma"/>
        <a:buChar char="•"/>
        <a:defRPr b="0" dirty="0" i="0" lang="en-US" smtClean="0" sz="2400" u="none">
          <a:solidFill>
            <a:schemeClr val="bg1"/>
          </a:solidFill>
          <a:latin charset="0" typeface="Arial"/>
        </a:defRPr>
      </a:lvl5pPr>
    </p:bodyStyle>
    <p:otherStyle>
      <a:lvl1pPr algn="l" defTabSz="914400" fontAlgn="base" indent="0" marL="0" rtl="0">
        <a:lnSpc>
          <a:spcPct val="100000"/>
        </a:lnSpc>
        <a:spcBef>
          <a:spcPct val="0"/>
        </a:spcBef>
        <a:spcAft>
          <a:spcPct val="0"/>
        </a:spcAft>
        <a:buNone/>
        <a:defRPr b="0" baseline="0" dirty="0" i="0" lang="en-US" smtClean="0" sz="1800" u="none">
          <a:solidFill>
            <a:schemeClr val="tx1"/>
          </a:solidFill>
          <a:latin charset="0" typeface="Arial"/>
        </a:defRPr>
      </a:lvl1pPr>
      <a:lvl2pPr indent="0" marL="457200">
        <a:lnSpc>
          <a:spcPct val="100000"/>
        </a:lnSpc>
        <a:spcBef>
          <a:spcPct val="0"/>
        </a:spcBef>
        <a:spcAft>
          <a:spcPct val="0"/>
        </a:spcAft>
        <a:buNone/>
        <a:defRPr b="0" dirty="0" i="0" lang="en-US" smtClean="0" sz="1800" u="none">
          <a:solidFill>
            <a:schemeClr val="tx1"/>
          </a:solidFill>
          <a:latin charset="0" typeface="Arial"/>
        </a:defRPr>
      </a:lvl2pPr>
      <a:lvl3pPr indent="0" marL="914400">
        <a:lnSpc>
          <a:spcPct val="100000"/>
        </a:lnSpc>
        <a:spcBef>
          <a:spcPct val="0"/>
        </a:spcBef>
        <a:spcAft>
          <a:spcPct val="0"/>
        </a:spcAft>
        <a:buNone/>
        <a:defRPr b="0" dirty="0" i="0" lang="en-US" smtClean="0" sz="1800" u="none">
          <a:solidFill>
            <a:schemeClr val="tx1"/>
          </a:solidFill>
          <a:latin charset="0" typeface="Arial"/>
        </a:defRPr>
      </a:lvl3pPr>
      <a:lvl4pPr indent="0" marL="1371600">
        <a:lnSpc>
          <a:spcPct val="100000"/>
        </a:lnSpc>
        <a:spcBef>
          <a:spcPct val="0"/>
        </a:spcBef>
        <a:spcAft>
          <a:spcPct val="0"/>
        </a:spcAft>
        <a:buNone/>
        <a:defRPr b="0" dirty="0" i="0" lang="en-US" smtClean="0" sz="1800" u="none">
          <a:solidFill>
            <a:schemeClr val="tx1"/>
          </a:solidFill>
          <a:latin charset="0" typeface="Arial"/>
        </a:defRPr>
      </a:lvl4pPr>
      <a:lvl5pPr indent="0" marL="1828800">
        <a:lnSpc>
          <a:spcPct val="100000"/>
        </a:lnSpc>
        <a:spcBef>
          <a:spcPct val="0"/>
        </a:spcBef>
        <a:spcAft>
          <a:spcPct val="0"/>
        </a:spcAft>
        <a:buNone/>
        <a:defRPr b="0" dirty="0" i="0" lang="en-US" smtClean="0" sz="1800" u="none">
          <a:solidFill>
            <a:schemeClr val="tx1"/>
          </a:solidFill>
          <a:latin charset="0" typeface="Arial"/>
        </a:defRPr>
      </a:lvl5pPr>
    </p:otherStyle>
  </p:txStyles>
</p:sldMaster>
</file>

<file path=ppt/slides/_rels/slide1.xml.rels><?xml version="1.0" encoding="UTF-8" standalone="yes"?><Relationships xmlns="http://schemas.openxmlformats.org/package/2006/relationships"><Relationship Id="rId3" Target="../media/image3.png" Type="http://schemas.openxmlformats.org/officeDocument/2006/relationships/image"/><Relationship Id="rId2" Target="../media/image2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<Relationships xmlns="http://schemas.openxmlformats.org/package/2006/relationships"><Relationship Id="rId2" Target="../media/image4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<Relationships xmlns="http://schemas.openxmlformats.org/package/2006/relationships"><Relationship Id="rId2" Target="../media/image4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<Relationships xmlns="http://schemas.openxmlformats.org/package/2006/relationships"><Relationship Id="rId2" Target="../media/image4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<Relationships xmlns="http://schemas.openxmlformats.org/package/2006/relationships"><Relationship Id="rId2" Target="../media/image5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<Relationships xmlns="http://schemas.openxmlformats.org/package/2006/relationships"><Relationship Id="rId2" Target="../media/image6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<Relationships xmlns="http://schemas.openxmlformats.org/package/2006/relationships"><Relationship Id="rId3" Target="../media/image6.jpeg" Type="http://schemas.openxmlformats.org/officeDocument/2006/relationships/image"/><Relationship Id="rId2" Target="../media/image7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<Relationships xmlns="http://schemas.openxmlformats.org/package/2006/relationships"><Relationship Id="rId2" Target="../media/image8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<Relationships xmlns="http://schemas.openxmlformats.org/package/2006/relationships"><Relationship Id="rId2" Target="../media/image9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<Relationships xmlns="http://schemas.openxmlformats.org/package/2006/relationships"><Relationship Id="rId2" Target="../media/image10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<Relationships xmlns="http://schemas.openxmlformats.org/package/2006/relationships"><Relationship Id="rId2" Target="../media/image11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<Relationships xmlns="http://schemas.openxmlformats.org/package/2006/relationships"><Relationship Id="rId2" Target="../media/image12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<Relationships xmlns="http://schemas.openxmlformats.org/package/2006/relationships"><Relationship Id="rId2" Target="../media/image13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<Relationships xmlns="http://schemas.openxmlformats.org/package/2006/relationships"><Relationship Id="rId2" Target="../media/image13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<Relationships xmlns="http://schemas.openxmlformats.org/package/2006/relationships"><Relationship Id="rId2" Target="../media/image14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<Relationships xmlns="http://schemas.openxmlformats.org/package/2006/relationships"><Relationship Id="rId2" Target="../media/image15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<Relationships xmlns="http://schemas.openxmlformats.org/package/2006/relationships"><Relationship Id="rId2" Target="../media/image16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<Relationships xmlns="http://schemas.openxmlformats.org/package/2006/relationships"><Relationship Id="rId2" Target="../media/image17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<Relationships xmlns="http://schemas.openxmlformats.org/package/2006/relationships"><Relationship Id="rId2" Target="../media/image18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<Relationships xmlns="http://schemas.openxmlformats.org/package/2006/relationships"><Relationship Id="rId2" Target="../media/image18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<Relationships xmlns="http://schemas.openxmlformats.org/package/2006/relationships"><Relationship Id="rId2" Target="../media/image19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<Relationships xmlns="http://schemas.openxmlformats.org/package/2006/relationships"><Relationship Id="rId2" Target="../media/image20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38.xml.rels><?xml version="1.0" encoding="UTF-8" standalone="yes"?><Relationships xmlns="http://schemas.openxmlformats.org/package/2006/relationships"><Relationship Id="rId2" Target="../media/image21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39.xml.rels><?xml version="1.0" encoding="UTF-8" standalone="yes"?><Relationships xmlns="http://schemas.openxmlformats.org/package/2006/relationships"><Relationship Id="rId2" Target="../media/image21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40.xml.rels><?xml version="1.0" encoding="UTF-8" standalone="yes"?><Relationships xmlns="http://schemas.openxmlformats.org/package/2006/relationships"><Relationship Id="rId2" Target="../media/image22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41.xml.rels><?xml version="1.0" encoding="UTF-8" standalone="yes"?><Relationships xmlns="http://schemas.openxmlformats.org/package/2006/relationships"><Relationship Id="rId2" Target="../media/image22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42.xml.rels><?xml version="1.0" encoding="UTF-8" standalone="yes"?><Relationships xmlns="http://schemas.openxmlformats.org/package/2006/relationships"><Relationship Id="rId3" Target="../media/image24.jpeg" Type="http://schemas.openxmlformats.org/officeDocument/2006/relationships/image"/><Relationship Id="rId2" Target="../media/image23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43.xml.rels><?xml version="1.0" encoding="UTF-8" standalone="yes"?><Relationships xmlns="http://schemas.openxmlformats.org/package/2006/relationships"><Relationship Id="rId2" Target="../media/image25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44.xml.rels><?xml version="1.0" encoding="UTF-8" standalone="yes"?><Relationships xmlns="http://schemas.openxmlformats.org/package/2006/relationships"><Relationship Id="rId2" Target="../media/image26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45.xml.rels><?xml version="1.0" encoding="UTF-8" standalone="yes"?><Relationships xmlns="http://schemas.openxmlformats.org/package/2006/relationships"><Relationship Id="rId2" Target="../media/image26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46.xml.rels><?xml version="1.0" encoding="UTF-8" standalone="yes"?><Relationships xmlns="http://schemas.openxmlformats.org/package/2006/relationships"><Relationship Id="rId2" Target="../media/image27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47.xml.rels><?xml version="1.0" encoding="UTF-8" standalone="yes"?><Relationships xmlns="http://schemas.openxmlformats.org/package/2006/relationships"><Relationship Id="rId2" Target="../media/image27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48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9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15"/>
          <p:cNvSpPr>
            <a:spLocks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</p:spPr>
        <p:txBody>
          <a:bodyPr anchor="ctr" bIns="45720" lIns="91440" numCol="1" rIns="91440" tIns="45720" wrap="square"/>
          <a:lstStyle>
            <a:lvl1pPr>
              <a:defRPr dirty="0" lang="en-US" smtClean="0"/>
            </a:lvl1pPr>
          </a:lstStyle>
          <a:p>
            <a:pPr algn="ctr"/>
            <a:r>
              <a:rPr dirty="0" lang="en-US" smtClean="0" sz="4000">
                <a:effectLst>
                  <a:outerShdw algn="tl" blurRad="38100" dir="2700000" dist="38100">
                    <a:srgbClr val="C0C0C0"/>
                  </a:outerShdw>
                </a:effectLst>
              </a:rPr>
              <a:t>Chapter 2</a:t>
            </a:r>
          </a:p>
        </p:txBody>
      </p:sp>
      <p:grpSp>
        <p:nvGrpSpPr>
          <p:cNvPr id="16" name="Group 16"/>
          <p:cNvGrpSpPr>
            <a:grpSpLocks noChangeAspect="0" noGrp="0" noMove="0" noRot="0" noSelect="0" noUngrp="0"/>
          </p:cNvGrpSpPr>
          <p:nvPr/>
        </p:nvGrpSpPr>
        <p:grpSpPr>
          <a:xfrm>
            <a:off x="2209800" y="0"/>
            <a:ext cx="4495800" cy="2362200"/>
            <a:chOff x="1200" y="0"/>
            <a:chExt cx="2832" cy="1488"/>
          </a:xfrm>
        </p:grpSpPr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2"/>
            <a:stretch/>
          </p:blipFill>
          <p:spPr>
            <a:xfrm>
              <a:off x="2976" y="192"/>
              <a:ext cx="1056" cy="1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1200" y="0"/>
              <a:ext cx="1373" cy="14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" name="Text Box 21"/>
          <p:cNvSpPr>
            <a:spLocks/>
          </p:cNvSpPr>
          <p:nvPr>
            <p:ph type="subTitle"/>
          </p:nvPr>
        </p:nvSpPr>
        <p:spPr>
          <a:xfrm>
            <a:off x="1371600" y="3505200"/>
            <a:ext cx="6400800" cy="2667000"/>
          </a:xfrm>
          <a:prstGeom prst="rect">
            <a:avLst/>
          </a:prstGeom>
        </p:spPr>
        <p:txBody>
          <a:bodyPr anchor="t" bIns="45720" lIns="91440" numCol="1" rIns="91440" tIns="45720" wrap="square"/>
          <a:lstStyle>
            <a:lvl1pPr algn="ctr" marL="0">
              <a:buNone/>
              <a:defRPr dirty="0" lang="en-US" smtClean="0"/>
            </a:lvl1pPr>
            <a:lvl2pPr algn="ctr" marL="566737">
              <a:buNone/>
              <a:defRPr dirty="0" lang="en-US" smtClean="0"/>
            </a:lvl2pPr>
            <a:lvl3pPr algn="ctr" marL="969962">
              <a:buNone/>
              <a:defRPr dirty="0" lang="en-US" smtClean="0"/>
            </a:lvl3pPr>
            <a:lvl4pPr algn="ctr" marL="1425575">
              <a:buNone/>
              <a:defRPr dirty="0" lang="en-US" smtClean="0"/>
            </a:lvl4pPr>
            <a:lvl5pPr algn="ctr" marL="1825625">
              <a:buNone/>
              <a:defRPr dirty="0" lang="en-US" smtClean="0"/>
            </a:lvl5pPr>
          </a:lstStyle>
          <a:p>
            <a:pPr marL="0"/>
            <a:r>
              <a:rPr dirty="0" lang="en-US" smtClean="0" sz="4000">
                <a:effectLst>
                  <a:outerShdw algn="tl" blurRad="38100" dir="2700000" dist="38100">
                    <a:srgbClr val="C0C0C0"/>
                  </a:outerShdw>
                </a:effectLst>
              </a:rPr>
              <a:t>Point-to-Point Protocol</a:t>
            </a:r>
            <a:br>
              <a:rPr dirty="0" lang="en-US" smtClean="0" sz="400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  <a:r>
              <a:rPr dirty="0" lang="en-US" smtClean="0" sz="400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(PPP)</a:t>
            </a:r>
          </a:p>
          <a:p>
            <a:pPr marL="0"/>
            <a:endParaRPr dirty="0" lang="en-US" smtClean="0" sz="4000">
              <a:solidFill>
                <a:srgbClr val="FFFF00"/>
              </a:solidFill>
              <a:effectLst>
                <a:outerShdw algn="tl" blurRad="38100" dir="2700000" dist="38100">
                  <a:srgbClr val="C0C0C0"/>
                </a:outerShdw>
              </a:effectLst>
            </a:endParaRPr>
          </a:p>
          <a:p>
            <a:pPr marL="0"/>
            <a:r>
              <a:rPr dirty="0" lang="en-US" smtClean="0" sz="400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Part 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Box 22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Point-to-Point Protocol (PPP)</a:t>
            </a:r>
          </a:p>
        </p:txBody>
      </p:sp>
      <p:sp>
        <p:nvSpPr>
          <p:cNvPr id="23" name="Text Box 23"/>
          <p:cNvSpPr>
            <a:spLocks/>
          </p:cNvSpPr>
          <p:nvPr/>
        </p:nvSpPr>
        <p:spPr>
          <a:xfrm>
            <a:off x="762000" y="14478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="ctr" numCol="1"/>
          <a:lstStyle/>
          <a:p>
            <a:pPr indent="0" marL="0"/>
            <a:r>
              <a:rPr dirty="0" lang="en-US" smtClean="0" sz="3600">
                <a:solidFill>
                  <a:schemeClr val="bg1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PPP Concepts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990600" y="2514600"/>
            <a:ext cx="7089775" cy="34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Box 26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Introducing PPP</a:t>
            </a:r>
          </a:p>
        </p:txBody>
      </p:sp>
      <p:sp>
        <p:nvSpPr>
          <p:cNvPr id="27" name="Text Box 27"/>
          <p:cNvSpPr>
            <a:spLocks/>
          </p:cNvSpPr>
          <p:nvPr>
            <p:ph type="body"/>
          </p:nvPr>
        </p:nvSpPr>
        <p:spPr>
          <a:xfrm>
            <a:off x="152400" y="1371600"/>
            <a:ext cx="8839200" cy="51054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What is PPP?</a:t>
            </a:r>
          </a:p>
          <a:p>
            <a:pPr indent="-288925" lvl="1" marL="855662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Recall that HDLC is the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default serial encapsulation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method when you connect two Cisco routers. </a:t>
            </a:r>
          </a:p>
          <a:p>
            <a:pPr indent="-288925" lvl="1" marL="855662"/>
            <a:r>
              <a:rPr dirty="0" i="1" lang="en-US" smtClean="0">
                <a:solidFill>
                  <a:srgbClr val="66FF66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Cisco HDLC can only work with other Cisco devices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.</a:t>
            </a:r>
            <a:b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When you need to connect to a non-Cisco router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, you should use PPP encapsulation.</a:t>
            </a:r>
          </a:p>
          <a:p>
            <a:pPr indent="-341312" lvl="2" marL="1311275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PPP includes many features not available in HDLC.</a:t>
            </a:r>
          </a:p>
          <a:p>
            <a:pPr indent="-341312" lvl="2" marL="1311275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The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 link quality management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feature monitors the quality of the link. If too many errors are detected, PPP takes the link down. </a:t>
            </a:r>
          </a:p>
          <a:p>
            <a:pPr indent="-341312" lvl="2" marL="1311275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PPP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supports PAP and CHAP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authentication. </a:t>
            </a:r>
          </a:p>
          <a:p>
            <a:pPr indent="-341312" lvl="2" marL="1311275"/>
            <a:endParaRPr dirty="0" lang="en-US" smtClean="0">
              <a:effectLst>
                <a:outerShdw algn="tl" blurRad="38100" dir="2700000" dist="38100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8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Introducing PPP</a:t>
            </a:r>
          </a:p>
        </p:txBody>
      </p:sp>
      <p:sp>
        <p:nvSpPr>
          <p:cNvPr id="29" name="Text Box 29"/>
          <p:cNvSpPr>
            <a:spLocks/>
          </p:cNvSpPr>
          <p:nvPr>
            <p:ph type="body"/>
          </p:nvPr>
        </p:nvSpPr>
        <p:spPr>
          <a:xfrm>
            <a:off x="152400" y="1371600"/>
            <a:ext cx="8839200" cy="51054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What is PPP?</a:t>
            </a:r>
          </a:p>
          <a:p>
            <a:pPr indent="-288925" lvl="1" marL="855662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Three main components: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HDLC:</a:t>
            </a:r>
          </a:p>
          <a:p>
            <a:pPr indent="-341312" lvl="2" marL="1311275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HDLC protocol for</a:t>
            </a:r>
            <a:b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encapsulating datagrams over point-to-point links.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LCP:</a:t>
            </a:r>
          </a:p>
          <a:p>
            <a:pPr indent="-341312" lvl="2" marL="1311275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Extensible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Link Control Protocol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(LCP) to establish, configure, and test the data link connection.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NCPs:</a:t>
            </a:r>
          </a:p>
          <a:p>
            <a:pPr indent="-341312" lvl="2" marL="1311275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Family of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Network Control Protocols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(NCPs) for establishing and configuring different network layer protocols. </a:t>
            </a:r>
          </a:p>
          <a:p>
            <a:pPr indent="-341312" lvl="2" marL="1311275"/>
            <a:endParaRPr dirty="0" lang="en-US" smtClean="0">
              <a:effectLst>
                <a:outerShdw algn="tl" blurRad="38100" dir="2700000" dist="38100">
                  <a:srgbClr val="C0C0C0"/>
                </a:outerShdw>
              </a:effectLst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495800" y="990600"/>
            <a:ext cx="4495800" cy="2166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Box 32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Introducing PPP</a:t>
            </a:r>
          </a:p>
        </p:txBody>
      </p:sp>
      <p:sp>
        <p:nvSpPr>
          <p:cNvPr id="33" name="Text Box 33"/>
          <p:cNvSpPr>
            <a:spLocks/>
          </p:cNvSpPr>
          <p:nvPr>
            <p:ph type="body"/>
          </p:nvPr>
        </p:nvSpPr>
        <p:spPr>
          <a:xfrm>
            <a:off x="152400" y="1371600"/>
            <a:ext cx="8839200" cy="51054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What is PPP?</a:t>
            </a:r>
          </a:p>
          <a:p>
            <a:pPr indent="-288925" lvl="1" marL="855662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Three main components: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HDLC:</a:t>
            </a:r>
          </a:p>
          <a:p>
            <a:pPr indent="-341312" lvl="2" marL="1311275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HDLC protocol for</a:t>
            </a:r>
            <a:b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encapsulating datagrams over point-to-point links.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LCP:</a:t>
            </a:r>
          </a:p>
          <a:p>
            <a:pPr indent="-341312" lvl="2" marL="1311275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Extensible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Link Control Protocol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(LCP) to establish, configure, and test the data link connection.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NCPs:</a:t>
            </a:r>
          </a:p>
          <a:p>
            <a:pPr indent="-341312" lvl="2" marL="1311275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Family of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Network Control Protocols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(NCPs) for establishing and configuring different network layer protocols. </a:t>
            </a:r>
          </a:p>
          <a:p>
            <a:pPr indent="-341312" lvl="2" marL="1311275"/>
            <a:endParaRPr dirty="0" lang="en-US" smtClean="0">
              <a:effectLst>
                <a:outerShdw algn="tl" blurRad="38100" dir="2700000" dist="38100">
                  <a:srgbClr val="C0C0C0"/>
                </a:outerShdw>
              </a:effectLst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495800" y="990600"/>
            <a:ext cx="4495800" cy="2166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Box 36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PPP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Layered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Architecture</a:t>
            </a:r>
          </a:p>
        </p:txBody>
      </p:sp>
      <p:sp>
        <p:nvSpPr>
          <p:cNvPr id="37" name="Text Box 37"/>
          <p:cNvSpPr>
            <a:spLocks/>
          </p:cNvSpPr>
          <p:nvPr>
            <p:ph type="body"/>
          </p:nvPr>
        </p:nvSpPr>
        <p:spPr>
          <a:xfrm>
            <a:off x="152400" y="4572000"/>
            <a:ext cx="8839200" cy="21336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PPP is a Data Link Layer protocol that provides a standard method for transporting multiprotocol datagrams over point-to-point links.</a:t>
            </a:r>
          </a:p>
          <a:p>
            <a:pPr indent="-342900" marL="342900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Translation: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 IP </a:t>
            </a:r>
            <a:r>
              <a:rPr dirty="0" i="1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and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IPX </a:t>
            </a:r>
            <a:r>
              <a:rPr dirty="0" i="1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and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others, simultaneously, over a single dialup or higher speed WAN link.</a:t>
            </a:r>
          </a:p>
        </p:txBody>
      </p:sp>
      <p:grpSp>
        <p:nvGrpSpPr>
          <p:cNvPr id="38" name="Group 38"/>
          <p:cNvGrpSpPr>
            <a:grpSpLocks noChangeAspect="0" noGrp="0" noMove="0" noRot="0" noSelect="0" noUngrp="0"/>
          </p:cNvGrpSpPr>
          <p:nvPr/>
        </p:nvGrpSpPr>
        <p:grpSpPr>
          <a:xfrm>
            <a:off x="1143000" y="1143000"/>
            <a:ext cx="7315200" cy="3375025"/>
            <a:chOff x="720" y="720"/>
            <a:chExt cx="4608" cy="2126"/>
          </a:xfrm>
        </p:grpSpPr>
        <p:grpSp>
          <p:nvGrpSpPr>
            <p:cNvPr id="39" name="Group 39"/>
            <p:cNvGrpSpPr>
              <a:grpSpLocks noChangeAspect="0" noGrp="0" noMove="0" noRot="0" noSelect="0" noUngrp="0"/>
            </p:cNvGrpSpPr>
            <p:nvPr/>
          </p:nvGrpSpPr>
          <p:grpSpPr>
            <a:xfrm>
              <a:off x="720" y="2304"/>
              <a:ext cx="4560" cy="542"/>
              <a:chOff x="768" y="2784"/>
              <a:chExt cx="4560" cy="542"/>
            </a:xfrm>
          </p:grpSpPr>
          <p:sp>
            <p:nvSpPr>
              <p:cNvPr id="40" name="Text Box 40"/>
              <p:cNvSpPr txBox="1">
                <a:spLocks/>
              </p:cNvSpPr>
              <p:nvPr/>
            </p:nvSpPr>
            <p:spPr>
              <a:xfrm>
                <a:off x="768" y="2784"/>
                <a:ext cx="3120" cy="542"/>
              </a:xfrm>
              <a:prstGeom prst="rect">
                <a:avLst/>
              </a:prstGeom>
              <a:solidFill>
                <a:srgbClr val="008000"/>
              </a:solidFill>
              <a:ln w="3810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 anchorCtr="1" lIns="0" numCol="1" rIns="0">
                <a:spAutoFit/>
              </a:bodyPr>
              <a:lstStyle/>
              <a:p>
                <a:pPr indent="0" marL="0"/>
                <a:r>
                  <a:rPr dirty="0" lang="en-US" smtClean="0">
                    <a:effectLst>
                      <a:outerShdw algn="tl" blurRad="38100" dir="2700000" dist="38100">
                        <a:srgbClr val="C0C0C0"/>
                      </a:outerShdw>
                    </a:effectLst>
                  </a:rPr>
                  <a:t>Synchronous or Asynchronous</a:t>
                </a:r>
                <a:br>
                  <a:rPr dirty="0" lang="en-US" smtClean="0">
                    <a:effectLst>
                      <a:outerShdw algn="tl" blurRad="38100" dir="2700000" dist="38100">
                        <a:srgbClr val="C0C0C0"/>
                      </a:outerShdw>
                    </a:effectLst>
                  </a:rPr>
                </a:br>
                <a:r>
                  <a:rPr dirty="0" lang="en-US" smtClean="0">
                    <a:effectLst>
                      <a:outerShdw algn="tl" blurRad="38100" dir="2700000" dist="38100">
                        <a:srgbClr val="C0C0C0"/>
                      </a:outerShdw>
                    </a:effectLst>
                  </a:rPr>
                  <a:t>Physical Medium</a:t>
                </a:r>
              </a:p>
            </p:txBody>
          </p:sp>
          <p:sp>
            <p:nvSpPr>
              <p:cNvPr id="41" name="Text Box 41"/>
              <p:cNvSpPr>
                <a:spLocks/>
              </p:cNvSpPr>
              <p:nvPr/>
            </p:nvSpPr>
            <p:spPr>
              <a:xfrm>
                <a:off x="3888" y="2784"/>
                <a:ext cx="1440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</p:spPr>
          </p:sp>
          <p:sp>
            <p:nvSpPr>
              <p:cNvPr id="42" name="Text Box 42"/>
              <p:cNvSpPr txBox="1">
                <a:spLocks/>
              </p:cNvSpPr>
              <p:nvPr/>
            </p:nvSpPr>
            <p:spPr>
              <a:xfrm>
                <a:off x="3936" y="2928"/>
                <a:ext cx="139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1" lIns="0" numCol="1" rIns="0">
                <a:spAutoFit/>
              </a:bodyPr>
              <a:lstStyle/>
              <a:p>
                <a:pPr algn="l" indent="0" marL="0"/>
                <a:r>
                  <a:rPr dirty="0" lang="en-US" smtClean="0">
                    <a:solidFill>
                      <a:srgbClr val="FF3300"/>
                    </a:solidFill>
                    <a:effectLst>
                      <a:outerShdw algn="tl" blurRad="38100" dir="2700000" dist="38100">
                        <a:srgbClr val="C0C0C0"/>
                      </a:outerShdw>
                    </a:effectLst>
                  </a:rPr>
                  <a:t>Physical Layer</a:t>
                </a:r>
              </a:p>
            </p:txBody>
          </p:sp>
        </p:grpSp>
        <p:sp>
          <p:nvSpPr>
            <p:cNvPr id="43" name="Text Box 43"/>
            <p:cNvSpPr txBox="1">
              <a:spLocks/>
            </p:cNvSpPr>
            <p:nvPr/>
          </p:nvSpPr>
          <p:spPr>
            <a:xfrm>
              <a:off x="720" y="1248"/>
              <a:ext cx="3120" cy="542"/>
            </a:xfrm>
            <a:prstGeom prst="rect">
              <a:avLst/>
            </a:prstGeom>
            <a:solidFill>
              <a:srgbClr val="3366FF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anchor="ctr" anchorCtr="1" lIns="0" numCol="1" rIns="0">
              <a:spAutoFit/>
            </a:bodyPr>
            <a:lstStyle/>
            <a:p>
              <a:pPr indent="0" marL="0"/>
              <a:r>
                <a:rPr dirty="0" lang="en-US" smtClean="0" sz="12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/>
              </a:r>
              <a:br>
                <a:rPr dirty="0" lang="en-US" smtClean="0" sz="120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Network Control Protocol (NCP)</a:t>
              </a:r>
              <a:b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</a:p>
          </p:txBody>
        </p:sp>
        <p:sp>
          <p:nvSpPr>
            <p:cNvPr id="44" name="Text Box 44"/>
            <p:cNvSpPr txBox="1">
              <a:spLocks/>
            </p:cNvSpPr>
            <p:nvPr/>
          </p:nvSpPr>
          <p:spPr>
            <a:xfrm>
              <a:off x="3936" y="1632"/>
              <a:ext cx="139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="t" anchorCtr="1" lIns="0" numCol="1" rIns="0">
              <a:spAutoFit/>
            </a:bodyPr>
            <a:lstStyle/>
            <a:p>
              <a:pPr algn="l" indent="0" marL="0"/>
              <a:r>
                <a:rPr dirty="0" lang="en-US" smtClean="0">
                  <a:solidFill>
                    <a:srgbClr val="FF3300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Data Link Layer</a:t>
              </a:r>
            </a:p>
          </p:txBody>
        </p:sp>
        <p:grpSp>
          <p:nvGrpSpPr>
            <p:cNvPr id="45" name="Group 45"/>
            <p:cNvGrpSpPr>
              <a:grpSpLocks noChangeAspect="0" noGrp="0" noMove="0" noRot="0" noSelect="0" noUngrp="0"/>
            </p:cNvGrpSpPr>
            <p:nvPr/>
          </p:nvGrpSpPr>
          <p:grpSpPr>
            <a:xfrm>
              <a:off x="720" y="720"/>
              <a:ext cx="4560" cy="528"/>
              <a:chOff x="768" y="1200"/>
              <a:chExt cx="4560" cy="528"/>
            </a:xfrm>
          </p:grpSpPr>
          <p:sp>
            <p:nvSpPr>
              <p:cNvPr id="46" name="Text Box 46"/>
              <p:cNvSpPr>
                <a:spLocks/>
              </p:cNvSpPr>
              <p:nvPr/>
            </p:nvSpPr>
            <p:spPr>
              <a:xfrm>
                <a:off x="3888" y="1728"/>
                <a:ext cx="1440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</p:spPr>
          </p:sp>
          <p:sp>
            <p:nvSpPr>
              <p:cNvPr id="47" name="Text Box 47"/>
              <p:cNvSpPr txBox="1">
                <a:spLocks/>
              </p:cNvSpPr>
              <p:nvPr/>
            </p:nvSpPr>
            <p:spPr>
              <a:xfrm>
                <a:off x="3936" y="1296"/>
                <a:ext cx="139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1" lIns="0" numCol="1" rIns="0">
                <a:spAutoFit/>
              </a:bodyPr>
              <a:lstStyle/>
              <a:p>
                <a:pPr algn="l" indent="0" marL="0"/>
                <a:r>
                  <a:rPr dirty="0" lang="en-US" smtClean="0">
                    <a:solidFill>
                      <a:srgbClr val="FF3300"/>
                    </a:solidFill>
                    <a:effectLst>
                      <a:outerShdw algn="tl" blurRad="38100" dir="2700000" dist="38100">
                        <a:srgbClr val="C0C0C0"/>
                      </a:outerShdw>
                    </a:effectLst>
                  </a:rPr>
                  <a:t>Network Layer</a:t>
                </a:r>
              </a:p>
            </p:txBody>
          </p:sp>
          <p:sp>
            <p:nvSpPr>
              <p:cNvPr id="48" name="Text Box 48"/>
              <p:cNvSpPr txBox="1">
                <a:spLocks/>
              </p:cNvSpPr>
              <p:nvPr/>
            </p:nvSpPr>
            <p:spPr>
              <a:xfrm>
                <a:off x="768" y="1200"/>
                <a:ext cx="816" cy="524"/>
              </a:xfrm>
              <a:prstGeom prst="rect">
                <a:avLst/>
              </a:prstGeom>
              <a:solidFill>
                <a:srgbClr val="800000"/>
              </a:solidFill>
              <a:ln w="3810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 anchorCtr="1" lIns="0" numCol="1" rIns="0">
                <a:spAutoFit/>
              </a:bodyPr>
              <a:lstStyle/>
              <a:p>
                <a:pPr indent="0" marL="0"/>
                <a:r>
                  <a:rPr dirty="0" lang="en-US" smtClean="0" sz="1100">
                    <a:effectLst>
                      <a:outerShdw algn="tl" blurRad="38100" dir="2700000" dist="38100">
                        <a:srgbClr val="C0C0C0"/>
                      </a:outerShdw>
                    </a:effectLst>
                  </a:rPr>
                  <a:t/>
                </a:r>
                <a:br>
                  <a:rPr dirty="0" lang="en-US" smtClean="0" sz="1100">
                    <a:effectLst>
                      <a:outerShdw algn="tl" blurRad="38100" dir="2700000" dist="38100">
                        <a:srgbClr val="C0C0C0"/>
                      </a:outerShdw>
                    </a:effectLst>
                  </a:rPr>
                </a:br>
                <a:r>
                  <a:rPr dirty="0" lang="en-US" smtClean="0">
                    <a:effectLst>
                      <a:outerShdw algn="tl" blurRad="38100" dir="2700000" dist="38100">
                        <a:srgbClr val="C0C0C0"/>
                      </a:outerShdw>
                    </a:effectLst>
                  </a:rPr>
                  <a:t>IP</a:t>
                </a:r>
                <a:br>
                  <a:rPr dirty="0" lang="en-US" smtClean="0">
                    <a:effectLst>
                      <a:outerShdw algn="tl" blurRad="38100" dir="2700000" dist="38100">
                        <a:srgbClr val="C0C0C0"/>
                      </a:outerShdw>
                    </a:effectLst>
                  </a:rPr>
                </a:br>
              </a:p>
            </p:txBody>
          </p:sp>
          <p:sp>
            <p:nvSpPr>
              <p:cNvPr id="49" name="Text Box 49"/>
              <p:cNvSpPr txBox="1">
                <a:spLocks/>
              </p:cNvSpPr>
              <p:nvPr/>
            </p:nvSpPr>
            <p:spPr>
              <a:xfrm>
                <a:off x="1584" y="1200"/>
                <a:ext cx="816" cy="524"/>
              </a:xfrm>
              <a:prstGeom prst="rect">
                <a:avLst/>
              </a:prstGeom>
              <a:solidFill>
                <a:srgbClr val="800000"/>
              </a:solidFill>
              <a:ln w="3810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 anchorCtr="1" lIns="0" numCol="1" rIns="0">
                <a:spAutoFit/>
              </a:bodyPr>
              <a:lstStyle/>
              <a:p>
                <a:pPr indent="0" marL="0"/>
                <a:r>
                  <a:rPr dirty="0" lang="en-US" smtClean="0" sz="1100">
                    <a:effectLst>
                      <a:outerShdw algn="tl" blurRad="38100" dir="2700000" dist="38100">
                        <a:srgbClr val="C0C0C0"/>
                      </a:outerShdw>
                    </a:effectLst>
                  </a:rPr>
                  <a:t/>
                </a:r>
                <a:br>
                  <a:rPr dirty="0" lang="en-US" smtClean="0" sz="1100">
                    <a:effectLst>
                      <a:outerShdw algn="tl" blurRad="38100" dir="2700000" dist="38100">
                        <a:srgbClr val="C0C0C0"/>
                      </a:outerShdw>
                    </a:effectLst>
                  </a:rPr>
                </a:br>
                <a:r>
                  <a:rPr dirty="0" lang="en-US" smtClean="0">
                    <a:effectLst>
                      <a:outerShdw algn="tl" blurRad="38100" dir="2700000" dist="38100">
                        <a:srgbClr val="C0C0C0"/>
                      </a:outerShdw>
                    </a:effectLst>
                  </a:rPr>
                  <a:t>IPX</a:t>
                </a:r>
                <a:br>
                  <a:rPr dirty="0" lang="en-US" smtClean="0">
                    <a:effectLst>
                      <a:outerShdw algn="tl" blurRad="38100" dir="2700000" dist="38100">
                        <a:srgbClr val="C0C0C0"/>
                      </a:outerShdw>
                    </a:effectLst>
                  </a:rPr>
                </a:br>
              </a:p>
            </p:txBody>
          </p:sp>
          <p:sp>
            <p:nvSpPr>
              <p:cNvPr id="50" name="Text Box 50"/>
              <p:cNvSpPr txBox="1">
                <a:spLocks/>
              </p:cNvSpPr>
              <p:nvPr/>
            </p:nvSpPr>
            <p:spPr>
              <a:xfrm>
                <a:off x="2400" y="1200"/>
                <a:ext cx="1488" cy="524"/>
              </a:xfrm>
              <a:prstGeom prst="rect">
                <a:avLst/>
              </a:prstGeom>
              <a:solidFill>
                <a:srgbClr val="800000"/>
              </a:solidFill>
              <a:ln w="3810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 anchorCtr="1" lIns="0" numCol="1" rIns="0">
                <a:spAutoFit/>
              </a:bodyPr>
              <a:lstStyle/>
              <a:p>
                <a:pPr indent="0" marL="0"/>
                <a:r>
                  <a:rPr dirty="0" lang="en-US" smtClean="0" sz="1100">
                    <a:effectLst>
                      <a:outerShdw algn="tl" blurRad="38100" dir="2700000" dist="38100">
                        <a:srgbClr val="C0C0C0"/>
                      </a:outerShdw>
                    </a:effectLst>
                  </a:rPr>
                  <a:t/>
                </a:r>
                <a:br>
                  <a:rPr dirty="0" lang="en-US" smtClean="0" sz="1100">
                    <a:effectLst>
                      <a:outerShdw algn="tl" blurRad="38100" dir="2700000" dist="38100">
                        <a:srgbClr val="C0C0C0"/>
                      </a:outerShdw>
                    </a:effectLst>
                  </a:rPr>
                </a:br>
                <a:r>
                  <a:rPr dirty="0" lang="en-US" smtClean="0">
                    <a:effectLst>
                      <a:outerShdw algn="tl" blurRad="38100" dir="2700000" dist="38100">
                        <a:srgbClr val="C0C0C0"/>
                      </a:outerShdw>
                    </a:effectLst>
                  </a:rPr>
                  <a:t>Many Others</a:t>
                </a:r>
                <a:br>
                  <a:rPr dirty="0" lang="en-US" smtClean="0">
                    <a:effectLst>
                      <a:outerShdw algn="tl" blurRad="38100" dir="2700000" dist="38100">
                        <a:srgbClr val="C0C0C0"/>
                      </a:outerShdw>
                    </a:effectLst>
                  </a:rPr>
                </a:br>
              </a:p>
            </p:txBody>
          </p:sp>
        </p:grpSp>
        <p:sp>
          <p:nvSpPr>
            <p:cNvPr id="51" name="Text Box 51"/>
            <p:cNvSpPr txBox="1">
              <a:spLocks/>
            </p:cNvSpPr>
            <p:nvPr/>
          </p:nvSpPr>
          <p:spPr>
            <a:xfrm>
              <a:off x="720" y="1776"/>
              <a:ext cx="3120" cy="542"/>
            </a:xfrm>
            <a:prstGeom prst="rect">
              <a:avLst/>
            </a:prstGeom>
            <a:solidFill>
              <a:srgbClr val="3366FF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anchor="ctr" anchorCtr="1" lIns="0" numCol="1" rIns="0">
              <a:spAutoFit/>
            </a:bodyPr>
            <a:lstStyle/>
            <a:p>
              <a:pPr indent="0" marL="0"/>
              <a:r>
                <a:rPr dirty="0" lang="en-US" smtClean="0" sz="12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/>
              </a:r>
              <a:br>
                <a:rPr dirty="0" lang="en-US" smtClean="0" sz="120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Link Control Protocol (LCP)</a:t>
              </a:r>
              <a:b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</a:p>
          </p:txBody>
        </p:sp>
        <p:sp>
          <p:nvSpPr>
            <p:cNvPr id="52" name="Text Box 52"/>
            <p:cNvSpPr txBox="1">
              <a:spLocks/>
            </p:cNvSpPr>
            <p:nvPr/>
          </p:nvSpPr>
          <p:spPr>
            <a:xfrm>
              <a:off x="720" y="1238"/>
              <a:ext cx="3120" cy="1080"/>
            </a:xfrm>
            <a:prstGeom prst="rect">
              <a:avLst/>
            </a:prstGeom>
            <a:solidFill>
              <a:srgbClr val="3366FF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anchor="ctr" anchorCtr="1" lIns="0" numCol="1" rIns="0">
              <a:spAutoFit/>
            </a:bodyPr>
            <a:lstStyle/>
            <a:p>
              <a:pPr indent="0" marL="0"/>
              <a:r>
                <a:rPr dirty="0" lang="en-US" smtClean="0" sz="28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/>
              </a:r>
              <a:br>
                <a:rPr dirty="0" lang="en-US" smtClean="0" sz="280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Point-to-Point Protocol</a:t>
              </a:r>
              <a:b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(PPP)</a:t>
              </a:r>
              <a:b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Box 53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PPP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Layered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Architecture</a:t>
            </a:r>
          </a:p>
        </p:txBody>
      </p:sp>
      <p:sp>
        <p:nvSpPr>
          <p:cNvPr id="54" name="Text Box 54"/>
          <p:cNvSpPr>
            <a:spLocks/>
          </p:cNvSpPr>
          <p:nvPr>
            <p:ph type="body"/>
          </p:nvPr>
        </p:nvSpPr>
        <p:spPr>
          <a:xfrm>
            <a:off x="152400" y="4572000"/>
            <a:ext cx="8839200" cy="21336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PPP has a layered architecture: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Link Control Protocol (LCP):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 To establish, configure and test the connection.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Network Control Protocols (NCPs):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 A family of protocols to establish and configure Network Layer protocols.</a:t>
            </a:r>
          </a:p>
        </p:txBody>
      </p:sp>
      <p:grpSp>
        <p:nvGrpSpPr>
          <p:cNvPr id="55" name="Group 55"/>
          <p:cNvGrpSpPr>
            <a:grpSpLocks noChangeAspect="0" noGrp="0" noMove="0" noRot="0" noSelect="0" noUngrp="0"/>
          </p:cNvGrpSpPr>
          <p:nvPr/>
        </p:nvGrpSpPr>
        <p:grpSpPr>
          <a:xfrm>
            <a:off x="1143000" y="3657600"/>
            <a:ext cx="7239000" cy="860425"/>
            <a:chOff x="768" y="2784"/>
            <a:chExt cx="4560" cy="542"/>
          </a:xfrm>
        </p:grpSpPr>
        <p:sp>
          <p:nvSpPr>
            <p:cNvPr id="56" name="Text Box 56"/>
            <p:cNvSpPr txBox="1">
              <a:spLocks/>
            </p:cNvSpPr>
            <p:nvPr/>
          </p:nvSpPr>
          <p:spPr>
            <a:xfrm>
              <a:off x="768" y="2784"/>
              <a:ext cx="3120" cy="542"/>
            </a:xfrm>
            <a:prstGeom prst="rect">
              <a:avLst/>
            </a:prstGeom>
            <a:solidFill>
              <a:srgbClr val="008000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anchor="ctr" anchorCtr="1" lIns="0" numCol="1" rIns="0">
              <a:spAutoFit/>
            </a:bodyPr>
            <a:lstStyle/>
            <a:p>
              <a:pPr indent="0" marL="0"/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Synchronous or Asynchronous</a:t>
              </a:r>
              <a:b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Physical Medium</a:t>
              </a:r>
            </a:p>
          </p:txBody>
        </p:sp>
        <p:sp>
          <p:nvSpPr>
            <p:cNvPr id="57" name="Text Box 57"/>
            <p:cNvSpPr>
              <a:spLocks/>
            </p:cNvSpPr>
            <p:nvPr/>
          </p:nvSpPr>
          <p:spPr>
            <a:xfrm>
              <a:off x="3888" y="2784"/>
              <a:ext cx="14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</p:spPr>
        </p:sp>
        <p:sp>
          <p:nvSpPr>
            <p:cNvPr id="58" name="Text Box 58"/>
            <p:cNvSpPr txBox="1">
              <a:spLocks/>
            </p:cNvSpPr>
            <p:nvPr/>
          </p:nvSpPr>
          <p:spPr>
            <a:xfrm>
              <a:off x="3936" y="2928"/>
              <a:ext cx="139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="t" anchorCtr="1" lIns="0" numCol="1" rIns="0">
              <a:spAutoFit/>
            </a:bodyPr>
            <a:lstStyle/>
            <a:p>
              <a:pPr algn="l" indent="0" marL="0"/>
              <a:r>
                <a:rPr dirty="0" lang="en-US" smtClean="0">
                  <a:solidFill>
                    <a:srgbClr val="FF3300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Physical Layer</a:t>
              </a:r>
            </a:p>
          </p:txBody>
        </p:sp>
      </p:grpSp>
      <p:sp>
        <p:nvSpPr>
          <p:cNvPr id="59" name="Text Box 59"/>
          <p:cNvSpPr txBox="1">
            <a:spLocks/>
          </p:cNvSpPr>
          <p:nvPr/>
        </p:nvSpPr>
        <p:spPr>
          <a:xfrm>
            <a:off x="1143000" y="1981200"/>
            <a:ext cx="4953000" cy="860425"/>
          </a:xfrm>
          <a:prstGeom prst="rect">
            <a:avLst/>
          </a:prstGeom>
          <a:solidFill>
            <a:srgbClr val="3366FF"/>
          </a:solidFill>
          <a:ln w="38100">
            <a:solidFill>
              <a:schemeClr val="bg1"/>
            </a:solidFill>
            <a:round/>
            <a:headEnd/>
            <a:tailEnd/>
          </a:ln>
        </p:spPr>
        <p:txBody>
          <a:bodyPr anchor="ctr" anchorCtr="1" lIns="0" numCol="1" rIns="0">
            <a:spAutoFit/>
          </a:bodyPr>
          <a:lstStyle/>
          <a:p>
            <a:pPr indent="0" marL="0"/>
            <a:r>
              <a:rPr dirty="0" lang="en-US" smtClean="0" sz="1200">
                <a:effectLst>
                  <a:outerShdw algn="tl" blurRad="38100" dir="2700000" dist="38100">
                    <a:srgbClr val="C0C0C0"/>
                  </a:outerShdw>
                </a:effectLst>
              </a:rPr>
              <a:t/>
            </a:r>
            <a:br>
              <a:rPr dirty="0" lang="en-US" smtClean="0" sz="120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Network Control Protocols (NCPs)</a:t>
            </a:r>
            <a:b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</a:p>
        </p:txBody>
      </p:sp>
      <p:sp>
        <p:nvSpPr>
          <p:cNvPr id="60" name="Text Box 60"/>
          <p:cNvSpPr txBox="1">
            <a:spLocks/>
          </p:cNvSpPr>
          <p:nvPr/>
        </p:nvSpPr>
        <p:spPr>
          <a:xfrm>
            <a:off x="6248400" y="25908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="t" anchorCtr="1" lIns="0" numCol="1" rIns="0">
            <a:spAutoFit/>
          </a:bodyPr>
          <a:lstStyle/>
          <a:p>
            <a:pPr algn="l" indent="0" marL="0"/>
            <a:r>
              <a:rPr dirty="0" lang="en-US" smtClean="0">
                <a:solidFill>
                  <a:srgbClr val="FF33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Data Link Layer</a:t>
            </a:r>
          </a:p>
        </p:txBody>
      </p:sp>
      <p:grpSp>
        <p:nvGrpSpPr>
          <p:cNvPr id="61" name="Group 61"/>
          <p:cNvGrpSpPr>
            <a:grpSpLocks noChangeAspect="0" noGrp="0" noMove="0" noRot="0" noSelect="0" noUngrp="0"/>
          </p:cNvGrpSpPr>
          <p:nvPr/>
        </p:nvGrpSpPr>
        <p:grpSpPr>
          <a:xfrm>
            <a:off x="1143000" y="1143000"/>
            <a:ext cx="7239000" cy="838200"/>
            <a:chOff x="768" y="1200"/>
            <a:chExt cx="4560" cy="528"/>
          </a:xfrm>
        </p:grpSpPr>
        <p:sp>
          <p:nvSpPr>
            <p:cNvPr id="62" name="Text Box 62"/>
            <p:cNvSpPr>
              <a:spLocks/>
            </p:cNvSpPr>
            <p:nvPr/>
          </p:nvSpPr>
          <p:spPr>
            <a:xfrm>
              <a:off x="3888" y="1728"/>
              <a:ext cx="14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</p:spPr>
        </p:sp>
        <p:sp>
          <p:nvSpPr>
            <p:cNvPr id="63" name="Text Box 63"/>
            <p:cNvSpPr txBox="1">
              <a:spLocks/>
            </p:cNvSpPr>
            <p:nvPr/>
          </p:nvSpPr>
          <p:spPr>
            <a:xfrm>
              <a:off x="3936" y="1296"/>
              <a:ext cx="139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="t" anchorCtr="1" lIns="0" numCol="1" rIns="0">
              <a:spAutoFit/>
            </a:bodyPr>
            <a:lstStyle/>
            <a:p>
              <a:pPr algn="l" indent="0" marL="0"/>
              <a:r>
                <a:rPr dirty="0" lang="en-US" smtClean="0">
                  <a:solidFill>
                    <a:srgbClr val="FF3300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Network Layer</a:t>
              </a:r>
            </a:p>
          </p:txBody>
        </p:sp>
        <p:sp>
          <p:nvSpPr>
            <p:cNvPr id="64" name="Text Box 64"/>
            <p:cNvSpPr txBox="1">
              <a:spLocks/>
            </p:cNvSpPr>
            <p:nvPr/>
          </p:nvSpPr>
          <p:spPr>
            <a:xfrm>
              <a:off x="768" y="1200"/>
              <a:ext cx="816" cy="524"/>
            </a:xfrm>
            <a:prstGeom prst="rect">
              <a:avLst/>
            </a:prstGeom>
            <a:solidFill>
              <a:srgbClr val="800000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anchor="ctr" anchorCtr="1" lIns="0" numCol="1" rIns="0">
              <a:spAutoFit/>
            </a:bodyPr>
            <a:lstStyle/>
            <a:p>
              <a:pPr indent="0" marL="0"/>
              <a:r>
                <a:rPr dirty="0" lang="en-US" smtClean="0" sz="11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/>
              </a:r>
              <a:br>
                <a:rPr dirty="0" lang="en-US" smtClean="0" sz="110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IP</a:t>
              </a:r>
              <a:b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</a:p>
          </p:txBody>
        </p:sp>
        <p:sp>
          <p:nvSpPr>
            <p:cNvPr id="65" name="Text Box 65"/>
            <p:cNvSpPr txBox="1">
              <a:spLocks/>
            </p:cNvSpPr>
            <p:nvPr/>
          </p:nvSpPr>
          <p:spPr>
            <a:xfrm>
              <a:off x="1584" y="1200"/>
              <a:ext cx="816" cy="524"/>
            </a:xfrm>
            <a:prstGeom prst="rect">
              <a:avLst/>
            </a:prstGeom>
            <a:solidFill>
              <a:srgbClr val="800000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anchor="ctr" anchorCtr="1" lIns="0" numCol="1" rIns="0">
              <a:spAutoFit/>
            </a:bodyPr>
            <a:lstStyle/>
            <a:p>
              <a:pPr indent="0" marL="0"/>
              <a:r>
                <a:rPr dirty="0" lang="en-US" smtClean="0" sz="11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/>
              </a:r>
              <a:br>
                <a:rPr dirty="0" lang="en-US" smtClean="0" sz="110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IPX</a:t>
              </a:r>
              <a:b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</a:p>
          </p:txBody>
        </p:sp>
        <p:sp>
          <p:nvSpPr>
            <p:cNvPr id="66" name="Text Box 66"/>
            <p:cNvSpPr txBox="1">
              <a:spLocks/>
            </p:cNvSpPr>
            <p:nvPr/>
          </p:nvSpPr>
          <p:spPr>
            <a:xfrm>
              <a:off x="2400" y="1200"/>
              <a:ext cx="1488" cy="524"/>
            </a:xfrm>
            <a:prstGeom prst="rect">
              <a:avLst/>
            </a:prstGeom>
            <a:solidFill>
              <a:srgbClr val="800000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anchor="ctr" anchorCtr="1" lIns="0" numCol="1" rIns="0">
              <a:spAutoFit/>
            </a:bodyPr>
            <a:lstStyle/>
            <a:p>
              <a:pPr indent="0" marL="0"/>
              <a:r>
                <a:rPr dirty="0" lang="en-US" smtClean="0" sz="11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/>
              </a:r>
              <a:br>
                <a:rPr dirty="0" lang="en-US" smtClean="0" sz="110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Many Others</a:t>
              </a:r>
              <a:b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</a:p>
          </p:txBody>
        </p:sp>
      </p:grpSp>
      <p:sp>
        <p:nvSpPr>
          <p:cNvPr id="67" name="Text Box 67"/>
          <p:cNvSpPr txBox="1">
            <a:spLocks/>
          </p:cNvSpPr>
          <p:nvPr/>
        </p:nvSpPr>
        <p:spPr>
          <a:xfrm>
            <a:off x="1143000" y="2819400"/>
            <a:ext cx="4953000" cy="860425"/>
          </a:xfrm>
          <a:prstGeom prst="rect">
            <a:avLst/>
          </a:prstGeom>
          <a:solidFill>
            <a:srgbClr val="3366FF"/>
          </a:solidFill>
          <a:ln w="38100">
            <a:solidFill>
              <a:schemeClr val="bg1"/>
            </a:solidFill>
            <a:round/>
            <a:headEnd/>
            <a:tailEnd/>
          </a:ln>
        </p:spPr>
        <p:txBody>
          <a:bodyPr anchor="ctr" anchorCtr="1" lIns="0" numCol="1" rIns="0">
            <a:spAutoFit/>
          </a:bodyPr>
          <a:lstStyle/>
          <a:p>
            <a:pPr indent="0" marL="0"/>
            <a:r>
              <a:rPr dirty="0" lang="en-US" smtClean="0" sz="1200">
                <a:effectLst>
                  <a:outerShdw algn="tl" blurRad="38100" dir="2700000" dist="38100">
                    <a:srgbClr val="C0C0C0"/>
                  </a:outerShdw>
                </a:effectLst>
              </a:rPr>
              <a:t/>
            </a:r>
            <a:br>
              <a:rPr dirty="0" lang="en-US" smtClean="0" sz="120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Link Control Protocol (LCP)</a:t>
            </a:r>
            <a:b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Box 68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PPP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Layered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Architecture</a:t>
            </a:r>
          </a:p>
        </p:txBody>
      </p:sp>
      <p:sp>
        <p:nvSpPr>
          <p:cNvPr id="69" name="Text Box 69"/>
          <p:cNvSpPr>
            <a:spLocks/>
          </p:cNvSpPr>
          <p:nvPr>
            <p:ph type="body"/>
          </p:nvPr>
        </p:nvSpPr>
        <p:spPr>
          <a:xfrm>
            <a:off x="152400" y="4572000"/>
            <a:ext cx="8839200" cy="21336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>
              <a:lnSpc>
                <a:spcPct val="90000"/>
              </a:lnSpc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PPP can be configured on multiple types of interfaces:</a:t>
            </a:r>
          </a:p>
          <a:p>
            <a:pPr indent="-288925" lvl="1" marL="855662">
              <a:lnSpc>
                <a:spcPct val="90000"/>
              </a:lnSpc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Asynchronous serial </a:t>
            </a:r>
          </a:p>
          <a:p>
            <a:pPr indent="-288925" lvl="1" marL="855662">
              <a:lnSpc>
                <a:spcPct val="90000"/>
              </a:lnSpc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Synchronous serial </a:t>
            </a:r>
          </a:p>
          <a:p>
            <a:pPr indent="-288925" lvl="1" marL="855662">
              <a:lnSpc>
                <a:spcPct val="90000"/>
              </a:lnSpc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High-Speed Serial Interface (HSSI) </a:t>
            </a:r>
          </a:p>
          <a:p>
            <a:pPr indent="-288925" lvl="1" marL="855662">
              <a:lnSpc>
                <a:spcPct val="90000"/>
              </a:lnSpc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Integrated Services Digital Network (ISDN) </a:t>
            </a:r>
          </a:p>
        </p:txBody>
      </p:sp>
      <p:sp>
        <p:nvSpPr>
          <p:cNvPr id="70" name="Text Box 70"/>
          <p:cNvSpPr txBox="1">
            <a:spLocks/>
          </p:cNvSpPr>
          <p:nvPr/>
        </p:nvSpPr>
        <p:spPr>
          <a:xfrm>
            <a:off x="1143000" y="1981200"/>
            <a:ext cx="4953000" cy="860425"/>
          </a:xfrm>
          <a:prstGeom prst="rect">
            <a:avLst/>
          </a:prstGeom>
          <a:solidFill>
            <a:srgbClr val="3366FF"/>
          </a:solidFill>
          <a:ln w="38100">
            <a:solidFill>
              <a:schemeClr val="bg1"/>
            </a:solidFill>
            <a:round/>
            <a:headEnd/>
            <a:tailEnd/>
          </a:ln>
        </p:spPr>
        <p:txBody>
          <a:bodyPr anchor="ctr" anchorCtr="1" lIns="0" numCol="1" rIns="0">
            <a:spAutoFit/>
          </a:bodyPr>
          <a:lstStyle/>
          <a:p>
            <a:pPr indent="0" marL="0"/>
            <a:r>
              <a:rPr dirty="0" lang="en-US" smtClean="0" sz="1200">
                <a:effectLst>
                  <a:outerShdw algn="tl" blurRad="38100" dir="2700000" dist="38100">
                    <a:srgbClr val="C0C0C0"/>
                  </a:outerShdw>
                </a:effectLst>
              </a:rPr>
              <a:t/>
            </a:r>
            <a:br>
              <a:rPr dirty="0" lang="en-US" smtClean="0" sz="120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Network Control Protocols (NCPs)</a:t>
            </a:r>
            <a:b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</a:p>
        </p:txBody>
      </p:sp>
      <p:sp>
        <p:nvSpPr>
          <p:cNvPr id="71" name="Text Box 71"/>
          <p:cNvSpPr txBox="1">
            <a:spLocks/>
          </p:cNvSpPr>
          <p:nvPr/>
        </p:nvSpPr>
        <p:spPr>
          <a:xfrm>
            <a:off x="6248400" y="25908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="t" anchorCtr="1" lIns="0" numCol="1" rIns="0">
            <a:spAutoFit/>
          </a:bodyPr>
          <a:lstStyle/>
          <a:p>
            <a:pPr algn="l" indent="0" marL="0"/>
            <a:r>
              <a:rPr dirty="0" lang="en-US" smtClean="0">
                <a:solidFill>
                  <a:srgbClr val="FF33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Data Link Layer</a:t>
            </a:r>
          </a:p>
        </p:txBody>
      </p:sp>
      <p:grpSp>
        <p:nvGrpSpPr>
          <p:cNvPr id="72" name="Group 72"/>
          <p:cNvGrpSpPr>
            <a:grpSpLocks noChangeAspect="0" noGrp="0" noMove="0" noRot="0" noSelect="0" noUngrp="0"/>
          </p:cNvGrpSpPr>
          <p:nvPr/>
        </p:nvGrpSpPr>
        <p:grpSpPr>
          <a:xfrm>
            <a:off x="1143000" y="1143000"/>
            <a:ext cx="7239000" cy="838200"/>
            <a:chOff x="768" y="1200"/>
            <a:chExt cx="4560" cy="528"/>
          </a:xfrm>
        </p:grpSpPr>
        <p:sp>
          <p:nvSpPr>
            <p:cNvPr id="73" name="Text Box 73"/>
            <p:cNvSpPr>
              <a:spLocks/>
            </p:cNvSpPr>
            <p:nvPr/>
          </p:nvSpPr>
          <p:spPr>
            <a:xfrm>
              <a:off x="3888" y="1728"/>
              <a:ext cx="14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</p:spPr>
        </p:sp>
        <p:sp>
          <p:nvSpPr>
            <p:cNvPr id="74" name="Text Box 74"/>
            <p:cNvSpPr txBox="1">
              <a:spLocks/>
            </p:cNvSpPr>
            <p:nvPr/>
          </p:nvSpPr>
          <p:spPr>
            <a:xfrm>
              <a:off x="3936" y="1296"/>
              <a:ext cx="139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="t" anchorCtr="1" lIns="0" numCol="1" rIns="0">
              <a:spAutoFit/>
            </a:bodyPr>
            <a:lstStyle/>
            <a:p>
              <a:pPr algn="l" indent="0" marL="0"/>
              <a:r>
                <a:rPr dirty="0" lang="en-US" smtClean="0">
                  <a:solidFill>
                    <a:srgbClr val="FF3300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Network Layer</a:t>
              </a:r>
            </a:p>
          </p:txBody>
        </p:sp>
        <p:sp>
          <p:nvSpPr>
            <p:cNvPr id="75" name="Text Box 75"/>
            <p:cNvSpPr txBox="1">
              <a:spLocks/>
            </p:cNvSpPr>
            <p:nvPr/>
          </p:nvSpPr>
          <p:spPr>
            <a:xfrm>
              <a:off x="768" y="1200"/>
              <a:ext cx="816" cy="524"/>
            </a:xfrm>
            <a:prstGeom prst="rect">
              <a:avLst/>
            </a:prstGeom>
            <a:solidFill>
              <a:srgbClr val="800000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anchor="ctr" anchorCtr="1" lIns="0" numCol="1" rIns="0">
              <a:spAutoFit/>
            </a:bodyPr>
            <a:lstStyle/>
            <a:p>
              <a:pPr indent="0" marL="0"/>
              <a:r>
                <a:rPr dirty="0" lang="en-US" smtClean="0" sz="11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/>
              </a:r>
              <a:br>
                <a:rPr dirty="0" lang="en-US" smtClean="0" sz="110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IP</a:t>
              </a:r>
              <a:b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</a:p>
          </p:txBody>
        </p:sp>
        <p:sp>
          <p:nvSpPr>
            <p:cNvPr id="76" name="Text Box 76"/>
            <p:cNvSpPr txBox="1">
              <a:spLocks/>
            </p:cNvSpPr>
            <p:nvPr/>
          </p:nvSpPr>
          <p:spPr>
            <a:xfrm>
              <a:off x="1584" y="1200"/>
              <a:ext cx="816" cy="524"/>
            </a:xfrm>
            <a:prstGeom prst="rect">
              <a:avLst/>
            </a:prstGeom>
            <a:solidFill>
              <a:srgbClr val="800000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anchor="ctr" anchorCtr="1" lIns="0" numCol="1" rIns="0">
              <a:spAutoFit/>
            </a:bodyPr>
            <a:lstStyle/>
            <a:p>
              <a:pPr indent="0" marL="0"/>
              <a:r>
                <a:rPr dirty="0" lang="en-US" smtClean="0" sz="11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/>
              </a:r>
              <a:br>
                <a:rPr dirty="0" lang="en-US" smtClean="0" sz="110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IPX</a:t>
              </a:r>
              <a:b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</a:p>
          </p:txBody>
        </p:sp>
        <p:sp>
          <p:nvSpPr>
            <p:cNvPr id="77" name="Text Box 77"/>
            <p:cNvSpPr txBox="1">
              <a:spLocks/>
            </p:cNvSpPr>
            <p:nvPr/>
          </p:nvSpPr>
          <p:spPr>
            <a:xfrm>
              <a:off x="2400" y="1200"/>
              <a:ext cx="1488" cy="524"/>
            </a:xfrm>
            <a:prstGeom prst="rect">
              <a:avLst/>
            </a:prstGeom>
            <a:solidFill>
              <a:srgbClr val="800000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anchor="ctr" anchorCtr="1" lIns="0" numCol="1" rIns="0">
              <a:spAutoFit/>
            </a:bodyPr>
            <a:lstStyle/>
            <a:p>
              <a:pPr indent="0" marL="0"/>
              <a:r>
                <a:rPr dirty="0" lang="en-US" smtClean="0" sz="11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/>
              </a:r>
              <a:br>
                <a:rPr dirty="0" lang="en-US" smtClean="0" sz="110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Many Others</a:t>
              </a:r>
              <a:b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</a:p>
          </p:txBody>
        </p:sp>
      </p:grpSp>
      <p:sp>
        <p:nvSpPr>
          <p:cNvPr id="78" name="Text Box 78"/>
          <p:cNvSpPr txBox="1">
            <a:spLocks/>
          </p:cNvSpPr>
          <p:nvPr/>
        </p:nvSpPr>
        <p:spPr>
          <a:xfrm>
            <a:off x="1143000" y="2819400"/>
            <a:ext cx="4953000" cy="860425"/>
          </a:xfrm>
          <a:prstGeom prst="rect">
            <a:avLst/>
          </a:prstGeom>
          <a:solidFill>
            <a:srgbClr val="3366FF"/>
          </a:solidFill>
          <a:ln w="38100">
            <a:solidFill>
              <a:schemeClr val="bg1"/>
            </a:solidFill>
            <a:round/>
            <a:headEnd/>
            <a:tailEnd/>
          </a:ln>
        </p:spPr>
        <p:txBody>
          <a:bodyPr anchor="ctr" anchorCtr="1" lIns="0" numCol="1" rIns="0">
            <a:spAutoFit/>
          </a:bodyPr>
          <a:lstStyle/>
          <a:p>
            <a:pPr indent="0" marL="0"/>
            <a:r>
              <a:rPr dirty="0" lang="en-US" smtClean="0" sz="1200">
                <a:effectLst>
                  <a:outerShdw algn="tl" blurRad="38100" dir="2700000" dist="38100">
                    <a:srgbClr val="C0C0C0"/>
                  </a:outerShdw>
                </a:effectLst>
              </a:rPr>
              <a:t/>
            </a:r>
            <a:br>
              <a:rPr dirty="0" lang="en-US" smtClean="0" sz="120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Link Control Protocol (LCP)</a:t>
            </a:r>
            <a:b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</a:p>
        </p:txBody>
      </p:sp>
      <p:grpSp>
        <p:nvGrpSpPr>
          <p:cNvPr id="79" name="Group 79"/>
          <p:cNvGrpSpPr>
            <a:grpSpLocks noChangeAspect="0" noGrp="0" noMove="0" noRot="0" noSelect="0" noUngrp="0"/>
          </p:cNvGrpSpPr>
          <p:nvPr/>
        </p:nvGrpSpPr>
        <p:grpSpPr>
          <a:xfrm>
            <a:off x="1143000" y="3657600"/>
            <a:ext cx="7239000" cy="860425"/>
            <a:chOff x="768" y="2784"/>
            <a:chExt cx="4560" cy="542"/>
          </a:xfrm>
        </p:grpSpPr>
        <p:sp>
          <p:nvSpPr>
            <p:cNvPr id="80" name="Text Box 80"/>
            <p:cNvSpPr txBox="1">
              <a:spLocks/>
            </p:cNvSpPr>
            <p:nvPr/>
          </p:nvSpPr>
          <p:spPr>
            <a:xfrm>
              <a:off x="768" y="2784"/>
              <a:ext cx="3120" cy="542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anchor="ctr" anchorCtr="1" lIns="0" numCol="1" rIns="0">
              <a:spAutoFit/>
            </a:bodyPr>
            <a:lstStyle/>
            <a:p>
              <a:pPr indent="0" marL="0"/>
              <a:r>
                <a:rPr dirty="0" lang="en-US" smtClean="0">
                  <a:solidFill>
                    <a:schemeClr val="tx1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Synchronous or Asynchronous</a:t>
              </a:r>
              <a:br>
                <a:rPr dirty="0" lang="en-US" smtClean="0">
                  <a:solidFill>
                    <a:schemeClr val="tx1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>
                  <a:solidFill>
                    <a:schemeClr val="tx1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Physical Medium</a:t>
              </a:r>
            </a:p>
          </p:txBody>
        </p:sp>
        <p:sp>
          <p:nvSpPr>
            <p:cNvPr id="81" name="Text Box 81"/>
            <p:cNvSpPr>
              <a:spLocks/>
            </p:cNvSpPr>
            <p:nvPr/>
          </p:nvSpPr>
          <p:spPr>
            <a:xfrm>
              <a:off x="3888" y="2784"/>
              <a:ext cx="14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</p:spPr>
        </p:sp>
        <p:sp>
          <p:nvSpPr>
            <p:cNvPr id="82" name="Text Box 82"/>
            <p:cNvSpPr txBox="1">
              <a:spLocks/>
            </p:cNvSpPr>
            <p:nvPr/>
          </p:nvSpPr>
          <p:spPr>
            <a:xfrm>
              <a:off x="3936" y="2928"/>
              <a:ext cx="139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="t" anchorCtr="1" lIns="0" numCol="1" rIns="0">
              <a:spAutoFit/>
            </a:bodyPr>
            <a:lstStyle/>
            <a:p>
              <a:pPr algn="l" indent="0" marL="0"/>
              <a:r>
                <a:rPr dirty="0" lang="en-US" smtClean="0">
                  <a:solidFill>
                    <a:srgbClr val="FF3300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Physical Layer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Box 83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PPP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Layered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Architecture</a:t>
            </a:r>
          </a:p>
        </p:txBody>
      </p:sp>
      <p:sp>
        <p:nvSpPr>
          <p:cNvPr id="84" name="Text Box 84"/>
          <p:cNvSpPr>
            <a:spLocks/>
          </p:cNvSpPr>
          <p:nvPr>
            <p:ph type="body"/>
          </p:nvPr>
        </p:nvSpPr>
        <p:spPr>
          <a:xfrm>
            <a:off x="152400" y="4572000"/>
            <a:ext cx="8839200" cy="21336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PPP uses the Link Control Protocol (LCP) </a:t>
            </a:r>
            <a:r>
              <a:rPr dirty="0" i="1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to negotiate and setup control options on the WAN link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.</a:t>
            </a:r>
          </a:p>
          <a:p>
            <a:pPr indent="-288925" lvl="1" marL="855662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Authentication, Compression, Error Detection, Multilink for load balancing, PPP Callback and link monitoring functions. </a:t>
            </a:r>
          </a:p>
        </p:txBody>
      </p:sp>
      <p:grpSp>
        <p:nvGrpSpPr>
          <p:cNvPr id="85" name="Group 85"/>
          <p:cNvGrpSpPr>
            <a:grpSpLocks noChangeAspect="0" noGrp="0" noMove="0" noRot="0" noSelect="0" noUngrp="0"/>
          </p:cNvGrpSpPr>
          <p:nvPr/>
        </p:nvGrpSpPr>
        <p:grpSpPr>
          <a:xfrm>
            <a:off x="1143000" y="3657600"/>
            <a:ext cx="7239000" cy="860425"/>
            <a:chOff x="768" y="2784"/>
            <a:chExt cx="4560" cy="542"/>
          </a:xfrm>
        </p:grpSpPr>
        <p:sp>
          <p:nvSpPr>
            <p:cNvPr id="86" name="Text Box 86"/>
            <p:cNvSpPr txBox="1">
              <a:spLocks/>
            </p:cNvSpPr>
            <p:nvPr/>
          </p:nvSpPr>
          <p:spPr>
            <a:xfrm>
              <a:off x="768" y="2784"/>
              <a:ext cx="3120" cy="542"/>
            </a:xfrm>
            <a:prstGeom prst="rect">
              <a:avLst/>
            </a:prstGeom>
            <a:solidFill>
              <a:srgbClr val="008000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anchor="ctr" anchorCtr="1" lIns="0" numCol="1" rIns="0">
              <a:spAutoFit/>
            </a:bodyPr>
            <a:lstStyle/>
            <a:p>
              <a:pPr indent="0" marL="0"/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Synchronous or Asynchronous</a:t>
              </a:r>
              <a:b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Physical Medium</a:t>
              </a:r>
            </a:p>
          </p:txBody>
        </p:sp>
        <p:sp>
          <p:nvSpPr>
            <p:cNvPr id="87" name="Text Box 87"/>
            <p:cNvSpPr>
              <a:spLocks/>
            </p:cNvSpPr>
            <p:nvPr/>
          </p:nvSpPr>
          <p:spPr>
            <a:xfrm>
              <a:off x="3888" y="2784"/>
              <a:ext cx="14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</p:spPr>
        </p:sp>
        <p:sp>
          <p:nvSpPr>
            <p:cNvPr id="88" name="Text Box 88"/>
            <p:cNvSpPr txBox="1">
              <a:spLocks/>
            </p:cNvSpPr>
            <p:nvPr/>
          </p:nvSpPr>
          <p:spPr>
            <a:xfrm>
              <a:off x="3936" y="2928"/>
              <a:ext cx="139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="t" anchorCtr="1" lIns="0" numCol="1" rIns="0">
              <a:spAutoFit/>
            </a:bodyPr>
            <a:lstStyle/>
            <a:p>
              <a:pPr algn="l" indent="0" marL="0"/>
              <a:r>
                <a:rPr dirty="0" lang="en-US" smtClean="0">
                  <a:solidFill>
                    <a:srgbClr val="FF3300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Physical Layer</a:t>
              </a:r>
            </a:p>
          </p:txBody>
        </p:sp>
      </p:grpSp>
      <p:sp>
        <p:nvSpPr>
          <p:cNvPr id="89" name="Text Box 89"/>
          <p:cNvSpPr txBox="1">
            <a:spLocks/>
          </p:cNvSpPr>
          <p:nvPr/>
        </p:nvSpPr>
        <p:spPr>
          <a:xfrm>
            <a:off x="1143000" y="1981200"/>
            <a:ext cx="4953000" cy="860425"/>
          </a:xfrm>
          <a:prstGeom prst="rect">
            <a:avLst/>
          </a:prstGeom>
          <a:solidFill>
            <a:srgbClr val="3366FF"/>
          </a:solidFill>
          <a:ln w="38100">
            <a:solidFill>
              <a:schemeClr val="bg1"/>
            </a:solidFill>
            <a:round/>
            <a:headEnd/>
            <a:tailEnd/>
          </a:ln>
        </p:spPr>
        <p:txBody>
          <a:bodyPr anchor="ctr" anchorCtr="1" lIns="0" numCol="1" rIns="0">
            <a:spAutoFit/>
          </a:bodyPr>
          <a:lstStyle/>
          <a:p>
            <a:pPr indent="0" marL="0"/>
            <a:r>
              <a:rPr dirty="0" lang="en-US" smtClean="0" sz="1200">
                <a:effectLst>
                  <a:outerShdw algn="tl" blurRad="38100" dir="2700000" dist="38100">
                    <a:srgbClr val="C0C0C0"/>
                  </a:outerShdw>
                </a:effectLst>
              </a:rPr>
              <a:t/>
            </a:r>
            <a:br>
              <a:rPr dirty="0" lang="en-US" smtClean="0" sz="120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Network Control Protocols (NCPs)</a:t>
            </a:r>
            <a:b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</a:p>
        </p:txBody>
      </p:sp>
      <p:sp>
        <p:nvSpPr>
          <p:cNvPr id="90" name="Text Box 90"/>
          <p:cNvSpPr txBox="1">
            <a:spLocks/>
          </p:cNvSpPr>
          <p:nvPr/>
        </p:nvSpPr>
        <p:spPr>
          <a:xfrm>
            <a:off x="6248400" y="25908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="t" anchorCtr="1" lIns="0" numCol="1" rIns="0">
            <a:spAutoFit/>
          </a:bodyPr>
          <a:lstStyle/>
          <a:p>
            <a:pPr algn="l" indent="0" marL="0"/>
            <a:r>
              <a:rPr dirty="0" lang="en-US" smtClean="0">
                <a:solidFill>
                  <a:srgbClr val="FF33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Data Link Layer</a:t>
            </a:r>
          </a:p>
        </p:txBody>
      </p:sp>
      <p:grpSp>
        <p:nvGrpSpPr>
          <p:cNvPr id="91" name="Group 91"/>
          <p:cNvGrpSpPr>
            <a:grpSpLocks noChangeAspect="0" noGrp="0" noMove="0" noRot="0" noSelect="0" noUngrp="0"/>
          </p:cNvGrpSpPr>
          <p:nvPr/>
        </p:nvGrpSpPr>
        <p:grpSpPr>
          <a:xfrm>
            <a:off x="1143000" y="1143000"/>
            <a:ext cx="7239000" cy="838200"/>
            <a:chOff x="768" y="1200"/>
            <a:chExt cx="4560" cy="528"/>
          </a:xfrm>
        </p:grpSpPr>
        <p:sp>
          <p:nvSpPr>
            <p:cNvPr id="92" name="Text Box 92"/>
            <p:cNvSpPr>
              <a:spLocks/>
            </p:cNvSpPr>
            <p:nvPr/>
          </p:nvSpPr>
          <p:spPr>
            <a:xfrm>
              <a:off x="3888" y="1728"/>
              <a:ext cx="14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</p:spPr>
        </p:sp>
        <p:sp>
          <p:nvSpPr>
            <p:cNvPr id="93" name="Text Box 93"/>
            <p:cNvSpPr txBox="1">
              <a:spLocks/>
            </p:cNvSpPr>
            <p:nvPr/>
          </p:nvSpPr>
          <p:spPr>
            <a:xfrm>
              <a:off x="3936" y="1296"/>
              <a:ext cx="139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="t" anchorCtr="1" lIns="0" numCol="1" rIns="0">
              <a:spAutoFit/>
            </a:bodyPr>
            <a:lstStyle/>
            <a:p>
              <a:pPr algn="l" indent="0" marL="0"/>
              <a:r>
                <a:rPr dirty="0" lang="en-US" smtClean="0">
                  <a:solidFill>
                    <a:srgbClr val="FF3300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Network Layer</a:t>
              </a:r>
            </a:p>
          </p:txBody>
        </p:sp>
        <p:sp>
          <p:nvSpPr>
            <p:cNvPr id="94" name="Text Box 94"/>
            <p:cNvSpPr txBox="1">
              <a:spLocks/>
            </p:cNvSpPr>
            <p:nvPr/>
          </p:nvSpPr>
          <p:spPr>
            <a:xfrm>
              <a:off x="768" y="1200"/>
              <a:ext cx="816" cy="524"/>
            </a:xfrm>
            <a:prstGeom prst="rect">
              <a:avLst/>
            </a:prstGeom>
            <a:solidFill>
              <a:srgbClr val="800000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anchor="ctr" anchorCtr="1" lIns="0" numCol="1" rIns="0">
              <a:spAutoFit/>
            </a:bodyPr>
            <a:lstStyle/>
            <a:p>
              <a:pPr indent="0" marL="0"/>
              <a:r>
                <a:rPr dirty="0" lang="en-US" smtClean="0" sz="11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/>
              </a:r>
              <a:br>
                <a:rPr dirty="0" lang="en-US" smtClean="0" sz="110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IP</a:t>
              </a:r>
              <a:b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</a:p>
          </p:txBody>
        </p:sp>
        <p:sp>
          <p:nvSpPr>
            <p:cNvPr id="95" name="Text Box 95"/>
            <p:cNvSpPr txBox="1">
              <a:spLocks/>
            </p:cNvSpPr>
            <p:nvPr/>
          </p:nvSpPr>
          <p:spPr>
            <a:xfrm>
              <a:off x="1584" y="1200"/>
              <a:ext cx="816" cy="524"/>
            </a:xfrm>
            <a:prstGeom prst="rect">
              <a:avLst/>
            </a:prstGeom>
            <a:solidFill>
              <a:srgbClr val="800000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anchor="ctr" anchorCtr="1" lIns="0" numCol="1" rIns="0">
              <a:spAutoFit/>
            </a:bodyPr>
            <a:lstStyle/>
            <a:p>
              <a:pPr indent="0" marL="0"/>
              <a:r>
                <a:rPr dirty="0" lang="en-US" smtClean="0" sz="11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/>
              </a:r>
              <a:br>
                <a:rPr dirty="0" lang="en-US" smtClean="0" sz="110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IPX</a:t>
              </a:r>
              <a:b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</a:p>
          </p:txBody>
        </p:sp>
        <p:sp>
          <p:nvSpPr>
            <p:cNvPr id="96" name="Text Box 96"/>
            <p:cNvSpPr txBox="1">
              <a:spLocks/>
            </p:cNvSpPr>
            <p:nvPr/>
          </p:nvSpPr>
          <p:spPr>
            <a:xfrm>
              <a:off x="2400" y="1200"/>
              <a:ext cx="1488" cy="524"/>
            </a:xfrm>
            <a:prstGeom prst="rect">
              <a:avLst/>
            </a:prstGeom>
            <a:solidFill>
              <a:srgbClr val="800000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anchor="ctr" anchorCtr="1" lIns="0" numCol="1" rIns="0">
              <a:spAutoFit/>
            </a:bodyPr>
            <a:lstStyle/>
            <a:p>
              <a:pPr indent="0" marL="0"/>
              <a:r>
                <a:rPr dirty="0" lang="en-US" smtClean="0" sz="11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/>
              </a:r>
              <a:br>
                <a:rPr dirty="0" lang="en-US" smtClean="0" sz="110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Many Others</a:t>
              </a:r>
              <a:b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</a:p>
          </p:txBody>
        </p:sp>
      </p:grpSp>
      <p:sp>
        <p:nvSpPr>
          <p:cNvPr id="97" name="Text Box 97"/>
          <p:cNvSpPr txBox="1">
            <a:spLocks/>
          </p:cNvSpPr>
          <p:nvPr/>
        </p:nvSpPr>
        <p:spPr>
          <a:xfrm>
            <a:off x="1143000" y="2819400"/>
            <a:ext cx="4953000" cy="860425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anchor="ctr" anchorCtr="1" lIns="0" numCol="1" rIns="0">
            <a:spAutoFit/>
          </a:bodyPr>
          <a:lstStyle/>
          <a:p>
            <a:pPr indent="0" marL="0"/>
            <a:r>
              <a:rPr dirty="0" lang="en-US" smtClean="0" sz="1200">
                <a:solidFill>
                  <a:schemeClr val="tx1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/>
            </a:r>
            <a:br>
              <a:rPr dirty="0" lang="en-US" smtClean="0" sz="1200">
                <a:solidFill>
                  <a:schemeClr val="tx1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  <a:r>
              <a:rPr dirty="0" lang="en-US" smtClean="0">
                <a:solidFill>
                  <a:schemeClr val="tx1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Link Control Protocol (LCP)</a:t>
            </a:r>
            <a:br>
              <a:rPr dirty="0" lang="en-US" smtClean="0">
                <a:solidFill>
                  <a:schemeClr val="tx1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Box 98"/>
          <p:cNvSpPr txBox="1">
            <a:spLocks/>
          </p:cNvSpPr>
          <p:nvPr/>
        </p:nvSpPr>
        <p:spPr>
          <a:xfrm>
            <a:off x="1143000" y="2819400"/>
            <a:ext cx="4953000" cy="860425"/>
          </a:xfrm>
          <a:prstGeom prst="rect">
            <a:avLst/>
          </a:prstGeom>
          <a:solidFill>
            <a:srgbClr val="3366FF"/>
          </a:solidFill>
          <a:ln w="38100">
            <a:solidFill>
              <a:schemeClr val="bg1"/>
            </a:solidFill>
            <a:round/>
            <a:headEnd/>
            <a:tailEnd/>
          </a:ln>
        </p:spPr>
        <p:txBody>
          <a:bodyPr anchor="ctr" anchorCtr="1" lIns="0" numCol="1" rIns="0">
            <a:spAutoFit/>
          </a:bodyPr>
          <a:lstStyle/>
          <a:p>
            <a:pPr indent="0" marL="0"/>
            <a:r>
              <a:rPr dirty="0" lang="en-US" smtClean="0" sz="1200">
                <a:effectLst>
                  <a:outerShdw algn="tl" blurRad="38100" dir="2700000" dist="38100">
                    <a:srgbClr val="C0C0C0"/>
                  </a:outerShdw>
                </a:effectLst>
              </a:rPr>
              <a:t/>
            </a:r>
            <a:br>
              <a:rPr dirty="0" lang="en-US" smtClean="0" sz="120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Link Control Protocol (LCP)</a:t>
            </a:r>
            <a:b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</a:p>
        </p:txBody>
      </p:sp>
      <p:grpSp>
        <p:nvGrpSpPr>
          <p:cNvPr id="99" name="Group 99"/>
          <p:cNvGrpSpPr>
            <a:grpSpLocks noChangeAspect="0" noGrp="0" noMove="0" noRot="0" noSelect="0" noUngrp="0"/>
          </p:cNvGrpSpPr>
          <p:nvPr/>
        </p:nvGrpSpPr>
        <p:grpSpPr>
          <a:xfrm>
            <a:off x="1143000" y="1143000"/>
            <a:ext cx="7239000" cy="838200"/>
            <a:chOff x="768" y="1200"/>
            <a:chExt cx="4560" cy="528"/>
          </a:xfrm>
        </p:grpSpPr>
        <p:sp>
          <p:nvSpPr>
            <p:cNvPr id="100" name="Text Box 100"/>
            <p:cNvSpPr>
              <a:spLocks/>
            </p:cNvSpPr>
            <p:nvPr/>
          </p:nvSpPr>
          <p:spPr>
            <a:xfrm>
              <a:off x="3888" y="1728"/>
              <a:ext cx="14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</p:spPr>
        </p:sp>
        <p:sp>
          <p:nvSpPr>
            <p:cNvPr id="101" name="Text Box 101"/>
            <p:cNvSpPr txBox="1">
              <a:spLocks/>
            </p:cNvSpPr>
            <p:nvPr/>
          </p:nvSpPr>
          <p:spPr>
            <a:xfrm>
              <a:off x="3936" y="1296"/>
              <a:ext cx="139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="t" anchorCtr="1" lIns="0" numCol="1" rIns="0">
              <a:spAutoFit/>
            </a:bodyPr>
            <a:lstStyle/>
            <a:p>
              <a:pPr algn="l" indent="0" marL="0"/>
              <a:r>
                <a:rPr dirty="0" lang="en-US" smtClean="0">
                  <a:solidFill>
                    <a:srgbClr val="FF3300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Network Layer</a:t>
              </a:r>
            </a:p>
          </p:txBody>
        </p:sp>
        <p:sp>
          <p:nvSpPr>
            <p:cNvPr id="102" name="Text Box 102"/>
            <p:cNvSpPr txBox="1">
              <a:spLocks/>
            </p:cNvSpPr>
            <p:nvPr/>
          </p:nvSpPr>
          <p:spPr>
            <a:xfrm>
              <a:off x="768" y="1200"/>
              <a:ext cx="816" cy="524"/>
            </a:xfrm>
            <a:prstGeom prst="rect">
              <a:avLst/>
            </a:prstGeom>
            <a:solidFill>
              <a:srgbClr val="800000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anchor="ctr" anchorCtr="1" lIns="0" numCol="1" rIns="0">
              <a:spAutoFit/>
            </a:bodyPr>
            <a:lstStyle/>
            <a:p>
              <a:pPr indent="0" marL="0"/>
              <a:r>
                <a:rPr dirty="0" lang="en-US" smtClean="0" sz="11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/>
              </a:r>
              <a:br>
                <a:rPr dirty="0" lang="en-US" smtClean="0" sz="110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IP</a:t>
              </a:r>
              <a:b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</a:p>
          </p:txBody>
        </p:sp>
        <p:sp>
          <p:nvSpPr>
            <p:cNvPr id="103" name="Text Box 103"/>
            <p:cNvSpPr txBox="1">
              <a:spLocks/>
            </p:cNvSpPr>
            <p:nvPr/>
          </p:nvSpPr>
          <p:spPr>
            <a:xfrm>
              <a:off x="1584" y="1200"/>
              <a:ext cx="816" cy="524"/>
            </a:xfrm>
            <a:prstGeom prst="rect">
              <a:avLst/>
            </a:prstGeom>
            <a:solidFill>
              <a:srgbClr val="800000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anchor="ctr" anchorCtr="1" lIns="0" numCol="1" rIns="0">
              <a:spAutoFit/>
            </a:bodyPr>
            <a:lstStyle/>
            <a:p>
              <a:pPr indent="0" marL="0"/>
              <a:r>
                <a:rPr dirty="0" lang="en-US" smtClean="0" sz="11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/>
              </a:r>
              <a:br>
                <a:rPr dirty="0" lang="en-US" smtClean="0" sz="110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IPX</a:t>
              </a:r>
              <a:b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</a:p>
          </p:txBody>
        </p:sp>
        <p:sp>
          <p:nvSpPr>
            <p:cNvPr id="104" name="Text Box 104"/>
            <p:cNvSpPr txBox="1">
              <a:spLocks/>
            </p:cNvSpPr>
            <p:nvPr/>
          </p:nvSpPr>
          <p:spPr>
            <a:xfrm>
              <a:off x="2400" y="1200"/>
              <a:ext cx="1488" cy="524"/>
            </a:xfrm>
            <a:prstGeom prst="rect">
              <a:avLst/>
            </a:prstGeom>
            <a:solidFill>
              <a:srgbClr val="800000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anchor="ctr" anchorCtr="1" lIns="0" numCol="1" rIns="0">
              <a:spAutoFit/>
            </a:bodyPr>
            <a:lstStyle/>
            <a:p>
              <a:pPr indent="0" marL="0"/>
              <a:r>
                <a:rPr dirty="0" lang="en-US" smtClean="0" sz="11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/>
              </a:r>
              <a:br>
                <a:rPr dirty="0" lang="en-US" smtClean="0" sz="110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Many Others</a:t>
              </a:r>
              <a:b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</a:p>
          </p:txBody>
        </p:sp>
      </p:grpSp>
      <p:sp>
        <p:nvSpPr>
          <p:cNvPr id="105" name="Text Box 105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PPP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Layered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Architecture</a:t>
            </a:r>
          </a:p>
        </p:txBody>
      </p:sp>
      <p:sp>
        <p:nvSpPr>
          <p:cNvPr id="106" name="Text Box 106"/>
          <p:cNvSpPr>
            <a:spLocks/>
          </p:cNvSpPr>
          <p:nvPr>
            <p:ph type="body"/>
          </p:nvPr>
        </p:nvSpPr>
        <p:spPr>
          <a:xfrm>
            <a:off x="152400" y="4572000"/>
            <a:ext cx="8839200" cy="21336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PPP uses the Network Control Protocols (NCPs) </a:t>
            </a:r>
            <a:r>
              <a:rPr dirty="0" i="1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to permit multiple network layer protocols to operate on the same communications link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.</a:t>
            </a:r>
          </a:p>
        </p:txBody>
      </p:sp>
      <p:grpSp>
        <p:nvGrpSpPr>
          <p:cNvPr id="107" name="Group 107"/>
          <p:cNvGrpSpPr>
            <a:grpSpLocks noChangeAspect="0" noGrp="0" noMove="0" noRot="0" noSelect="0" noUngrp="0"/>
          </p:cNvGrpSpPr>
          <p:nvPr/>
        </p:nvGrpSpPr>
        <p:grpSpPr>
          <a:xfrm>
            <a:off x="1143000" y="3657600"/>
            <a:ext cx="7239000" cy="860425"/>
            <a:chOff x="768" y="2784"/>
            <a:chExt cx="4560" cy="542"/>
          </a:xfrm>
        </p:grpSpPr>
        <p:sp>
          <p:nvSpPr>
            <p:cNvPr id="108" name="Text Box 108"/>
            <p:cNvSpPr txBox="1">
              <a:spLocks/>
            </p:cNvSpPr>
            <p:nvPr/>
          </p:nvSpPr>
          <p:spPr>
            <a:xfrm>
              <a:off x="768" y="2784"/>
              <a:ext cx="3120" cy="542"/>
            </a:xfrm>
            <a:prstGeom prst="rect">
              <a:avLst/>
            </a:prstGeom>
            <a:solidFill>
              <a:srgbClr val="008000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anchor="ctr" anchorCtr="1" lIns="0" numCol="1" rIns="0">
              <a:spAutoFit/>
            </a:bodyPr>
            <a:lstStyle/>
            <a:p>
              <a:pPr indent="0" marL="0"/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Synchronous or Asynchronous</a:t>
              </a:r>
              <a:b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Physical Medium</a:t>
              </a:r>
            </a:p>
          </p:txBody>
        </p:sp>
        <p:sp>
          <p:nvSpPr>
            <p:cNvPr id="109" name="Text Box 109"/>
            <p:cNvSpPr>
              <a:spLocks/>
            </p:cNvSpPr>
            <p:nvPr/>
          </p:nvSpPr>
          <p:spPr>
            <a:xfrm>
              <a:off x="3888" y="2784"/>
              <a:ext cx="14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</p:spPr>
        </p:sp>
        <p:sp>
          <p:nvSpPr>
            <p:cNvPr id="110" name="Text Box 110"/>
            <p:cNvSpPr txBox="1">
              <a:spLocks/>
            </p:cNvSpPr>
            <p:nvPr/>
          </p:nvSpPr>
          <p:spPr>
            <a:xfrm>
              <a:off x="3936" y="2928"/>
              <a:ext cx="139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="t" anchorCtr="1" lIns="0" numCol="1" rIns="0">
              <a:spAutoFit/>
            </a:bodyPr>
            <a:lstStyle/>
            <a:p>
              <a:pPr algn="l" indent="0" marL="0"/>
              <a:r>
                <a:rPr dirty="0" lang="en-US" smtClean="0">
                  <a:solidFill>
                    <a:srgbClr val="FF3300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Physical Layer</a:t>
              </a:r>
            </a:p>
          </p:txBody>
        </p:sp>
      </p:grpSp>
      <p:sp>
        <p:nvSpPr>
          <p:cNvPr id="111" name="Text Box 111"/>
          <p:cNvSpPr txBox="1">
            <a:spLocks/>
          </p:cNvSpPr>
          <p:nvPr/>
        </p:nvSpPr>
        <p:spPr>
          <a:xfrm>
            <a:off x="1143000" y="1981200"/>
            <a:ext cx="4953000" cy="860425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anchor="ctr" anchorCtr="1" lIns="0" numCol="1" rIns="0">
            <a:spAutoFit/>
          </a:bodyPr>
          <a:lstStyle/>
          <a:p>
            <a:pPr indent="0" marL="0"/>
            <a:r>
              <a:rPr dirty="0" lang="en-US" smtClean="0" sz="1200">
                <a:solidFill>
                  <a:schemeClr val="tx1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/>
            </a:r>
            <a:br>
              <a:rPr dirty="0" lang="en-US" smtClean="0" sz="1200">
                <a:solidFill>
                  <a:schemeClr val="tx1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  <a:r>
              <a:rPr dirty="0" lang="en-US" smtClean="0">
                <a:solidFill>
                  <a:schemeClr val="tx1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Network Control Protocols (NCPs)</a:t>
            </a:r>
            <a:br>
              <a:rPr dirty="0" lang="en-US" smtClean="0">
                <a:solidFill>
                  <a:schemeClr val="tx1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</a:p>
        </p:txBody>
      </p:sp>
      <p:sp>
        <p:nvSpPr>
          <p:cNvPr id="112" name="Text Box 112"/>
          <p:cNvSpPr txBox="1">
            <a:spLocks/>
          </p:cNvSpPr>
          <p:nvPr/>
        </p:nvSpPr>
        <p:spPr>
          <a:xfrm>
            <a:off x="6248400" y="25908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="t" anchorCtr="1" lIns="0" numCol="1" rIns="0">
            <a:spAutoFit/>
          </a:bodyPr>
          <a:lstStyle/>
          <a:p>
            <a:pPr algn="l" indent="0" marL="0"/>
            <a:r>
              <a:rPr dirty="0" lang="en-US" smtClean="0">
                <a:solidFill>
                  <a:srgbClr val="FF33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Data Link Layer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Box 113"/>
          <p:cNvSpPr txBox="1">
            <a:spLocks/>
          </p:cNvSpPr>
          <p:nvPr/>
        </p:nvSpPr>
        <p:spPr>
          <a:xfrm>
            <a:off x="1143000" y="2819400"/>
            <a:ext cx="4953000" cy="860425"/>
          </a:xfrm>
          <a:prstGeom prst="rect">
            <a:avLst/>
          </a:prstGeom>
          <a:solidFill>
            <a:srgbClr val="3366FF"/>
          </a:solidFill>
          <a:ln w="38100">
            <a:solidFill>
              <a:schemeClr val="bg1"/>
            </a:solidFill>
            <a:round/>
            <a:headEnd/>
            <a:tailEnd/>
          </a:ln>
        </p:spPr>
        <p:txBody>
          <a:bodyPr anchor="ctr" anchorCtr="1" lIns="0" numCol="1" rIns="0">
            <a:spAutoFit/>
          </a:bodyPr>
          <a:lstStyle/>
          <a:p>
            <a:pPr indent="0" marL="0"/>
            <a:r>
              <a:rPr dirty="0" lang="en-US" smtClean="0" sz="1200">
                <a:effectLst>
                  <a:outerShdw algn="tl" blurRad="38100" dir="2700000" dist="38100">
                    <a:srgbClr val="C0C0C0"/>
                  </a:outerShdw>
                </a:effectLst>
              </a:rPr>
              <a:t/>
            </a:r>
            <a:br>
              <a:rPr dirty="0" lang="en-US" smtClean="0" sz="120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Link Control Protocol (LCP)</a:t>
            </a:r>
            <a:b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</a:p>
        </p:txBody>
      </p:sp>
      <p:sp>
        <p:nvSpPr>
          <p:cNvPr id="114" name="Text Box 114"/>
          <p:cNvSpPr>
            <a:spLocks/>
          </p:cNvSpPr>
          <p:nvPr/>
        </p:nvSpPr>
        <p:spPr>
          <a:xfrm>
            <a:off x="6096000" y="1981200"/>
            <a:ext cx="22860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</p:spPr>
      </p:sp>
      <p:sp>
        <p:nvSpPr>
          <p:cNvPr id="115" name="Text Box 115"/>
          <p:cNvSpPr txBox="1">
            <a:spLocks/>
          </p:cNvSpPr>
          <p:nvPr/>
        </p:nvSpPr>
        <p:spPr>
          <a:xfrm>
            <a:off x="6172200" y="12954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="t" anchorCtr="1" lIns="0" numCol="1" rIns="0">
            <a:spAutoFit/>
          </a:bodyPr>
          <a:lstStyle/>
          <a:p>
            <a:pPr algn="l" indent="0" marL="0"/>
            <a:r>
              <a:rPr dirty="0" lang="en-US" smtClean="0">
                <a:solidFill>
                  <a:srgbClr val="FF33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Network Layer</a:t>
            </a:r>
          </a:p>
        </p:txBody>
      </p:sp>
      <p:sp>
        <p:nvSpPr>
          <p:cNvPr id="116" name="Text Box 116"/>
          <p:cNvSpPr txBox="1">
            <a:spLocks/>
          </p:cNvSpPr>
          <p:nvPr/>
        </p:nvSpPr>
        <p:spPr>
          <a:xfrm>
            <a:off x="1143000" y="1143000"/>
            <a:ext cx="1295400" cy="831850"/>
          </a:xfrm>
          <a:prstGeom prst="rect">
            <a:avLst/>
          </a:prstGeom>
          <a:solidFill>
            <a:srgbClr val="800000"/>
          </a:solidFill>
          <a:ln w="38100">
            <a:solidFill>
              <a:schemeClr val="bg1"/>
            </a:solidFill>
            <a:round/>
            <a:headEnd/>
            <a:tailEnd/>
          </a:ln>
        </p:spPr>
        <p:txBody>
          <a:bodyPr anchor="ctr" anchorCtr="1" lIns="0" numCol="1" rIns="0">
            <a:spAutoFit/>
          </a:bodyPr>
          <a:lstStyle/>
          <a:p>
            <a:pPr indent="0" marL="0"/>
            <a:r>
              <a:rPr dirty="0" lang="en-US" smtClean="0" sz="1100">
                <a:effectLst>
                  <a:outerShdw algn="tl" blurRad="38100" dir="2700000" dist="38100">
                    <a:srgbClr val="C0C0C0"/>
                  </a:outerShdw>
                </a:effectLst>
              </a:rPr>
              <a:t/>
            </a:r>
            <a:br>
              <a:rPr dirty="0" lang="en-US" smtClean="0" sz="110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IP</a:t>
            </a:r>
            <a:b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</a:p>
        </p:txBody>
      </p:sp>
      <p:sp>
        <p:nvSpPr>
          <p:cNvPr id="117" name="Text Box 117"/>
          <p:cNvSpPr txBox="1">
            <a:spLocks/>
          </p:cNvSpPr>
          <p:nvPr/>
        </p:nvSpPr>
        <p:spPr>
          <a:xfrm>
            <a:off x="2438400" y="1143000"/>
            <a:ext cx="1295400" cy="831850"/>
          </a:xfrm>
          <a:prstGeom prst="rect">
            <a:avLst/>
          </a:prstGeom>
          <a:solidFill>
            <a:srgbClr val="800000"/>
          </a:solidFill>
          <a:ln w="38100">
            <a:solidFill>
              <a:schemeClr val="bg1"/>
            </a:solidFill>
            <a:round/>
            <a:headEnd/>
            <a:tailEnd/>
          </a:ln>
        </p:spPr>
        <p:txBody>
          <a:bodyPr anchor="ctr" anchorCtr="1" lIns="0" numCol="1" rIns="0">
            <a:spAutoFit/>
          </a:bodyPr>
          <a:lstStyle/>
          <a:p>
            <a:pPr indent="0" marL="0"/>
            <a:r>
              <a:rPr dirty="0" lang="en-US" smtClean="0" sz="1100">
                <a:effectLst>
                  <a:outerShdw algn="tl" blurRad="38100" dir="2700000" dist="38100">
                    <a:srgbClr val="C0C0C0"/>
                  </a:outerShdw>
                </a:effectLst>
              </a:rPr>
              <a:t/>
            </a:r>
            <a:br>
              <a:rPr dirty="0" lang="en-US" smtClean="0" sz="110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IPX</a:t>
            </a:r>
            <a:b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</a:p>
        </p:txBody>
      </p:sp>
      <p:sp>
        <p:nvSpPr>
          <p:cNvPr id="118" name="Text Box 118"/>
          <p:cNvSpPr txBox="1">
            <a:spLocks/>
          </p:cNvSpPr>
          <p:nvPr/>
        </p:nvSpPr>
        <p:spPr>
          <a:xfrm>
            <a:off x="3733800" y="1143000"/>
            <a:ext cx="2362200" cy="831850"/>
          </a:xfrm>
          <a:prstGeom prst="rect">
            <a:avLst/>
          </a:prstGeom>
          <a:solidFill>
            <a:srgbClr val="800000"/>
          </a:solidFill>
          <a:ln w="38100">
            <a:solidFill>
              <a:schemeClr val="bg1"/>
            </a:solidFill>
            <a:round/>
            <a:headEnd/>
            <a:tailEnd/>
          </a:ln>
        </p:spPr>
        <p:txBody>
          <a:bodyPr anchor="ctr" anchorCtr="1" lIns="0" numCol="1" rIns="0">
            <a:spAutoFit/>
          </a:bodyPr>
          <a:lstStyle/>
          <a:p>
            <a:pPr indent="0" marL="0"/>
            <a:r>
              <a:rPr dirty="0" lang="en-US" smtClean="0" sz="1100">
                <a:effectLst>
                  <a:outerShdw algn="tl" blurRad="38100" dir="2700000" dist="38100">
                    <a:srgbClr val="C0C0C0"/>
                  </a:outerShdw>
                </a:effectLst>
              </a:rPr>
              <a:t/>
            </a:r>
            <a:br>
              <a:rPr dirty="0" lang="en-US" smtClean="0" sz="110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Many Others</a:t>
            </a:r>
            <a:b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</a:p>
        </p:txBody>
      </p:sp>
      <p:sp>
        <p:nvSpPr>
          <p:cNvPr id="119" name="Text Box 119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PPP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Layered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Architecture</a:t>
            </a:r>
          </a:p>
        </p:txBody>
      </p:sp>
      <p:sp>
        <p:nvSpPr>
          <p:cNvPr id="120" name="Text Box 120"/>
          <p:cNvSpPr>
            <a:spLocks/>
          </p:cNvSpPr>
          <p:nvPr>
            <p:ph type="body"/>
          </p:nvPr>
        </p:nvSpPr>
        <p:spPr>
          <a:xfrm>
            <a:off x="152400" y="4572000"/>
            <a:ext cx="8839200" cy="21336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For every network layer protocol used, </a:t>
            </a:r>
            <a:r>
              <a:rPr dirty="0" i="1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a separate Network Control Protocol (NCP) is provided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.</a:t>
            </a:r>
          </a:p>
          <a:p>
            <a:pPr indent="-288925" lvl="1" marL="855662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NCPs include functional fields containing standardized codes to indicate the network layer protocol type that PPP encapsulates.  </a:t>
            </a:r>
          </a:p>
        </p:txBody>
      </p:sp>
      <p:grpSp>
        <p:nvGrpSpPr>
          <p:cNvPr id="121" name="Group 121"/>
          <p:cNvGrpSpPr>
            <a:grpSpLocks noChangeAspect="0" noGrp="0" noMove="0" noRot="0" noSelect="0" noUngrp="0"/>
          </p:cNvGrpSpPr>
          <p:nvPr/>
        </p:nvGrpSpPr>
        <p:grpSpPr>
          <a:xfrm>
            <a:off x="1143000" y="3657600"/>
            <a:ext cx="7239000" cy="860425"/>
            <a:chOff x="768" y="2784"/>
            <a:chExt cx="4560" cy="542"/>
          </a:xfrm>
        </p:grpSpPr>
        <p:sp>
          <p:nvSpPr>
            <p:cNvPr id="122" name="Text Box 122"/>
            <p:cNvSpPr txBox="1">
              <a:spLocks/>
            </p:cNvSpPr>
            <p:nvPr/>
          </p:nvSpPr>
          <p:spPr>
            <a:xfrm>
              <a:off x="768" y="2784"/>
              <a:ext cx="3120" cy="542"/>
            </a:xfrm>
            <a:prstGeom prst="rect">
              <a:avLst/>
            </a:prstGeom>
            <a:solidFill>
              <a:srgbClr val="008000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anchor="ctr" anchorCtr="1" lIns="0" numCol="1" rIns="0">
              <a:spAutoFit/>
            </a:bodyPr>
            <a:lstStyle/>
            <a:p>
              <a:pPr indent="0" marL="0"/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Synchronous or Asynchronous</a:t>
              </a:r>
              <a:b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Physical Medium</a:t>
              </a:r>
            </a:p>
          </p:txBody>
        </p:sp>
        <p:sp>
          <p:nvSpPr>
            <p:cNvPr id="123" name="Text Box 123"/>
            <p:cNvSpPr>
              <a:spLocks/>
            </p:cNvSpPr>
            <p:nvPr/>
          </p:nvSpPr>
          <p:spPr>
            <a:xfrm>
              <a:off x="3888" y="2784"/>
              <a:ext cx="144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</p:spPr>
        </p:sp>
        <p:sp>
          <p:nvSpPr>
            <p:cNvPr id="124" name="Text Box 124"/>
            <p:cNvSpPr txBox="1">
              <a:spLocks/>
            </p:cNvSpPr>
            <p:nvPr/>
          </p:nvSpPr>
          <p:spPr>
            <a:xfrm>
              <a:off x="3936" y="2928"/>
              <a:ext cx="139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="t" anchorCtr="1" lIns="0" numCol="1" rIns="0">
              <a:spAutoFit/>
            </a:bodyPr>
            <a:lstStyle/>
            <a:p>
              <a:pPr algn="l" indent="0" marL="0"/>
              <a:r>
                <a:rPr dirty="0" lang="en-US" smtClean="0">
                  <a:solidFill>
                    <a:srgbClr val="FF3300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Physical Layer</a:t>
              </a:r>
            </a:p>
          </p:txBody>
        </p:sp>
      </p:grpSp>
      <p:sp>
        <p:nvSpPr>
          <p:cNvPr id="125" name="Text Box 125"/>
          <p:cNvSpPr txBox="1">
            <a:spLocks/>
          </p:cNvSpPr>
          <p:nvPr/>
        </p:nvSpPr>
        <p:spPr>
          <a:xfrm>
            <a:off x="6248400" y="25908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="t" anchorCtr="1" lIns="0" numCol="1" rIns="0">
            <a:spAutoFit/>
          </a:bodyPr>
          <a:lstStyle/>
          <a:p>
            <a:pPr algn="l" indent="0" marL="0"/>
            <a:r>
              <a:rPr dirty="0" lang="en-US" smtClean="0">
                <a:solidFill>
                  <a:srgbClr val="FF33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Data Link Layer</a:t>
            </a:r>
          </a:p>
        </p:txBody>
      </p:sp>
      <p:grpSp>
        <p:nvGrpSpPr>
          <p:cNvPr id="126" name="Group 126"/>
          <p:cNvGrpSpPr>
            <a:grpSpLocks noChangeAspect="0" noGrp="0" noMove="0" noRot="0" noSelect="0" noUngrp="0"/>
          </p:cNvGrpSpPr>
          <p:nvPr/>
        </p:nvGrpSpPr>
        <p:grpSpPr>
          <a:xfrm>
            <a:off x="1143000" y="1981200"/>
            <a:ext cx="4953000" cy="831850"/>
            <a:chOff x="720" y="1248"/>
            <a:chExt cx="3120" cy="524"/>
          </a:xfrm>
        </p:grpSpPr>
        <p:sp>
          <p:nvSpPr>
            <p:cNvPr id="127" name="Text Box 127"/>
            <p:cNvSpPr txBox="1">
              <a:spLocks/>
            </p:cNvSpPr>
            <p:nvPr/>
          </p:nvSpPr>
          <p:spPr>
            <a:xfrm>
              <a:off x="720" y="1248"/>
              <a:ext cx="816" cy="524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anchor="ctr" anchorCtr="1" lIns="0" numCol="1" rIns="0">
              <a:spAutoFit/>
            </a:bodyPr>
            <a:lstStyle/>
            <a:p>
              <a:pPr indent="0" marL="0"/>
              <a:r>
                <a:rPr dirty="0" lang="en-US" smtClean="0" sz="1100">
                  <a:solidFill>
                    <a:schemeClr val="tx1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/>
              </a:r>
              <a:br>
                <a:rPr dirty="0" lang="en-US" smtClean="0" sz="1100">
                  <a:solidFill>
                    <a:schemeClr val="tx1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>
                  <a:solidFill>
                    <a:schemeClr val="tx1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IPCP</a:t>
              </a:r>
              <a:br>
                <a:rPr dirty="0" lang="en-US" smtClean="0">
                  <a:solidFill>
                    <a:schemeClr val="tx1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</a:p>
          </p:txBody>
        </p:sp>
        <p:sp>
          <p:nvSpPr>
            <p:cNvPr id="128" name="Text Box 128"/>
            <p:cNvSpPr txBox="1">
              <a:spLocks/>
            </p:cNvSpPr>
            <p:nvPr/>
          </p:nvSpPr>
          <p:spPr>
            <a:xfrm>
              <a:off x="1536" y="1248"/>
              <a:ext cx="816" cy="524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anchor="ctr" anchorCtr="1" lIns="0" numCol="1" rIns="0">
              <a:spAutoFit/>
            </a:bodyPr>
            <a:lstStyle/>
            <a:p>
              <a:pPr indent="0" marL="0"/>
              <a:r>
                <a:rPr dirty="0" lang="en-US" smtClean="0" sz="1100">
                  <a:solidFill>
                    <a:schemeClr val="tx1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/>
              </a:r>
              <a:br>
                <a:rPr dirty="0" lang="en-US" smtClean="0" sz="1100">
                  <a:solidFill>
                    <a:schemeClr val="tx1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>
                  <a:solidFill>
                    <a:schemeClr val="tx1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IPXCP</a:t>
              </a:r>
              <a:br>
                <a:rPr dirty="0" lang="en-US" smtClean="0">
                  <a:solidFill>
                    <a:schemeClr val="tx1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</a:p>
          </p:txBody>
        </p:sp>
        <p:sp>
          <p:nvSpPr>
            <p:cNvPr id="129" name="Text Box 129"/>
            <p:cNvSpPr txBox="1">
              <a:spLocks/>
            </p:cNvSpPr>
            <p:nvPr/>
          </p:nvSpPr>
          <p:spPr>
            <a:xfrm>
              <a:off x="2352" y="1248"/>
              <a:ext cx="1488" cy="524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anchor="ctr" anchorCtr="1" lIns="0" numCol="1" rIns="0">
              <a:spAutoFit/>
            </a:bodyPr>
            <a:lstStyle/>
            <a:p>
              <a:pPr indent="0" marL="0"/>
              <a:r>
                <a:rPr dirty="0" lang="en-US" smtClean="0" sz="1100">
                  <a:solidFill>
                    <a:schemeClr val="tx1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/>
              </a:r>
              <a:br>
                <a:rPr dirty="0" lang="en-US" smtClean="0" sz="1100">
                  <a:solidFill>
                    <a:schemeClr val="tx1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>
                  <a:solidFill>
                    <a:schemeClr val="tx1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Many Others</a:t>
              </a:r>
              <a:br>
                <a:rPr dirty="0" lang="en-US" smtClean="0">
                  <a:solidFill>
                    <a:schemeClr val="tx1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</a:p>
          </p:txBody>
        </p:sp>
      </p:grpSp>
      <p:sp>
        <p:nvSpPr>
          <p:cNvPr id="130" name="Text Box 130"/>
          <p:cNvSpPr>
            <a:spLocks/>
          </p:cNvSpPr>
          <p:nvPr/>
        </p:nvSpPr>
        <p:spPr>
          <a:xfrm>
            <a:off x="1676400" y="1676400"/>
            <a:ext cx="152400" cy="533400"/>
          </a:xfrm>
          <a:prstGeom prst="upDownArrow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 lIns="0" numCol="1" rIns="0">
            <a:spAutoFit/>
          </a:bodyPr>
          <a:lstStyle/>
          <a:p>
            <a:endParaRPr/>
          </a:p>
        </p:txBody>
      </p:sp>
      <p:sp>
        <p:nvSpPr>
          <p:cNvPr id="131" name="Text Box 131"/>
          <p:cNvSpPr>
            <a:spLocks/>
          </p:cNvSpPr>
          <p:nvPr/>
        </p:nvSpPr>
        <p:spPr>
          <a:xfrm>
            <a:off x="2971800" y="1676400"/>
            <a:ext cx="152400" cy="533400"/>
          </a:xfrm>
          <a:prstGeom prst="upDownArrow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 lIns="0" numCol="1" rIns="0">
            <a:spAutoFit/>
          </a:bodyPr>
          <a:lstStyle/>
          <a:p>
            <a:endParaRPr/>
          </a:p>
        </p:txBody>
      </p:sp>
      <p:sp>
        <p:nvSpPr>
          <p:cNvPr id="132" name="Text Box 132"/>
          <p:cNvSpPr>
            <a:spLocks/>
          </p:cNvSpPr>
          <p:nvPr/>
        </p:nvSpPr>
        <p:spPr>
          <a:xfrm>
            <a:off x="4724400" y="1676400"/>
            <a:ext cx="152400" cy="533400"/>
          </a:xfrm>
          <a:prstGeom prst="upDownArrow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 lIns="0" numCol="1" rIns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Box 133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i="1" lang="en-US" smtClean="0">
                <a:solidFill>
                  <a:srgbClr val="FF00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FYI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- PPP Protocol Suite</a:t>
            </a:r>
          </a:p>
        </p:txBody>
      </p:sp>
      <p:grpSp>
        <p:nvGrpSpPr>
          <p:cNvPr id="134" name="Group 134"/>
          <p:cNvGrpSpPr>
            <a:grpSpLocks noChangeAspect="0" noGrp="0" noMove="0" noRot="0" noSelect="0" noUngrp="0"/>
          </p:cNvGrpSpPr>
          <p:nvPr/>
        </p:nvGrpSpPr>
        <p:grpSpPr>
          <a:xfrm>
            <a:off x="609600" y="1219200"/>
            <a:ext cx="8001000" cy="5181600"/>
            <a:chOff x="384" y="768"/>
            <a:chExt cx="5040" cy="3264"/>
          </a:xfrm>
        </p:grpSpPr>
        <p:grpSp>
          <p:nvGrpSpPr>
            <p:cNvPr id="135" name="Group 135"/>
            <p:cNvGrpSpPr>
              <a:grpSpLocks noChangeAspect="0" noGrp="0" noMove="0" noRot="0" noSelect="0" noUngrp="0"/>
            </p:cNvGrpSpPr>
            <p:nvPr/>
          </p:nvGrpSpPr>
          <p:grpSpPr>
            <a:xfrm>
              <a:off x="384" y="2206"/>
              <a:ext cx="5040" cy="1494"/>
              <a:chOff x="528" y="1008"/>
              <a:chExt cx="4704" cy="392"/>
            </a:xfrm>
          </p:grpSpPr>
          <p:sp>
            <p:nvSpPr>
              <p:cNvPr id="136" name="Text Box 136"/>
              <p:cNvSpPr>
                <a:spLocks/>
              </p:cNvSpPr>
              <p:nvPr/>
            </p:nvSpPr>
            <p:spPr>
              <a:xfrm>
                <a:off x="1459" y="1008"/>
                <a:ext cx="3773" cy="392"/>
              </a:xfrm>
              <a:prstGeom prst="rect">
                <a:avLst/>
              </a:prstGeom>
              <a:solidFill>
                <a:srgbClr val="99CC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numCol="1"/>
              <a:lstStyle/>
              <a:p>
                <a:endParaRPr/>
              </a:p>
            </p:txBody>
          </p:sp>
          <p:sp>
            <p:nvSpPr>
              <p:cNvPr id="137" name="Text Box 137"/>
              <p:cNvSpPr>
                <a:spLocks/>
              </p:cNvSpPr>
              <p:nvPr/>
            </p:nvSpPr>
            <p:spPr>
              <a:xfrm>
                <a:off x="528" y="1008"/>
                <a:ext cx="931" cy="392"/>
              </a:xfrm>
              <a:prstGeom prst="rect">
                <a:avLst/>
              </a:prstGeom>
              <a:solidFill>
                <a:srgbClr val="006666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 anchorCtr="1" numCol="1"/>
              <a:lstStyle/>
              <a:p>
                <a:pPr algn="l" indent="0" marL="0">
                  <a:spcBef>
                    <a:spcPct val="20000"/>
                  </a:spcBef>
                  <a:buNone/>
                </a:pPr>
                <a:r>
                  <a:rPr dirty="0" lang="en-US" smtClean="0" sz="1600">
                    <a:effectLst>
                      <a:outerShdw algn="tl" blurRad="38100" dir="2700000" dist="38100">
                        <a:srgbClr val="C0C0C0"/>
                      </a:outerShdw>
                    </a:effectLst>
                  </a:rPr>
                  <a:t>Data Link</a:t>
                </a:r>
              </a:p>
            </p:txBody>
          </p:sp>
          <p:sp>
            <p:nvSpPr>
              <p:cNvPr id="138" name="Text Box 138"/>
              <p:cNvSpPr>
                <a:spLocks/>
              </p:cNvSpPr>
              <p:nvPr/>
            </p:nvSpPr>
            <p:spPr>
              <a:xfrm>
                <a:off x="528" y="1008"/>
                <a:ext cx="47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sp>
          <p:sp>
            <p:nvSpPr>
              <p:cNvPr id="139" name="Text Box 139"/>
              <p:cNvSpPr>
                <a:spLocks/>
              </p:cNvSpPr>
              <p:nvPr/>
            </p:nvSpPr>
            <p:spPr>
              <a:xfrm>
                <a:off x="528" y="1400"/>
                <a:ext cx="47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sp>
        </p:grpSp>
        <p:grpSp>
          <p:nvGrpSpPr>
            <p:cNvPr id="140" name="Group 140"/>
            <p:cNvGrpSpPr>
              <a:grpSpLocks noChangeAspect="0" noGrp="0" noMove="0" noRot="0" noSelect="0" noUngrp="0"/>
            </p:cNvGrpSpPr>
            <p:nvPr/>
          </p:nvGrpSpPr>
          <p:grpSpPr>
            <a:xfrm>
              <a:off x="384" y="3700"/>
              <a:ext cx="5040" cy="332"/>
              <a:chOff x="528" y="1008"/>
              <a:chExt cx="4704" cy="392"/>
            </a:xfrm>
          </p:grpSpPr>
          <p:sp>
            <p:nvSpPr>
              <p:cNvPr id="141" name="Text Box 141"/>
              <p:cNvSpPr>
                <a:spLocks/>
              </p:cNvSpPr>
              <p:nvPr/>
            </p:nvSpPr>
            <p:spPr>
              <a:xfrm>
                <a:off x="1459" y="1008"/>
                <a:ext cx="3773" cy="392"/>
              </a:xfrm>
              <a:prstGeom prst="rect">
                <a:avLst/>
              </a:prstGeom>
              <a:solidFill>
                <a:srgbClr val="99CC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numCol="1"/>
              <a:lstStyle/>
              <a:p>
                <a:endParaRPr/>
              </a:p>
            </p:txBody>
          </p:sp>
          <p:sp>
            <p:nvSpPr>
              <p:cNvPr id="142" name="Text Box 142"/>
              <p:cNvSpPr>
                <a:spLocks/>
              </p:cNvSpPr>
              <p:nvPr/>
            </p:nvSpPr>
            <p:spPr>
              <a:xfrm>
                <a:off x="528" y="1008"/>
                <a:ext cx="931" cy="392"/>
              </a:xfrm>
              <a:prstGeom prst="rect">
                <a:avLst/>
              </a:prstGeom>
              <a:solidFill>
                <a:srgbClr val="006666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 anchorCtr="1" numCol="1"/>
              <a:lstStyle/>
              <a:p>
                <a:pPr algn="l" indent="0" marL="0">
                  <a:spcBef>
                    <a:spcPct val="20000"/>
                  </a:spcBef>
                  <a:buNone/>
                </a:pPr>
                <a:r>
                  <a:rPr dirty="0" lang="en-US" smtClean="0" sz="1600">
                    <a:effectLst>
                      <a:outerShdw algn="tl" blurRad="38100" dir="2700000" dist="38100">
                        <a:srgbClr val="C0C0C0"/>
                      </a:outerShdw>
                    </a:effectLst>
                  </a:rPr>
                  <a:t>Physical</a:t>
                </a:r>
              </a:p>
            </p:txBody>
          </p:sp>
          <p:sp>
            <p:nvSpPr>
              <p:cNvPr id="143" name="Text Box 143"/>
              <p:cNvSpPr>
                <a:spLocks/>
              </p:cNvSpPr>
              <p:nvPr/>
            </p:nvSpPr>
            <p:spPr>
              <a:xfrm>
                <a:off x="528" y="1008"/>
                <a:ext cx="47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sp>
          <p:sp>
            <p:nvSpPr>
              <p:cNvPr id="144" name="Text Box 144"/>
              <p:cNvSpPr>
                <a:spLocks/>
              </p:cNvSpPr>
              <p:nvPr/>
            </p:nvSpPr>
            <p:spPr>
              <a:xfrm>
                <a:off x="528" y="1400"/>
                <a:ext cx="47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sp>
        </p:grpSp>
        <p:grpSp>
          <p:nvGrpSpPr>
            <p:cNvPr id="145" name="Group 145"/>
            <p:cNvGrpSpPr>
              <a:grpSpLocks noChangeAspect="0" noGrp="0" noMove="0" noRot="0" noSelect="0" noUngrp="0"/>
            </p:cNvGrpSpPr>
            <p:nvPr/>
          </p:nvGrpSpPr>
          <p:grpSpPr>
            <a:xfrm>
              <a:off x="384" y="768"/>
              <a:ext cx="5040" cy="277"/>
              <a:chOff x="528" y="1008"/>
              <a:chExt cx="4704" cy="392"/>
            </a:xfrm>
          </p:grpSpPr>
          <p:sp>
            <p:nvSpPr>
              <p:cNvPr id="146" name="Text Box 146"/>
              <p:cNvSpPr>
                <a:spLocks/>
              </p:cNvSpPr>
              <p:nvPr/>
            </p:nvSpPr>
            <p:spPr>
              <a:xfrm>
                <a:off x="1459" y="1008"/>
                <a:ext cx="3773" cy="392"/>
              </a:xfrm>
              <a:prstGeom prst="rect">
                <a:avLst/>
              </a:prstGeom>
              <a:solidFill>
                <a:srgbClr val="99CC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numCol="1"/>
              <a:lstStyle/>
              <a:p>
                <a:endParaRPr/>
              </a:p>
            </p:txBody>
          </p:sp>
          <p:sp>
            <p:nvSpPr>
              <p:cNvPr id="147" name="Text Box 147"/>
              <p:cNvSpPr>
                <a:spLocks/>
              </p:cNvSpPr>
              <p:nvPr/>
            </p:nvSpPr>
            <p:spPr>
              <a:xfrm>
                <a:off x="528" y="1008"/>
                <a:ext cx="931" cy="392"/>
              </a:xfrm>
              <a:prstGeom prst="rect">
                <a:avLst/>
              </a:prstGeom>
              <a:solidFill>
                <a:srgbClr val="006666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 anchorCtr="1" numCol="1"/>
              <a:lstStyle/>
              <a:p>
                <a:pPr algn="l" indent="0" marL="0">
                  <a:spcBef>
                    <a:spcPct val="20000"/>
                  </a:spcBef>
                  <a:buNone/>
                </a:pPr>
                <a:r>
                  <a:rPr dirty="0" lang="en-US" smtClean="0" sz="1600">
                    <a:effectLst>
                      <a:outerShdw algn="tl" blurRad="38100" dir="2700000" dist="38100">
                        <a:srgbClr val="C0C0C0"/>
                      </a:outerShdw>
                    </a:effectLst>
                  </a:rPr>
                  <a:t>Application</a:t>
                </a:r>
              </a:p>
            </p:txBody>
          </p:sp>
          <p:sp>
            <p:nvSpPr>
              <p:cNvPr id="148" name="Text Box 148"/>
              <p:cNvSpPr>
                <a:spLocks/>
              </p:cNvSpPr>
              <p:nvPr/>
            </p:nvSpPr>
            <p:spPr>
              <a:xfrm>
                <a:off x="528" y="1008"/>
                <a:ext cx="47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sp>
          <p:sp>
            <p:nvSpPr>
              <p:cNvPr id="149" name="Text Box 149"/>
              <p:cNvSpPr>
                <a:spLocks/>
              </p:cNvSpPr>
              <p:nvPr/>
            </p:nvSpPr>
            <p:spPr>
              <a:xfrm>
                <a:off x="528" y="1400"/>
                <a:ext cx="47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sp>
        </p:grpSp>
        <p:grpSp>
          <p:nvGrpSpPr>
            <p:cNvPr id="150" name="Group 150"/>
            <p:cNvGrpSpPr>
              <a:grpSpLocks noChangeAspect="0" noGrp="0" noMove="0" noRot="0" noSelect="0" noUngrp="0"/>
            </p:cNvGrpSpPr>
            <p:nvPr/>
          </p:nvGrpSpPr>
          <p:grpSpPr>
            <a:xfrm>
              <a:off x="384" y="1045"/>
              <a:ext cx="5040" cy="276"/>
              <a:chOff x="528" y="1008"/>
              <a:chExt cx="4704" cy="392"/>
            </a:xfrm>
          </p:grpSpPr>
          <p:sp>
            <p:nvSpPr>
              <p:cNvPr id="151" name="Text Box 151"/>
              <p:cNvSpPr>
                <a:spLocks/>
              </p:cNvSpPr>
              <p:nvPr/>
            </p:nvSpPr>
            <p:spPr>
              <a:xfrm>
                <a:off x="1459" y="1008"/>
                <a:ext cx="3773" cy="392"/>
              </a:xfrm>
              <a:prstGeom prst="rect">
                <a:avLst/>
              </a:prstGeom>
              <a:solidFill>
                <a:srgbClr val="99CC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numCol="1"/>
              <a:lstStyle/>
              <a:p>
                <a:endParaRPr/>
              </a:p>
            </p:txBody>
          </p:sp>
          <p:sp>
            <p:nvSpPr>
              <p:cNvPr id="152" name="Text Box 152"/>
              <p:cNvSpPr>
                <a:spLocks/>
              </p:cNvSpPr>
              <p:nvPr/>
            </p:nvSpPr>
            <p:spPr>
              <a:xfrm>
                <a:off x="528" y="1008"/>
                <a:ext cx="931" cy="392"/>
              </a:xfrm>
              <a:prstGeom prst="rect">
                <a:avLst/>
              </a:prstGeom>
              <a:solidFill>
                <a:srgbClr val="006666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 anchorCtr="1" numCol="1"/>
              <a:lstStyle/>
              <a:p>
                <a:pPr algn="l" indent="0" marL="0">
                  <a:spcBef>
                    <a:spcPct val="20000"/>
                  </a:spcBef>
                  <a:buNone/>
                </a:pPr>
                <a:r>
                  <a:rPr dirty="0" lang="en-US" smtClean="0" sz="1600">
                    <a:effectLst>
                      <a:outerShdw algn="tl" blurRad="38100" dir="2700000" dist="38100">
                        <a:srgbClr val="C0C0C0"/>
                      </a:outerShdw>
                    </a:effectLst>
                  </a:rPr>
                  <a:t>Presentation</a:t>
                </a:r>
              </a:p>
            </p:txBody>
          </p:sp>
          <p:sp>
            <p:nvSpPr>
              <p:cNvPr id="153" name="Text Box 153"/>
              <p:cNvSpPr>
                <a:spLocks/>
              </p:cNvSpPr>
              <p:nvPr/>
            </p:nvSpPr>
            <p:spPr>
              <a:xfrm>
                <a:off x="528" y="1008"/>
                <a:ext cx="47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sp>
          <p:sp>
            <p:nvSpPr>
              <p:cNvPr id="154" name="Text Box 154"/>
              <p:cNvSpPr>
                <a:spLocks/>
              </p:cNvSpPr>
              <p:nvPr/>
            </p:nvSpPr>
            <p:spPr>
              <a:xfrm>
                <a:off x="528" y="1400"/>
                <a:ext cx="47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sp>
        </p:grpSp>
        <p:grpSp>
          <p:nvGrpSpPr>
            <p:cNvPr id="155" name="Group 155"/>
            <p:cNvGrpSpPr>
              <a:grpSpLocks noChangeAspect="0" noGrp="0" noMove="0" noRot="0" noSelect="0" noUngrp="0"/>
            </p:cNvGrpSpPr>
            <p:nvPr/>
          </p:nvGrpSpPr>
          <p:grpSpPr>
            <a:xfrm>
              <a:off x="384" y="1321"/>
              <a:ext cx="5040" cy="277"/>
              <a:chOff x="528" y="1008"/>
              <a:chExt cx="4704" cy="392"/>
            </a:xfrm>
          </p:grpSpPr>
          <p:sp>
            <p:nvSpPr>
              <p:cNvPr id="156" name="Text Box 156"/>
              <p:cNvSpPr>
                <a:spLocks/>
              </p:cNvSpPr>
              <p:nvPr/>
            </p:nvSpPr>
            <p:spPr>
              <a:xfrm>
                <a:off x="1459" y="1008"/>
                <a:ext cx="3773" cy="392"/>
              </a:xfrm>
              <a:prstGeom prst="rect">
                <a:avLst/>
              </a:prstGeom>
              <a:solidFill>
                <a:srgbClr val="99CC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numCol="1"/>
              <a:lstStyle/>
              <a:p>
                <a:endParaRPr/>
              </a:p>
            </p:txBody>
          </p:sp>
          <p:sp>
            <p:nvSpPr>
              <p:cNvPr id="157" name="Text Box 157"/>
              <p:cNvSpPr>
                <a:spLocks/>
              </p:cNvSpPr>
              <p:nvPr/>
            </p:nvSpPr>
            <p:spPr>
              <a:xfrm>
                <a:off x="528" y="1008"/>
                <a:ext cx="931" cy="392"/>
              </a:xfrm>
              <a:prstGeom prst="rect">
                <a:avLst/>
              </a:prstGeom>
              <a:solidFill>
                <a:srgbClr val="006666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 anchorCtr="1" numCol="1"/>
              <a:lstStyle/>
              <a:p>
                <a:pPr algn="l" indent="0" marL="0">
                  <a:spcBef>
                    <a:spcPct val="20000"/>
                  </a:spcBef>
                  <a:buNone/>
                </a:pPr>
                <a:r>
                  <a:rPr dirty="0" lang="en-US" smtClean="0" sz="1600">
                    <a:effectLst>
                      <a:outerShdw algn="tl" blurRad="38100" dir="2700000" dist="38100">
                        <a:srgbClr val="C0C0C0"/>
                      </a:outerShdw>
                    </a:effectLst>
                  </a:rPr>
                  <a:t>Session</a:t>
                </a:r>
              </a:p>
            </p:txBody>
          </p:sp>
          <p:sp>
            <p:nvSpPr>
              <p:cNvPr id="158" name="Text Box 158"/>
              <p:cNvSpPr>
                <a:spLocks/>
              </p:cNvSpPr>
              <p:nvPr/>
            </p:nvSpPr>
            <p:spPr>
              <a:xfrm>
                <a:off x="528" y="1008"/>
                <a:ext cx="47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sp>
          <p:sp>
            <p:nvSpPr>
              <p:cNvPr id="159" name="Text Box 159"/>
              <p:cNvSpPr>
                <a:spLocks/>
              </p:cNvSpPr>
              <p:nvPr/>
            </p:nvSpPr>
            <p:spPr>
              <a:xfrm>
                <a:off x="528" y="1400"/>
                <a:ext cx="47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sp>
        </p:grpSp>
        <p:grpSp>
          <p:nvGrpSpPr>
            <p:cNvPr id="160" name="Group 160"/>
            <p:cNvGrpSpPr>
              <a:grpSpLocks noChangeAspect="0" noGrp="0" noMove="0" noRot="0" noSelect="0" noUngrp="0"/>
            </p:cNvGrpSpPr>
            <p:nvPr/>
          </p:nvGrpSpPr>
          <p:grpSpPr>
            <a:xfrm>
              <a:off x="384" y="1598"/>
              <a:ext cx="5040" cy="276"/>
              <a:chOff x="528" y="1008"/>
              <a:chExt cx="4704" cy="392"/>
            </a:xfrm>
          </p:grpSpPr>
          <p:sp>
            <p:nvSpPr>
              <p:cNvPr id="161" name="Text Box 161"/>
              <p:cNvSpPr>
                <a:spLocks/>
              </p:cNvSpPr>
              <p:nvPr/>
            </p:nvSpPr>
            <p:spPr>
              <a:xfrm>
                <a:off x="1459" y="1008"/>
                <a:ext cx="3773" cy="392"/>
              </a:xfrm>
              <a:prstGeom prst="rect">
                <a:avLst/>
              </a:prstGeom>
              <a:solidFill>
                <a:srgbClr val="99CC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numCol="1"/>
              <a:lstStyle/>
              <a:p>
                <a:endParaRPr/>
              </a:p>
            </p:txBody>
          </p:sp>
          <p:sp>
            <p:nvSpPr>
              <p:cNvPr id="162" name="Text Box 162"/>
              <p:cNvSpPr>
                <a:spLocks/>
              </p:cNvSpPr>
              <p:nvPr/>
            </p:nvSpPr>
            <p:spPr>
              <a:xfrm>
                <a:off x="528" y="1008"/>
                <a:ext cx="931" cy="392"/>
              </a:xfrm>
              <a:prstGeom prst="rect">
                <a:avLst/>
              </a:prstGeom>
              <a:solidFill>
                <a:srgbClr val="006666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 anchorCtr="1" numCol="1"/>
              <a:lstStyle/>
              <a:p>
                <a:pPr algn="l" indent="0" marL="0">
                  <a:spcBef>
                    <a:spcPct val="20000"/>
                  </a:spcBef>
                  <a:buNone/>
                </a:pPr>
                <a:r>
                  <a:rPr dirty="0" lang="en-US" smtClean="0" sz="1600">
                    <a:effectLst>
                      <a:outerShdw algn="tl" blurRad="38100" dir="2700000" dist="38100">
                        <a:srgbClr val="C0C0C0"/>
                      </a:outerShdw>
                    </a:effectLst>
                  </a:rPr>
                  <a:t>Transport</a:t>
                </a:r>
              </a:p>
            </p:txBody>
          </p:sp>
          <p:sp>
            <p:nvSpPr>
              <p:cNvPr id="163" name="Text Box 163"/>
              <p:cNvSpPr>
                <a:spLocks/>
              </p:cNvSpPr>
              <p:nvPr/>
            </p:nvSpPr>
            <p:spPr>
              <a:xfrm>
                <a:off x="528" y="1008"/>
                <a:ext cx="47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sp>
          <p:sp>
            <p:nvSpPr>
              <p:cNvPr id="164" name="Text Box 164"/>
              <p:cNvSpPr>
                <a:spLocks/>
              </p:cNvSpPr>
              <p:nvPr/>
            </p:nvSpPr>
            <p:spPr>
              <a:xfrm>
                <a:off x="528" y="1400"/>
                <a:ext cx="47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sp>
        </p:grpSp>
        <p:grpSp>
          <p:nvGrpSpPr>
            <p:cNvPr id="165" name="Group 165"/>
            <p:cNvGrpSpPr>
              <a:grpSpLocks noChangeAspect="0" noGrp="0" noMove="0" noRot="0" noSelect="0" noUngrp="0"/>
            </p:cNvGrpSpPr>
            <p:nvPr/>
          </p:nvGrpSpPr>
          <p:grpSpPr>
            <a:xfrm>
              <a:off x="384" y="1874"/>
              <a:ext cx="5040" cy="332"/>
              <a:chOff x="528" y="1008"/>
              <a:chExt cx="4704" cy="392"/>
            </a:xfrm>
          </p:grpSpPr>
          <p:sp>
            <p:nvSpPr>
              <p:cNvPr id="166" name="Text Box 166"/>
              <p:cNvSpPr>
                <a:spLocks/>
              </p:cNvSpPr>
              <p:nvPr/>
            </p:nvSpPr>
            <p:spPr>
              <a:xfrm>
                <a:off x="1459" y="1008"/>
                <a:ext cx="3773" cy="392"/>
              </a:xfrm>
              <a:prstGeom prst="rect">
                <a:avLst/>
              </a:prstGeom>
              <a:solidFill>
                <a:srgbClr val="99CC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numCol="1"/>
              <a:lstStyle/>
              <a:p>
                <a:endParaRPr/>
              </a:p>
            </p:txBody>
          </p:sp>
          <p:sp>
            <p:nvSpPr>
              <p:cNvPr id="167" name="Text Box 167"/>
              <p:cNvSpPr>
                <a:spLocks/>
              </p:cNvSpPr>
              <p:nvPr/>
            </p:nvSpPr>
            <p:spPr>
              <a:xfrm>
                <a:off x="528" y="1008"/>
                <a:ext cx="931" cy="392"/>
              </a:xfrm>
              <a:prstGeom prst="rect">
                <a:avLst/>
              </a:prstGeom>
              <a:solidFill>
                <a:srgbClr val="006666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 anchorCtr="1" numCol="1"/>
              <a:lstStyle/>
              <a:p>
                <a:pPr algn="l" indent="0" marL="0">
                  <a:spcBef>
                    <a:spcPct val="20000"/>
                  </a:spcBef>
                  <a:buNone/>
                </a:pPr>
                <a:r>
                  <a:rPr dirty="0" lang="en-US" smtClean="0" sz="1600">
                    <a:effectLst>
                      <a:outerShdw algn="tl" blurRad="38100" dir="2700000" dist="38100">
                        <a:srgbClr val="C0C0C0"/>
                      </a:outerShdw>
                    </a:effectLst>
                  </a:rPr>
                  <a:t>Network</a:t>
                </a:r>
              </a:p>
            </p:txBody>
          </p:sp>
          <p:sp>
            <p:nvSpPr>
              <p:cNvPr id="168" name="Text Box 168"/>
              <p:cNvSpPr>
                <a:spLocks/>
              </p:cNvSpPr>
              <p:nvPr/>
            </p:nvSpPr>
            <p:spPr>
              <a:xfrm>
                <a:off x="528" y="1008"/>
                <a:ext cx="47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sp>
          <p:sp>
            <p:nvSpPr>
              <p:cNvPr id="169" name="Text Box 169"/>
              <p:cNvSpPr>
                <a:spLocks/>
              </p:cNvSpPr>
              <p:nvPr/>
            </p:nvSpPr>
            <p:spPr>
              <a:xfrm>
                <a:off x="528" y="1400"/>
                <a:ext cx="47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sp>
        </p:grpSp>
        <p:sp>
          <p:nvSpPr>
            <p:cNvPr id="170" name="Text Box 170"/>
            <p:cNvSpPr>
              <a:spLocks/>
            </p:cNvSpPr>
            <p:nvPr/>
          </p:nvSpPr>
          <p:spPr>
            <a:xfrm>
              <a:off x="384" y="768"/>
              <a:ext cx="0" cy="3264"/>
            </a:xfrm>
            <a:prstGeom prst="line">
              <a:avLst/>
            </a:prstGeom>
            <a:noFill/>
            <a:ln cap="sq" w="28575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171" name="Text Box 171"/>
            <p:cNvSpPr>
              <a:spLocks/>
            </p:cNvSpPr>
            <p:nvPr/>
          </p:nvSpPr>
          <p:spPr>
            <a:xfrm>
              <a:off x="1382" y="768"/>
              <a:ext cx="0" cy="32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172" name="Text Box 172"/>
            <p:cNvSpPr>
              <a:spLocks/>
            </p:cNvSpPr>
            <p:nvPr/>
          </p:nvSpPr>
          <p:spPr>
            <a:xfrm>
              <a:off x="5424" y="768"/>
              <a:ext cx="0" cy="3264"/>
            </a:xfrm>
            <a:prstGeom prst="line">
              <a:avLst/>
            </a:prstGeom>
            <a:noFill/>
            <a:ln cap="sq" w="28575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173" name="Text Box 173"/>
            <p:cNvSpPr txBox="1">
              <a:spLocks/>
            </p:cNvSpPr>
            <p:nvPr/>
          </p:nvSpPr>
          <p:spPr>
            <a:xfrm>
              <a:off x="1464" y="3423"/>
              <a:ext cx="3806" cy="2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round/>
              <a:headEnd/>
              <a:tailEnd/>
            </a:ln>
          </p:spPr>
          <p:txBody>
            <a:bodyPr anchor="ctr" anchorCtr="1" numCol="1"/>
            <a:lstStyle/>
            <a:p>
              <a:pPr indent="0" marL="0">
                <a:buNone/>
              </a:pPr>
              <a:r>
                <a:rPr b="1" dirty="0" lang="en-US" smtClean="0" sz="1600">
                  <a:solidFill>
                    <a:schemeClr val="tx1"/>
                  </a:solidFill>
                </a:rPr>
                <a:t>PPP</a:t>
              </a:r>
            </a:p>
          </p:txBody>
        </p:sp>
        <p:sp>
          <p:nvSpPr>
            <p:cNvPr id="174" name="Text Box 174"/>
            <p:cNvSpPr txBox="1">
              <a:spLocks/>
            </p:cNvSpPr>
            <p:nvPr/>
          </p:nvSpPr>
          <p:spPr>
            <a:xfrm>
              <a:off x="1875" y="3755"/>
              <a:ext cx="3043" cy="2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round/>
              <a:headEnd/>
              <a:tailEnd/>
            </a:ln>
          </p:spPr>
          <p:txBody>
            <a:bodyPr anchor="ctr" anchorCtr="1" numCol="1"/>
            <a:lstStyle/>
            <a:p>
              <a:pPr indent="0" marL="0">
                <a:buNone/>
              </a:pPr>
              <a:r>
                <a:rPr b="1" dirty="0" lang="en-US" smtClean="0" sz="1600">
                  <a:solidFill>
                    <a:schemeClr val="tx1"/>
                  </a:solidFill>
                </a:rPr>
                <a:t>LAN / WAN</a:t>
              </a:r>
            </a:p>
          </p:txBody>
        </p:sp>
        <p:sp>
          <p:nvSpPr>
            <p:cNvPr id="175" name="Text Box 175"/>
            <p:cNvSpPr txBox="1">
              <a:spLocks/>
            </p:cNvSpPr>
            <p:nvPr/>
          </p:nvSpPr>
          <p:spPr>
            <a:xfrm>
              <a:off x="1875" y="1930"/>
              <a:ext cx="3043" cy="2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round/>
              <a:headEnd/>
              <a:tailEnd/>
            </a:ln>
          </p:spPr>
          <p:txBody>
            <a:bodyPr anchor="ctr" anchorCtr="1" numCol="1"/>
            <a:lstStyle/>
            <a:p>
              <a:pPr indent="0" marL="0">
                <a:buNone/>
              </a:pPr>
              <a:r>
                <a:rPr b="1" dirty="0" lang="en-US" smtClean="0" sz="1600">
                  <a:solidFill>
                    <a:schemeClr val="tx1"/>
                  </a:solidFill>
                </a:rPr>
                <a:t>Multiple Network Protocols</a:t>
              </a:r>
            </a:p>
          </p:txBody>
        </p:sp>
        <p:sp>
          <p:nvSpPr>
            <p:cNvPr id="176" name="Text Box 176"/>
            <p:cNvSpPr>
              <a:spLocks/>
            </p:cNvSpPr>
            <p:nvPr/>
          </p:nvSpPr>
          <p:spPr>
            <a:xfrm>
              <a:off x="3830" y="3479"/>
              <a:ext cx="99" cy="401"/>
            </a:xfrm>
            <a:prstGeom prst="up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  <a:round/>
              <a:headEnd/>
              <a:tailEnd/>
            </a:ln>
          </p:spPr>
          <p:txBody>
            <a:bodyPr anchor="ctr" numCol="1" wrap="none"/>
            <a:lstStyle/>
            <a:p>
              <a:endParaRPr/>
            </a:p>
          </p:txBody>
        </p:sp>
        <p:sp>
          <p:nvSpPr>
            <p:cNvPr id="177" name="Text Box 177"/>
            <p:cNvSpPr txBox="1">
              <a:spLocks/>
            </p:cNvSpPr>
            <p:nvPr/>
          </p:nvSpPr>
          <p:spPr>
            <a:xfrm>
              <a:off x="1488" y="2304"/>
              <a:ext cx="1262" cy="5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round/>
              <a:headEnd/>
              <a:tailEnd/>
            </a:ln>
          </p:spPr>
          <p:txBody>
            <a:bodyPr anchor="ctr" anchorCtr="1" numCol="1"/>
            <a:lstStyle/>
            <a:p>
              <a:pPr indent="0" marL="0">
                <a:buNone/>
              </a:pPr>
              <a:r>
                <a:rPr b="1" dirty="0" lang="en-US" smtClean="0" sz="1600">
                  <a:solidFill>
                    <a:schemeClr val="tx1"/>
                  </a:solidFill>
                </a:rPr>
                <a:t>BAP, CHAP, EAP,</a:t>
              </a:r>
              <a:br>
                <a:rPr b="1" dirty="0" lang="en-US" smtClean="0" sz="1600">
                  <a:solidFill>
                    <a:schemeClr val="tx1"/>
                  </a:solidFill>
                </a:rPr>
              </a:br>
              <a:r>
                <a:rPr b="1" dirty="0" lang="en-US" smtClean="0" sz="1600">
                  <a:solidFill>
                    <a:schemeClr val="tx1"/>
                  </a:solidFill>
                </a:rPr>
                <a:t>LCP, LEX, LQR,</a:t>
              </a:r>
              <a:br>
                <a:rPr b="1" dirty="0" lang="en-US" smtClean="0" sz="1600">
                  <a:solidFill>
                    <a:schemeClr val="tx1"/>
                  </a:solidFill>
                </a:rPr>
              </a:br>
              <a:r>
                <a:rPr b="1" dirty="0" lang="en-US" smtClean="0" sz="1600">
                  <a:solidFill>
                    <a:schemeClr val="tx1"/>
                  </a:solidFill>
                </a:rPr>
                <a:t>PAP</a:t>
              </a:r>
            </a:p>
          </p:txBody>
        </p:sp>
        <p:sp>
          <p:nvSpPr>
            <p:cNvPr id="178" name="Text Box 178"/>
            <p:cNvSpPr txBox="1">
              <a:spLocks/>
            </p:cNvSpPr>
            <p:nvPr/>
          </p:nvSpPr>
          <p:spPr>
            <a:xfrm>
              <a:off x="3504" y="2352"/>
              <a:ext cx="1872" cy="8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round/>
              <a:headEnd/>
              <a:tailEnd/>
            </a:ln>
          </p:spPr>
          <p:txBody>
            <a:bodyPr anchor="ctr" anchorCtr="1" lIns="45720" numCol="1" rIns="45720"/>
            <a:lstStyle/>
            <a:p>
              <a:pPr algn="l" indent="0" marL="0">
                <a:buNone/>
              </a:pPr>
              <a:r>
                <a:rPr b="1" dirty="0" lang="en-US" smtClean="0" sz="1600">
                  <a:solidFill>
                    <a:schemeClr val="tx1"/>
                  </a:solidFill>
                </a:rPr>
                <a:t>ATCP	ECP	NBFCP</a:t>
              </a:r>
              <a:br>
                <a:rPr b="1" dirty="0" lang="en-US" smtClean="0" sz="1600">
                  <a:solidFill>
                    <a:schemeClr val="tx1"/>
                  </a:solidFill>
                </a:rPr>
              </a:br>
              <a:r>
                <a:rPr b="1" dirty="0" lang="en-US" smtClean="0" sz="1600">
                  <a:solidFill>
                    <a:schemeClr val="tx1"/>
                  </a:solidFill>
                </a:rPr>
                <a:t>BCP	IPCP	OSINLCP</a:t>
              </a:r>
              <a:br>
                <a:rPr b="1" dirty="0" lang="en-US" smtClean="0" sz="1600">
                  <a:solidFill>
                    <a:schemeClr val="tx1"/>
                  </a:solidFill>
                </a:rPr>
              </a:br>
              <a:r>
                <a:rPr b="1" dirty="0" lang="en-US" smtClean="0" sz="1600">
                  <a:solidFill>
                    <a:schemeClr val="tx1"/>
                  </a:solidFill>
                </a:rPr>
                <a:t>BACP	IPv6CP	SDCP</a:t>
              </a:r>
              <a:br>
                <a:rPr b="1" dirty="0" lang="en-US" smtClean="0" sz="1600">
                  <a:solidFill>
                    <a:schemeClr val="tx1"/>
                  </a:solidFill>
                </a:rPr>
              </a:br>
              <a:r>
                <a:rPr b="1" dirty="0" lang="en-US" smtClean="0" sz="1600">
                  <a:solidFill>
                    <a:schemeClr val="tx1"/>
                  </a:solidFill>
                </a:rPr>
                <a:t>CCP	IPXCP	SNACP</a:t>
              </a:r>
              <a:br>
                <a:rPr b="1" dirty="0" lang="en-US" smtClean="0" sz="1600">
                  <a:solidFill>
                    <a:schemeClr val="tx1"/>
                  </a:solidFill>
                </a:rPr>
              </a:br>
              <a:r>
                <a:rPr b="1" dirty="0" lang="en-US" smtClean="0" sz="1600">
                  <a:solidFill>
                    <a:schemeClr val="tx1"/>
                  </a:solidFill>
                </a:rPr>
                <a:t>DNCP	LEXCP	</a:t>
              </a:r>
            </a:p>
          </p:txBody>
        </p:sp>
        <p:sp>
          <p:nvSpPr>
            <p:cNvPr id="179" name="Text Box 179"/>
            <p:cNvSpPr txBox="1">
              <a:spLocks/>
            </p:cNvSpPr>
            <p:nvPr/>
          </p:nvSpPr>
          <p:spPr>
            <a:xfrm>
              <a:off x="1413" y="3036"/>
              <a:ext cx="874" cy="2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round/>
              <a:headEnd/>
              <a:tailEnd/>
            </a:ln>
          </p:spPr>
          <p:txBody>
            <a:bodyPr anchor="ctr" anchorCtr="1" numCol="1"/>
            <a:lstStyle/>
            <a:p>
              <a:pPr indent="0" marL="0">
                <a:buNone/>
              </a:pPr>
              <a:r>
                <a:rPr b="1" dirty="0" lang="en-US" smtClean="0" sz="1600">
                  <a:solidFill>
                    <a:schemeClr val="tx1"/>
                  </a:solidFill>
                </a:rPr>
                <a:t>PPP-BPDU</a:t>
              </a:r>
            </a:p>
          </p:txBody>
        </p:sp>
        <p:sp>
          <p:nvSpPr>
            <p:cNvPr id="180" name="Text Box 180"/>
            <p:cNvSpPr txBox="1">
              <a:spLocks/>
            </p:cNvSpPr>
            <p:nvPr/>
          </p:nvSpPr>
          <p:spPr>
            <a:xfrm>
              <a:off x="2448" y="2928"/>
              <a:ext cx="566" cy="2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round/>
              <a:headEnd/>
              <a:tailEnd/>
            </a:ln>
          </p:spPr>
          <p:txBody>
            <a:bodyPr anchor="ctr" anchorCtr="1" numCol="1"/>
            <a:lstStyle/>
            <a:p>
              <a:pPr indent="0" marL="0">
                <a:buNone/>
              </a:pPr>
              <a:r>
                <a:rPr b="1" dirty="0" lang="en-US" smtClean="0" sz="1600">
                  <a:solidFill>
                    <a:schemeClr val="tx1"/>
                  </a:solidFill>
                </a:rPr>
                <a:t>MLP</a:t>
              </a:r>
            </a:p>
          </p:txBody>
        </p:sp>
        <p:sp>
          <p:nvSpPr>
            <p:cNvPr id="181" name="Text Box 181"/>
            <p:cNvSpPr>
              <a:spLocks/>
            </p:cNvSpPr>
            <p:nvPr/>
          </p:nvSpPr>
          <p:spPr>
            <a:xfrm>
              <a:off x="2832" y="3072"/>
              <a:ext cx="96" cy="497"/>
            </a:xfrm>
            <a:prstGeom prst="up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  <a:round/>
              <a:headEnd/>
              <a:tailEnd/>
            </a:ln>
          </p:spPr>
          <p:txBody>
            <a:bodyPr anchor="ctr" numCol="1" wrap="none"/>
            <a:lstStyle/>
            <a:p>
              <a:endParaRPr/>
            </a:p>
          </p:txBody>
        </p:sp>
        <p:sp>
          <p:nvSpPr>
            <p:cNvPr id="182" name="Text Box 182"/>
            <p:cNvSpPr>
              <a:spLocks/>
            </p:cNvSpPr>
            <p:nvPr/>
          </p:nvSpPr>
          <p:spPr>
            <a:xfrm>
              <a:off x="1721" y="3202"/>
              <a:ext cx="100" cy="401"/>
            </a:xfrm>
            <a:prstGeom prst="up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  <a:round/>
              <a:headEnd/>
              <a:tailEnd/>
            </a:ln>
          </p:spPr>
          <p:txBody>
            <a:bodyPr anchor="ctr" numCol="1" wrap="none"/>
            <a:lstStyle/>
            <a:p>
              <a:endParaRPr/>
            </a:p>
          </p:txBody>
        </p:sp>
        <p:sp>
          <p:nvSpPr>
            <p:cNvPr id="183" name="Text Box 183"/>
            <p:cNvSpPr>
              <a:spLocks/>
            </p:cNvSpPr>
            <p:nvPr/>
          </p:nvSpPr>
          <p:spPr>
            <a:xfrm>
              <a:off x="2338" y="2688"/>
              <a:ext cx="110" cy="864"/>
            </a:xfrm>
            <a:prstGeom prst="up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  <a:round/>
              <a:headEnd/>
              <a:tailEnd/>
            </a:ln>
          </p:spPr>
          <p:txBody>
            <a:bodyPr anchor="ctr" numCol="1" wrap="none"/>
            <a:lstStyle/>
            <a:p>
              <a:endParaRPr/>
            </a:p>
          </p:txBody>
        </p:sp>
        <p:sp>
          <p:nvSpPr>
            <p:cNvPr id="184" name="Text Box 184"/>
            <p:cNvSpPr>
              <a:spLocks/>
            </p:cNvSpPr>
            <p:nvPr/>
          </p:nvSpPr>
          <p:spPr>
            <a:xfrm>
              <a:off x="5040" y="3024"/>
              <a:ext cx="96" cy="497"/>
            </a:xfrm>
            <a:prstGeom prst="up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  <a:round/>
              <a:headEnd/>
              <a:tailEnd/>
            </a:ln>
          </p:spPr>
          <p:txBody>
            <a:bodyPr anchor="ctr" numCol="1" wrap="none"/>
            <a:lstStyle/>
            <a:p>
              <a:endParaRPr/>
            </a:p>
          </p:txBody>
        </p:sp>
        <p:sp>
          <p:nvSpPr>
            <p:cNvPr id="185" name="Text Box 185"/>
            <p:cNvSpPr txBox="1">
              <a:spLocks/>
            </p:cNvSpPr>
            <p:nvPr/>
          </p:nvSpPr>
          <p:spPr>
            <a:xfrm>
              <a:off x="2784" y="2592"/>
              <a:ext cx="624" cy="2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round/>
              <a:headEnd/>
              <a:tailEnd/>
            </a:ln>
          </p:spPr>
          <p:txBody>
            <a:bodyPr anchor="ctr" anchorCtr="1" numCol="1"/>
            <a:lstStyle/>
            <a:p>
              <a:pPr indent="0" marL="0">
                <a:buNone/>
              </a:pPr>
              <a:r>
                <a:rPr b="1" dirty="0" lang="en-US" smtClean="0" sz="1600">
                  <a:solidFill>
                    <a:schemeClr val="tx1"/>
                  </a:solidFill>
                </a:rPr>
                <a:t>PPPoE</a:t>
              </a:r>
            </a:p>
          </p:txBody>
        </p:sp>
        <p:sp>
          <p:nvSpPr>
            <p:cNvPr id="186" name="Text Box 186"/>
            <p:cNvSpPr>
              <a:spLocks/>
            </p:cNvSpPr>
            <p:nvPr/>
          </p:nvSpPr>
          <p:spPr>
            <a:xfrm>
              <a:off x="3072" y="2784"/>
              <a:ext cx="110" cy="768"/>
            </a:xfrm>
            <a:prstGeom prst="up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  <a:round/>
              <a:headEnd/>
              <a:tailEnd/>
            </a:ln>
          </p:spPr>
          <p:txBody>
            <a:bodyPr anchor="ctr" numCol="1" wrap="none"/>
            <a:lstStyle/>
            <a:p>
              <a:endParaRPr/>
            </a:p>
          </p:txBody>
        </p:sp>
        <p:sp>
          <p:nvSpPr>
            <p:cNvPr id="187" name="Text Box 187"/>
            <p:cNvSpPr>
              <a:spLocks/>
            </p:cNvSpPr>
            <p:nvPr/>
          </p:nvSpPr>
          <p:spPr>
            <a:xfrm>
              <a:off x="4560" y="2064"/>
              <a:ext cx="96" cy="497"/>
            </a:xfrm>
            <a:prstGeom prst="up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  <a:round/>
              <a:headEnd/>
              <a:tailEnd/>
            </a:ln>
          </p:spPr>
          <p:txBody>
            <a:bodyPr anchor="ctr" numCol="1" wrap="none"/>
            <a:lstStyle/>
            <a:p>
              <a:endParaRPr/>
            </a:p>
          </p:txBody>
        </p:sp>
      </p:grpSp>
      <p:grpSp>
        <p:nvGrpSpPr>
          <p:cNvPr id="189" name="Group 189"/>
          <p:cNvGrpSpPr>
            <a:grpSpLocks noChangeAspect="0" noGrp="0" noMove="0" noRot="0" noSelect="0" noUngrp="0"/>
          </p:cNvGrpSpPr>
          <p:nvPr/>
        </p:nvGrpSpPr>
        <p:grpSpPr>
          <a:xfrm>
            <a:off x="457200" y="1600200"/>
            <a:ext cx="8458200" cy="4092575"/>
            <a:chOff x="288" y="1008"/>
            <a:chExt cx="5328" cy="2578"/>
          </a:xfrm>
        </p:grpSpPr>
        <p:sp>
          <p:nvSpPr>
            <p:cNvPr id="190" name="Text Box 190"/>
            <p:cNvSpPr>
              <a:spLocks/>
            </p:cNvSpPr>
            <p:nvPr/>
          </p:nvSpPr>
          <p:spPr>
            <a:xfrm flipH="1">
              <a:off x="5280" y="1344"/>
              <a:ext cx="0" cy="1152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none"/>
              <a:tailEnd type="triangle"/>
            </a:ln>
          </p:spPr>
        </p:sp>
        <p:sp>
          <p:nvSpPr>
            <p:cNvPr id="191" name="Text Box 191"/>
            <p:cNvSpPr txBox="1">
              <a:spLocks/>
            </p:cNvSpPr>
            <p:nvPr/>
          </p:nvSpPr>
          <p:spPr>
            <a:xfrm>
              <a:off x="4896" y="1104"/>
              <a:ext cx="720" cy="466"/>
            </a:xfrm>
            <a:prstGeom prst="rect">
              <a:avLst/>
            </a:prstGeom>
            <a:solidFill>
              <a:srgbClr val="003366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0" numCol="1" rIns="0">
              <a:spAutoFit/>
            </a:bodyPr>
            <a:lstStyle/>
            <a:p>
              <a:pPr indent="0" marL="0"/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Control Protocols</a:t>
              </a:r>
            </a:p>
          </p:txBody>
        </p:sp>
        <p:sp>
          <p:nvSpPr>
            <p:cNvPr id="192" name="Text Box 192"/>
            <p:cNvSpPr>
              <a:spLocks/>
            </p:cNvSpPr>
            <p:nvPr/>
          </p:nvSpPr>
          <p:spPr>
            <a:xfrm>
              <a:off x="912" y="2448"/>
              <a:ext cx="672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none"/>
              <a:tailEnd type="triangle"/>
            </a:ln>
          </p:spPr>
        </p:sp>
        <p:sp>
          <p:nvSpPr>
            <p:cNvPr id="193" name="Text Box 193"/>
            <p:cNvSpPr txBox="1">
              <a:spLocks/>
            </p:cNvSpPr>
            <p:nvPr/>
          </p:nvSpPr>
          <p:spPr>
            <a:xfrm>
              <a:off x="288" y="2256"/>
              <a:ext cx="864" cy="466"/>
            </a:xfrm>
            <a:prstGeom prst="rect">
              <a:avLst/>
            </a:prstGeom>
            <a:solidFill>
              <a:srgbClr val="003366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0" numCol="1" rIns="0">
              <a:spAutoFit/>
            </a:bodyPr>
            <a:lstStyle/>
            <a:p>
              <a:pPr indent="0" marL="0"/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Link Protocols</a:t>
              </a:r>
            </a:p>
          </p:txBody>
        </p:sp>
        <p:sp>
          <p:nvSpPr>
            <p:cNvPr id="194" name="Text Box 194"/>
            <p:cNvSpPr>
              <a:spLocks/>
            </p:cNvSpPr>
            <p:nvPr/>
          </p:nvSpPr>
          <p:spPr>
            <a:xfrm flipH="1">
              <a:off x="2688" y="1536"/>
              <a:ext cx="288" cy="144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none"/>
              <a:tailEnd type="triangle"/>
            </a:ln>
          </p:spPr>
        </p:sp>
        <p:sp>
          <p:nvSpPr>
            <p:cNvPr id="195" name="Text Box 195"/>
            <p:cNvSpPr txBox="1">
              <a:spLocks/>
            </p:cNvSpPr>
            <p:nvPr/>
          </p:nvSpPr>
          <p:spPr>
            <a:xfrm>
              <a:off x="2400" y="1440"/>
              <a:ext cx="816" cy="274"/>
            </a:xfrm>
            <a:prstGeom prst="rect">
              <a:avLst/>
            </a:prstGeom>
            <a:solidFill>
              <a:srgbClr val="003366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0" numCol="1" rIns="0">
              <a:spAutoFit/>
            </a:bodyPr>
            <a:lstStyle/>
            <a:p>
              <a:pPr indent="0" marL="0"/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Multilink</a:t>
              </a:r>
            </a:p>
          </p:txBody>
        </p:sp>
        <p:sp>
          <p:nvSpPr>
            <p:cNvPr id="196" name="Text Box 196"/>
            <p:cNvSpPr>
              <a:spLocks/>
            </p:cNvSpPr>
            <p:nvPr/>
          </p:nvSpPr>
          <p:spPr>
            <a:xfrm flipV="1">
              <a:off x="912" y="3168"/>
              <a:ext cx="528" cy="14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none"/>
              <a:tailEnd type="triangle"/>
            </a:ln>
          </p:spPr>
        </p:sp>
        <p:sp>
          <p:nvSpPr>
            <p:cNvPr id="197" name="Text Box 197"/>
            <p:cNvSpPr txBox="1">
              <a:spLocks/>
            </p:cNvSpPr>
            <p:nvPr/>
          </p:nvSpPr>
          <p:spPr>
            <a:xfrm>
              <a:off x="288" y="3120"/>
              <a:ext cx="720" cy="466"/>
            </a:xfrm>
            <a:prstGeom prst="rect">
              <a:avLst/>
            </a:prstGeom>
            <a:solidFill>
              <a:srgbClr val="003366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0" numCol="1" rIns="0">
              <a:spAutoFit/>
            </a:bodyPr>
            <a:lstStyle/>
            <a:p>
              <a:pPr indent="0" marL="0"/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Remote</a:t>
              </a:r>
              <a:b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Bridges</a:t>
              </a:r>
            </a:p>
          </p:txBody>
        </p:sp>
        <p:sp>
          <p:nvSpPr>
            <p:cNvPr id="198" name="Text Box 198"/>
            <p:cNvSpPr>
              <a:spLocks/>
            </p:cNvSpPr>
            <p:nvPr/>
          </p:nvSpPr>
          <p:spPr>
            <a:xfrm flipH="1">
              <a:off x="3360" y="1200"/>
              <a:ext cx="288" cy="144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none"/>
              <a:tailEnd type="triangle"/>
            </a:ln>
          </p:spPr>
        </p:sp>
        <p:sp>
          <p:nvSpPr>
            <p:cNvPr id="199" name="Text Box 199"/>
            <p:cNvSpPr txBox="1">
              <a:spLocks/>
            </p:cNvSpPr>
            <p:nvPr/>
          </p:nvSpPr>
          <p:spPr>
            <a:xfrm>
              <a:off x="3504" y="1008"/>
              <a:ext cx="864" cy="466"/>
            </a:xfrm>
            <a:prstGeom prst="rect">
              <a:avLst/>
            </a:prstGeom>
            <a:solidFill>
              <a:srgbClr val="003366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0" numCol="1" rIns="0">
              <a:spAutoFit/>
            </a:bodyPr>
            <a:lstStyle/>
            <a:p>
              <a:pPr indent="0" marL="0"/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PPP Over Ethernet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 Box 200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i="1" lang="en-US" smtClean="0">
                <a:solidFill>
                  <a:srgbClr val="FF00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FYI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- PPP Protocol Suite</a:t>
            </a:r>
          </a:p>
        </p:txBody>
      </p:sp>
      <p:sp>
        <p:nvSpPr>
          <p:cNvPr id="201" name="Text Box 201"/>
          <p:cNvSpPr>
            <a:spLocks/>
          </p:cNvSpPr>
          <p:nvPr>
            <p:ph type="body"/>
          </p:nvPr>
        </p:nvSpPr>
        <p:spPr>
          <a:xfrm>
            <a:off x="152400" y="1371600"/>
            <a:ext cx="8839200" cy="53340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PPP-BPDU: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 PPP Bridge Protocol Data Unit</a:t>
            </a:r>
          </a:p>
          <a:p>
            <a:pPr indent="-342900" marL="342900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MLP: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Multilink PPP</a:t>
            </a:r>
          </a:p>
          <a:p>
            <a:pPr indent="-342900" marL="342900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PPPoE: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 PPP Over Ethernet</a:t>
            </a:r>
            <a:b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</a:p>
          <a:p>
            <a:pPr indent="-342900" marL="342900"/>
            <a:r>
              <a:rPr dirty="0" i="1" lang="en-US" smtClean="0" u="sng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Link Protocols: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BAP: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 Bandwidth Allocation Protocol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CHAP: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 Challenge Handshake Authentication Protocol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EAP: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 Extensible Authentication Protocol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LCP: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 Link Control Protocol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LEX: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 LAN Extension Interface Protocol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LQR: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Link Quality Report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PAP: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 Password Authentication Protocol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 Box 202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i="1" lang="en-US" smtClean="0">
                <a:solidFill>
                  <a:srgbClr val="FF00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FYI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- PPP Protocol Suite</a:t>
            </a:r>
          </a:p>
        </p:txBody>
      </p:sp>
      <p:sp>
        <p:nvSpPr>
          <p:cNvPr id="203" name="Text Box 203"/>
          <p:cNvSpPr>
            <a:spLocks/>
          </p:cNvSpPr>
          <p:nvPr>
            <p:ph type="body"/>
          </p:nvPr>
        </p:nvSpPr>
        <p:spPr>
          <a:xfrm>
            <a:off x="152400" y="1371600"/>
            <a:ext cx="8839200" cy="53340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/>
            <a:r>
              <a:rPr dirty="0" i="1" lang="en-US" smtClean="0" u="sng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Control Protocols: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ATCP: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 AppleTalk Control Protocol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BACP: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 Bandwidth Allocation Control Protocol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BCP: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 Bridging Control Protocol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CCP: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 Compression Control Protocol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DNCP: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 DECNet Phase IV Control Protocol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ECP: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 Encryption Control Protocol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IPCP: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IP Control Protocol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IPv6CP: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 IPv6 Control Protocol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IPXCP: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 Novell IPX Control Protocol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LEXCP: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 LAN Extension Interface Control Protocol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 Box 204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i="1" lang="en-US" smtClean="0">
                <a:solidFill>
                  <a:srgbClr val="FF00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FYI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- PPP Protocol Suite</a:t>
            </a:r>
          </a:p>
        </p:txBody>
      </p:sp>
      <p:sp>
        <p:nvSpPr>
          <p:cNvPr id="205" name="Text Box 205"/>
          <p:cNvSpPr>
            <a:spLocks/>
          </p:cNvSpPr>
          <p:nvPr>
            <p:ph type="body"/>
          </p:nvPr>
        </p:nvSpPr>
        <p:spPr>
          <a:xfrm>
            <a:off x="152400" y="1371600"/>
            <a:ext cx="8839200" cy="53340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/>
            <a:r>
              <a:rPr dirty="0" i="1" lang="en-US" smtClean="0" u="sng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Control Protocols: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NBFCP: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 NETBIOS Frames Control Protocol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OSINLCP: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 OSI Network Layer Control Protocol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SDCP: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 Serial Data Control Protocol</a:t>
            </a:r>
          </a:p>
          <a:p>
            <a:pPr indent="-288925" lvl="1" marL="855662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SNACP: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 Systems Network Architecture Control Protocol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 Box 206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PPP Frame Structure</a:t>
            </a:r>
          </a:p>
        </p:txBody>
      </p:sp>
      <p:sp>
        <p:nvSpPr>
          <p:cNvPr id="207" name="Text Box 207"/>
          <p:cNvSpPr>
            <a:spLocks/>
          </p:cNvSpPr>
          <p:nvPr>
            <p:ph type="body"/>
          </p:nvPr>
        </p:nvSpPr>
        <p:spPr>
          <a:xfrm>
            <a:off x="152400" y="4953000"/>
            <a:ext cx="8839200" cy="15240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Notice how the PPP frame has been modeled very closely on the standard HDLC frame.</a:t>
            </a:r>
          </a:p>
          <a:p>
            <a:pPr indent="-342900" marL="34290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The protocol field contains specific codes.</a:t>
            </a:r>
          </a:p>
        </p:txBody>
      </p:sp>
      <p:pic>
        <p:nvPicPr>
          <p:cNvPr id="208" name="Picture 208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81000" y="1219200"/>
            <a:ext cx="8153400" cy="36814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" name="Connector 210"/>
          <p:cNvCxnSpPr/>
          <p:nvPr/>
        </p:nvCxnSpPr>
        <p:spPr>
          <a:xfrm rot="5400000">
            <a:off x="419100" y="3238500"/>
            <a:ext cx="14478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/>
            <a:tailEnd type="triangle"/>
          </a:ln>
          <a:effectLst>
            <a:outerShdw blurRad="63500" dir="2700000" dist="38100">
              <a:srgbClr val="000000">
                <a:alpha val="78000"/>
              </a:srgbClr>
            </a:outerShdw>
          </a:effectLst>
        </p:spPr>
      </p:cxnSp>
      <p:cxnSp>
        <p:nvCxnSpPr>
          <p:cNvPr id="212" name="Connector 212"/>
          <p:cNvCxnSpPr/>
          <p:nvPr/>
        </p:nvCxnSpPr>
        <p:spPr>
          <a:xfrm rot="5400000">
            <a:off x="1485900" y="3238500"/>
            <a:ext cx="14478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/>
            <a:tailEnd type="triangle"/>
          </a:ln>
          <a:effectLst>
            <a:outerShdw blurRad="63500" dir="2700000" dist="38100">
              <a:srgbClr val="000000">
                <a:alpha val="78000"/>
              </a:srgbClr>
            </a:outerShdw>
          </a:effectLst>
        </p:spPr>
      </p:cxnSp>
      <p:cxnSp>
        <p:nvCxnSpPr>
          <p:cNvPr id="214" name="Connector 214"/>
          <p:cNvCxnSpPr/>
          <p:nvPr/>
        </p:nvCxnSpPr>
        <p:spPr>
          <a:xfrm rot="5400000">
            <a:off x="2628900" y="3238500"/>
            <a:ext cx="14478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/>
            <a:tailEnd type="triangle"/>
          </a:ln>
          <a:effectLst>
            <a:outerShdw blurRad="63500" dir="2700000" dist="38100">
              <a:srgbClr val="000000">
                <a:alpha val="78000"/>
              </a:srgbClr>
            </a:outerShdw>
          </a:effectLst>
        </p:spPr>
      </p:cxnSp>
      <p:cxnSp>
        <p:nvCxnSpPr>
          <p:cNvPr id="216" name="Connector 216"/>
          <p:cNvCxnSpPr/>
          <p:nvPr/>
        </p:nvCxnSpPr>
        <p:spPr>
          <a:xfrm rot="5400000">
            <a:off x="4914900" y="3314700"/>
            <a:ext cx="14478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/>
            <a:tailEnd type="triangle"/>
          </a:ln>
          <a:effectLst>
            <a:outerShdw blurRad="63500" dir="2700000" dist="38100">
              <a:srgbClr val="000000">
                <a:alpha val="78000"/>
              </a:srgbClr>
            </a:outerShdw>
          </a:effectLst>
        </p:spPr>
      </p:cxnSp>
      <p:cxnSp>
        <p:nvCxnSpPr>
          <p:cNvPr id="218" name="Connector 218"/>
          <p:cNvCxnSpPr/>
          <p:nvPr/>
        </p:nvCxnSpPr>
        <p:spPr>
          <a:xfrm rot="5400000">
            <a:off x="6057900" y="3314700"/>
            <a:ext cx="14478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/>
            <a:tailEnd type="triangle"/>
          </a:ln>
          <a:effectLst>
            <a:outerShdw blurRad="63500" dir="2700000" dist="38100">
              <a:srgbClr val="000000">
                <a:alpha val="78000"/>
              </a:srgbClr>
            </a:outerShdw>
          </a:effectLst>
        </p:spPr>
      </p:cxnSp>
      <p:sp>
        <p:nvSpPr>
          <p:cNvPr id="220" name="Text Box 220"/>
          <p:cNvSpPr>
            <a:spLocks/>
          </p:cNvSpPr>
          <p:nvPr/>
        </p:nvSpPr>
        <p:spPr>
          <a:xfrm>
            <a:off x="3886200" y="3581400"/>
            <a:ext cx="1219200" cy="1219200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>
            <a:outerShdw blurRad="63500" dir="2700000" dist="38100">
              <a:srgbClr val="000000">
                <a:alpha val="39999"/>
              </a:srgbClr>
            </a:outerShdw>
          </a:effectLst>
        </p:spPr>
        <p:txBody>
          <a:bodyPr anchor="ctr" numCol="1" wrap="none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Picture 221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828800" y="838200"/>
            <a:ext cx="5207000" cy="1258887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Text Box 223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i="1" lang="en-US" smtClean="0">
                <a:solidFill>
                  <a:srgbClr val="FF00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FYI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- PPP Frame Structure</a:t>
            </a:r>
          </a:p>
        </p:txBody>
      </p:sp>
      <p:sp>
        <p:nvSpPr>
          <p:cNvPr id="224" name="Text Box 224"/>
          <p:cNvSpPr>
            <a:spLocks/>
          </p:cNvSpPr>
          <p:nvPr>
            <p:ph sz="half" type="body"/>
          </p:nvPr>
        </p:nvSpPr>
        <p:spPr>
          <a:xfrm>
            <a:off x="152400" y="1295400"/>
            <a:ext cx="8763000" cy="5181600"/>
          </a:xfrm>
          <a:prstGeom prst="rect">
            <a:avLst/>
          </a:prstGeom>
        </p:spPr>
        <p:txBody>
          <a:bodyPr anchor="t" bIns="45720" lIns="91440" numCol="1" rIns="91440" tIns="45720" wrap="square"/>
          <a:lstStyle>
            <a:lvl1pPr>
              <a:defRPr dirty="0" lang="en-US" smtClean="0" sz="2000"/>
            </a:lvl1pPr>
            <a:lvl2pPr>
              <a:defRPr dirty="0" lang="en-US" smtClean="0" sz="2000"/>
            </a:lvl2pPr>
            <a:lvl3pPr>
              <a:defRPr dirty="0" lang="en-US" smtClean="0" sz="2000"/>
            </a:lvl3pPr>
            <a:lvl4pPr>
              <a:defRPr dirty="0" lang="en-US" smtClean="0" sz="2000"/>
            </a:lvl4pPr>
            <a:lvl5pPr>
              <a:defRPr dirty="0" lang="en-US" smtClean="0" sz="2000"/>
            </a:lvl5pPr>
          </a:lstStyle>
          <a:p>
            <a:pPr/>
            <a:endParaRPr dirty="0" lang="en-US" smtClean="0">
              <a:effectLst>
                <a:outerShdw algn="tl" blurRad="38100" dir="2700000" dist="38100">
                  <a:srgbClr val="C0C0C0"/>
                </a:outerShdw>
              </a:effectLst>
            </a:endParaRPr>
          </a:p>
          <a:p>
            <a:pPr/>
            <a:endParaRPr dirty="0" lang="en-US" smtClean="0">
              <a:effectLst>
                <a:outerShdw algn="tl" blurRad="38100" dir="2700000" dist="38100">
                  <a:srgbClr val="C0C0C0"/>
                </a:outerShdw>
              </a:effectLst>
            </a:endParaRPr>
          </a:p>
          <a:p>
            <a:pPr/>
            <a:r>
              <a:rPr dirty="0" lang="en-US" smtClean="0" sz="2400">
                <a:effectLst>
                  <a:outerShdw algn="tl" blurRad="38100" dir="2700000" dist="38100">
                    <a:srgbClr val="C0C0C0"/>
                  </a:outerShdw>
                </a:effectLst>
              </a:rPr>
              <a:t>The protocol code determines what protocol in the suite receives the payload.</a:t>
            </a:r>
          </a:p>
        </p:txBody>
      </p:sp>
      <p:grpSp>
        <p:nvGrpSpPr>
          <p:cNvPr id="226" name="Group 226"/>
          <p:cNvGrpSpPr>
            <a:grpSpLocks noChangeAspect="0" noGrp="1" noMove="0" noSelect="0"/>
          </p:cNvGrpSpPr>
          <p:nvPr/>
        </p:nvGrpSpPr>
        <p:grpSpPr>
          <a:xfrm>
            <a:off x="457200" y="2971800"/>
            <a:ext cx="8382000" cy="3484562"/>
            <a:chOff x="288" y="1872"/>
            <a:chExt cx="5280" cy="2195"/>
          </a:xfrm>
        </p:grpSpPr>
        <p:sp>
          <p:nvSpPr>
            <p:cNvPr id="227" name="Text Box 227"/>
            <p:cNvSpPr>
              <a:spLocks/>
            </p:cNvSpPr>
            <p:nvPr/>
          </p:nvSpPr>
          <p:spPr>
            <a:xfrm>
              <a:off x="288" y="1872"/>
              <a:ext cx="1104" cy="442"/>
            </a:xfrm>
            <a:prstGeom prst="rect">
              <a:avLst/>
            </a:prstGeom>
            <a:solidFill>
              <a:srgbClr val="006600"/>
            </a:solidFill>
            <a:ln>
              <a:noFill/>
            </a:ln>
          </p:spPr>
          <p:txBody>
            <a:bodyPr anchor="ctr" anchorCtr="1" numCol="1"/>
            <a:lstStyle/>
            <a:p>
              <a:pPr indent="0" marL="0">
                <a:spcBef>
                  <a:spcPct val="20000"/>
                </a:spcBef>
                <a:buNone/>
              </a:pPr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Protocol Field Range (Hex)</a:t>
              </a:r>
            </a:p>
          </p:txBody>
        </p:sp>
        <p:sp>
          <p:nvSpPr>
            <p:cNvPr id="228" name="Text Box 228"/>
            <p:cNvSpPr>
              <a:spLocks/>
            </p:cNvSpPr>
            <p:nvPr/>
          </p:nvSpPr>
          <p:spPr>
            <a:xfrm>
              <a:off x="1392" y="1872"/>
              <a:ext cx="4176" cy="442"/>
            </a:xfrm>
            <a:prstGeom prst="rect">
              <a:avLst/>
            </a:prstGeom>
            <a:solidFill>
              <a:srgbClr val="006600"/>
            </a:solidFill>
            <a:ln>
              <a:noFill/>
            </a:ln>
          </p:spPr>
          <p:txBody>
            <a:bodyPr anchor="ctr" numCol="1"/>
            <a:lstStyle/>
            <a:p>
              <a:pPr indent="0" marL="0">
                <a:spcBef>
                  <a:spcPct val="20000"/>
                </a:spcBef>
                <a:buNone/>
              </a:pPr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Description</a:t>
              </a:r>
            </a:p>
          </p:txBody>
        </p:sp>
        <p:sp>
          <p:nvSpPr>
            <p:cNvPr id="229" name="Text Box 229"/>
            <p:cNvSpPr>
              <a:spLocks/>
            </p:cNvSpPr>
            <p:nvPr/>
          </p:nvSpPr>
          <p:spPr>
            <a:xfrm>
              <a:off x="288" y="2314"/>
              <a:ext cx="1104" cy="441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txBody>
            <a:bodyPr anchor="ctr" anchorCtr="1" numCol="1"/>
            <a:lstStyle/>
            <a:p>
              <a:pPr algn="l" indent="0" marL="0">
                <a:spcBef>
                  <a:spcPct val="20000"/>
                </a:spcBef>
                <a:buNone/>
              </a:pPr>
              <a:r>
                <a:rPr dirty="0" lang="en-US" smtClean="0" sz="2000">
                  <a:solidFill>
                    <a:schemeClr val="bg1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02xx – 1Exx</a:t>
              </a:r>
              <a:br>
                <a:rPr dirty="0" lang="en-US" smtClean="0" sz="2000">
                  <a:solidFill>
                    <a:schemeClr val="bg1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 sz="2000">
                  <a:solidFill>
                    <a:schemeClr val="bg1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xx01 – xx1F</a:t>
              </a:r>
            </a:p>
          </p:txBody>
        </p:sp>
        <p:sp>
          <p:nvSpPr>
            <p:cNvPr id="230" name="Text Box 230"/>
            <p:cNvSpPr>
              <a:spLocks/>
            </p:cNvSpPr>
            <p:nvPr/>
          </p:nvSpPr>
          <p:spPr>
            <a:xfrm>
              <a:off x="1392" y="2314"/>
              <a:ext cx="4176" cy="441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</p:spPr>
          <p:txBody>
            <a:bodyPr anchor="ctr" numCol="1"/>
            <a:lstStyle/>
            <a:p>
              <a:pPr algn="l" indent="0" marL="0">
                <a:spcBef>
                  <a:spcPct val="20000"/>
                </a:spcBef>
                <a:buNone/>
              </a:pPr>
              <a:r>
                <a:rPr dirty="0" lang="en-US" smtClean="0" sz="2000">
                  <a:solidFill>
                    <a:schemeClr val="tx1"/>
                  </a:solidFill>
                </a:rPr>
                <a:t>Not Used (compression inefficient)</a:t>
              </a:r>
            </a:p>
          </p:txBody>
        </p:sp>
        <p:sp>
          <p:nvSpPr>
            <p:cNvPr id="231" name="Text Box 231"/>
            <p:cNvSpPr>
              <a:spLocks/>
            </p:cNvSpPr>
            <p:nvPr/>
          </p:nvSpPr>
          <p:spPr>
            <a:xfrm>
              <a:off x="288" y="2755"/>
              <a:ext cx="1104" cy="328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txBody>
            <a:bodyPr anchor="ctr" anchorCtr="1" numCol="1"/>
            <a:lstStyle/>
            <a:p>
              <a:pPr algn="l" indent="0" marL="0">
                <a:spcBef>
                  <a:spcPct val="20000"/>
                </a:spcBef>
                <a:buNone/>
              </a:pPr>
              <a:r>
                <a:rPr dirty="0" lang="en-US" smtClean="0" sz="2000">
                  <a:solidFill>
                    <a:schemeClr val="bg1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0xxx – 3xxx</a:t>
              </a:r>
            </a:p>
          </p:txBody>
        </p:sp>
        <p:sp>
          <p:nvSpPr>
            <p:cNvPr id="232" name="Text Box 232"/>
            <p:cNvSpPr>
              <a:spLocks/>
            </p:cNvSpPr>
            <p:nvPr/>
          </p:nvSpPr>
          <p:spPr>
            <a:xfrm>
              <a:off x="1392" y="2755"/>
              <a:ext cx="4176" cy="328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</p:spPr>
          <p:txBody>
            <a:bodyPr anchor="ctr" numCol="1"/>
            <a:lstStyle/>
            <a:p>
              <a:pPr algn="l" indent="0" marL="0">
                <a:spcBef>
                  <a:spcPct val="20000"/>
                </a:spcBef>
                <a:buNone/>
              </a:pPr>
              <a:r>
                <a:rPr dirty="0" lang="en-US" smtClean="0" sz="2000">
                  <a:solidFill>
                    <a:schemeClr val="tx1"/>
                  </a:solidFill>
                </a:rPr>
                <a:t>Datagram belongs to a specific network protocol</a:t>
              </a:r>
            </a:p>
          </p:txBody>
        </p:sp>
        <p:sp>
          <p:nvSpPr>
            <p:cNvPr id="233" name="Text Box 233"/>
            <p:cNvSpPr>
              <a:spLocks/>
            </p:cNvSpPr>
            <p:nvPr/>
          </p:nvSpPr>
          <p:spPr>
            <a:xfrm>
              <a:off x="288" y="3083"/>
              <a:ext cx="1104" cy="328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txBody>
            <a:bodyPr anchor="ctr" anchorCtr="1" numCol="1"/>
            <a:lstStyle/>
            <a:p>
              <a:pPr algn="l" indent="0" marL="0">
                <a:spcBef>
                  <a:spcPct val="20000"/>
                </a:spcBef>
                <a:buNone/>
              </a:pPr>
              <a:r>
                <a:rPr dirty="0" lang="en-US" smtClean="0" sz="2000">
                  <a:solidFill>
                    <a:schemeClr val="bg1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8xxx – Bxxx </a:t>
              </a:r>
            </a:p>
          </p:txBody>
        </p:sp>
        <p:sp>
          <p:nvSpPr>
            <p:cNvPr id="234" name="Text Box 234"/>
            <p:cNvSpPr>
              <a:spLocks/>
            </p:cNvSpPr>
            <p:nvPr/>
          </p:nvSpPr>
          <p:spPr>
            <a:xfrm>
              <a:off x="1392" y="3083"/>
              <a:ext cx="4176" cy="328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</p:spPr>
          <p:txBody>
            <a:bodyPr anchor="ctr" numCol="1"/>
            <a:lstStyle/>
            <a:p>
              <a:pPr algn="l" indent="0" marL="0">
                <a:spcBef>
                  <a:spcPct val="20000"/>
                </a:spcBef>
                <a:buNone/>
              </a:pPr>
              <a:r>
                <a:rPr dirty="0" lang="en-US" smtClean="0" sz="2000">
                  <a:solidFill>
                    <a:schemeClr val="tx1"/>
                  </a:solidFill>
                </a:rPr>
                <a:t>Datagram belongs to an associated NCP</a:t>
              </a:r>
            </a:p>
          </p:txBody>
        </p:sp>
        <p:sp>
          <p:nvSpPr>
            <p:cNvPr id="235" name="Text Box 235"/>
            <p:cNvSpPr>
              <a:spLocks/>
            </p:cNvSpPr>
            <p:nvPr/>
          </p:nvSpPr>
          <p:spPr>
            <a:xfrm>
              <a:off x="288" y="3411"/>
              <a:ext cx="1104" cy="328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txBody>
            <a:bodyPr anchor="ctr" anchorCtr="1" numCol="1"/>
            <a:lstStyle/>
            <a:p>
              <a:pPr algn="l" indent="0" marL="0">
                <a:spcBef>
                  <a:spcPct val="20000"/>
                </a:spcBef>
                <a:buNone/>
              </a:pPr>
              <a:r>
                <a:rPr dirty="0" lang="en-US" smtClean="0" sz="2000">
                  <a:solidFill>
                    <a:schemeClr val="bg1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4xxx – 7xxx</a:t>
              </a:r>
            </a:p>
          </p:txBody>
        </p:sp>
        <p:sp>
          <p:nvSpPr>
            <p:cNvPr id="236" name="Text Box 236"/>
            <p:cNvSpPr>
              <a:spLocks/>
            </p:cNvSpPr>
            <p:nvPr/>
          </p:nvSpPr>
          <p:spPr>
            <a:xfrm>
              <a:off x="1392" y="3411"/>
              <a:ext cx="4176" cy="328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</p:spPr>
          <p:txBody>
            <a:bodyPr anchor="ctr" numCol="1"/>
            <a:lstStyle/>
            <a:p>
              <a:pPr algn="l" indent="0" marL="0">
                <a:spcBef>
                  <a:spcPct val="20000"/>
                </a:spcBef>
                <a:buNone/>
              </a:pPr>
              <a:r>
                <a:rPr dirty="0" lang="en-US" smtClean="0" sz="2000">
                  <a:solidFill>
                    <a:schemeClr val="tx1"/>
                  </a:solidFill>
                </a:rPr>
                <a:t>Datagram belongs to a low-volume protocol with no NCP</a:t>
              </a:r>
            </a:p>
          </p:txBody>
        </p:sp>
        <p:sp>
          <p:nvSpPr>
            <p:cNvPr id="237" name="Text Box 237"/>
            <p:cNvSpPr>
              <a:spLocks/>
            </p:cNvSpPr>
            <p:nvPr/>
          </p:nvSpPr>
          <p:spPr>
            <a:xfrm>
              <a:off x="288" y="3739"/>
              <a:ext cx="1104" cy="328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txBody>
            <a:bodyPr anchor="ctr" anchorCtr="1" numCol="1"/>
            <a:lstStyle/>
            <a:p>
              <a:pPr algn="l" indent="0" marL="0">
                <a:spcBef>
                  <a:spcPct val="20000"/>
                </a:spcBef>
                <a:buNone/>
              </a:pPr>
              <a:r>
                <a:rPr dirty="0" lang="en-US" smtClean="0" sz="2000">
                  <a:solidFill>
                    <a:schemeClr val="bg1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Cxxx - Exxx</a:t>
              </a:r>
            </a:p>
          </p:txBody>
        </p:sp>
        <p:sp>
          <p:nvSpPr>
            <p:cNvPr id="238" name="Text Box 238"/>
            <p:cNvSpPr>
              <a:spLocks/>
            </p:cNvSpPr>
            <p:nvPr/>
          </p:nvSpPr>
          <p:spPr>
            <a:xfrm>
              <a:off x="1392" y="3739"/>
              <a:ext cx="4176" cy="328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</p:spPr>
          <p:txBody>
            <a:bodyPr anchor="ctr" numCol="1"/>
            <a:lstStyle/>
            <a:p>
              <a:pPr algn="l" indent="0" marL="0">
                <a:spcBef>
                  <a:spcPct val="20000"/>
                </a:spcBef>
                <a:buNone/>
              </a:pPr>
              <a:r>
                <a:rPr dirty="0" lang="en-US" smtClean="0" sz="2000">
                  <a:solidFill>
                    <a:schemeClr val="tx1"/>
                  </a:solidFill>
                </a:rPr>
                <a:t>Datagram is a control protocol</a:t>
              </a:r>
            </a:p>
          </p:txBody>
        </p:sp>
        <p:sp>
          <p:nvSpPr>
            <p:cNvPr id="239" name="Text Box 239"/>
            <p:cNvSpPr>
              <a:spLocks/>
            </p:cNvSpPr>
            <p:nvPr/>
          </p:nvSpPr>
          <p:spPr>
            <a:xfrm>
              <a:off x="1392" y="1872"/>
              <a:ext cx="0" cy="21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240" name="Text Box 240"/>
            <p:cNvSpPr>
              <a:spLocks/>
            </p:cNvSpPr>
            <p:nvPr/>
          </p:nvSpPr>
          <p:spPr>
            <a:xfrm>
              <a:off x="288" y="2314"/>
              <a:ext cx="52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241" name="Text Box 241"/>
            <p:cNvSpPr>
              <a:spLocks/>
            </p:cNvSpPr>
            <p:nvPr/>
          </p:nvSpPr>
          <p:spPr>
            <a:xfrm>
              <a:off x="288" y="2755"/>
              <a:ext cx="52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242" name="Text Box 242"/>
            <p:cNvSpPr>
              <a:spLocks/>
            </p:cNvSpPr>
            <p:nvPr/>
          </p:nvSpPr>
          <p:spPr>
            <a:xfrm>
              <a:off x="288" y="3083"/>
              <a:ext cx="52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243" name="Text Box 243"/>
            <p:cNvSpPr>
              <a:spLocks/>
            </p:cNvSpPr>
            <p:nvPr/>
          </p:nvSpPr>
          <p:spPr>
            <a:xfrm>
              <a:off x="288" y="3411"/>
              <a:ext cx="52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244" name="Text Box 244"/>
            <p:cNvSpPr>
              <a:spLocks/>
            </p:cNvSpPr>
            <p:nvPr/>
          </p:nvSpPr>
          <p:spPr>
            <a:xfrm>
              <a:off x="288" y="3739"/>
              <a:ext cx="52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245" name="Text Box 245"/>
            <p:cNvSpPr>
              <a:spLocks/>
            </p:cNvSpPr>
            <p:nvPr/>
          </p:nvSpPr>
          <p:spPr>
            <a:xfrm>
              <a:off x="288" y="1872"/>
              <a:ext cx="0" cy="21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246" name="Text Box 246"/>
            <p:cNvSpPr>
              <a:spLocks/>
            </p:cNvSpPr>
            <p:nvPr/>
          </p:nvSpPr>
          <p:spPr>
            <a:xfrm>
              <a:off x="5568" y="1872"/>
              <a:ext cx="0" cy="21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247" name="Text Box 247"/>
            <p:cNvSpPr>
              <a:spLocks/>
            </p:cNvSpPr>
            <p:nvPr/>
          </p:nvSpPr>
          <p:spPr>
            <a:xfrm>
              <a:off x="288" y="1872"/>
              <a:ext cx="52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sp>
        <p:sp>
          <p:nvSpPr>
            <p:cNvPr id="248" name="Text Box 248"/>
            <p:cNvSpPr>
              <a:spLocks/>
            </p:cNvSpPr>
            <p:nvPr/>
          </p:nvSpPr>
          <p:spPr>
            <a:xfrm>
              <a:off x="288" y="4067"/>
              <a:ext cx="52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</p:sp>
      </p:grpSp>
      <p:sp>
        <p:nvSpPr>
          <p:cNvPr id="249" name="Text Box 249"/>
          <p:cNvSpPr>
            <a:spLocks/>
          </p:cNvSpPr>
          <p:nvPr/>
        </p:nvSpPr>
        <p:spPr>
          <a:xfrm>
            <a:off x="4419600" y="1143000"/>
            <a:ext cx="838200" cy="838200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>
            <a:outerShdw blurRad="63500" dir="2700000" dist="38100">
              <a:srgbClr val="000000">
                <a:alpha val="39999"/>
              </a:srgbClr>
            </a:outerShdw>
          </a:effectLst>
        </p:spPr>
        <p:txBody>
          <a:bodyPr anchor="ctr" numCol="1" wrap="none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Picture 250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04800" y="3632200"/>
            <a:ext cx="8534400" cy="2820987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Text Box 252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i="1" lang="en-US" smtClean="0">
                <a:solidFill>
                  <a:srgbClr val="FF00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FYI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- PPP Frame Structure</a:t>
            </a:r>
          </a:p>
        </p:txBody>
      </p:sp>
      <p:sp>
        <p:nvSpPr>
          <p:cNvPr id="253" name="Text Box 253"/>
          <p:cNvSpPr>
            <a:spLocks/>
          </p:cNvSpPr>
          <p:nvPr>
            <p:ph type="body"/>
          </p:nvPr>
        </p:nvSpPr>
        <p:spPr>
          <a:xfrm>
            <a:off x="152400" y="1295400"/>
            <a:ext cx="8839200" cy="51816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Some of those codes:</a:t>
            </a:r>
          </a:p>
        </p:txBody>
      </p:sp>
      <p:pic>
        <p:nvPicPr>
          <p:cNvPr id="254" name="Picture 25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36687" y="1752600"/>
            <a:ext cx="6619875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Text Box 256"/>
          <p:cNvSpPr>
            <a:spLocks/>
          </p:cNvSpPr>
          <p:nvPr/>
        </p:nvSpPr>
        <p:spPr>
          <a:xfrm>
            <a:off x="4724400" y="2133600"/>
            <a:ext cx="1054100" cy="1065212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>
            <a:outerShdw blurRad="63500" dir="2700000" dist="38100">
              <a:srgbClr val="000000">
                <a:alpha val="39999"/>
              </a:srgbClr>
            </a:outerShdw>
          </a:effectLst>
        </p:spPr>
        <p:txBody>
          <a:bodyPr anchor="ctr" numCol="1" wrap="none"/>
          <a:lstStyle/>
          <a:p>
            <a:endParaRPr/>
          </a:p>
        </p:txBody>
      </p:sp>
      <p:cxnSp>
        <p:nvCxnSpPr>
          <p:cNvPr id="257" name="Connector 257"/>
          <p:cNvCxnSpPr/>
          <p:nvPr/>
        </p:nvCxnSpPr>
        <p:spPr>
          <a:xfrm flipV="1" rot="10800000">
            <a:off x="2209800" y="2819400"/>
            <a:ext cx="2743200" cy="11430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/>
            <a:tailEnd type="triangle"/>
          </a:ln>
          <a:effectLst>
            <a:outerShdw blurRad="63500" dir="2700000" dist="38100">
              <a:srgbClr val="000000">
                <a:alpha val="78000"/>
              </a:srgbClr>
            </a:outerShdw>
          </a:effectLst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 Box 259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Establishing a PPP Session</a:t>
            </a:r>
          </a:p>
        </p:txBody>
      </p:sp>
      <p:sp>
        <p:nvSpPr>
          <p:cNvPr id="260" name="Text Box 260"/>
          <p:cNvSpPr>
            <a:spLocks/>
          </p:cNvSpPr>
          <p:nvPr>
            <p:ph type="body"/>
          </p:nvPr>
        </p:nvSpPr>
        <p:spPr>
          <a:xfrm>
            <a:off x="152400" y="1295400"/>
            <a:ext cx="8839200" cy="50292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PPP session establishment progresses through</a:t>
            </a:r>
            <a:b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</a:b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Three Phases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.</a:t>
            </a:r>
          </a:p>
        </p:txBody>
      </p:sp>
      <p:pic>
        <p:nvPicPr>
          <p:cNvPr id="261" name="Picture 261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371600" y="2133600"/>
            <a:ext cx="6629400" cy="450056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Text Box 263"/>
          <p:cNvSpPr>
            <a:spLocks/>
          </p:cNvSpPr>
          <p:nvPr/>
        </p:nvSpPr>
        <p:spPr>
          <a:xfrm>
            <a:off x="1524000" y="3505200"/>
            <a:ext cx="6400800" cy="1447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  <a:round/>
            <a:headEnd/>
            <a:tailEnd/>
          </a:ln>
        </p:spPr>
        <p:txBody>
          <a:bodyPr anchor="ctr" numCol="1" wrap="none"/>
          <a:lstStyle/>
          <a:p>
            <a:endParaRPr/>
          </a:p>
        </p:txBody>
      </p:sp>
      <p:sp>
        <p:nvSpPr>
          <p:cNvPr id="264" name="Text Box 264"/>
          <p:cNvSpPr>
            <a:spLocks/>
          </p:cNvSpPr>
          <p:nvPr/>
        </p:nvSpPr>
        <p:spPr>
          <a:xfrm>
            <a:off x="1524000" y="5029200"/>
            <a:ext cx="6400800" cy="1447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  <a:round/>
            <a:headEnd/>
            <a:tailEnd/>
          </a:ln>
        </p:spPr>
        <p:txBody>
          <a:bodyPr anchor="ctr" numCol="1" wrap="none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 Box 265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Establishing a PPP Session</a:t>
            </a:r>
          </a:p>
        </p:txBody>
      </p:sp>
      <p:sp>
        <p:nvSpPr>
          <p:cNvPr id="266" name="Text Box 266"/>
          <p:cNvSpPr>
            <a:spLocks/>
          </p:cNvSpPr>
          <p:nvPr>
            <p:ph type="body"/>
          </p:nvPr>
        </p:nvSpPr>
        <p:spPr>
          <a:xfrm>
            <a:off x="152400" y="1295400"/>
            <a:ext cx="8839200" cy="50292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Phase 1 –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Link Establishment:</a:t>
            </a:r>
          </a:p>
          <a:p>
            <a:pPr indent="-288925" lvl="1" marL="855662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The LCP must first open the connection and negotiate configuration options. </a:t>
            </a:r>
          </a:p>
          <a:p>
            <a:pPr indent="-342900" marL="34290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Phase 2 –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Determine Link Quality (Optional):</a:t>
            </a:r>
          </a:p>
          <a:p>
            <a:pPr indent="-288925" lvl="1" marL="855662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The LCP tests the link to determine whether the link quality is sufficient to bring up network layer protocols. </a:t>
            </a:r>
          </a:p>
          <a:p>
            <a:pPr indent="-342900" marL="34290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Phase 3 –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Network Protocol Negotiation:</a:t>
            </a:r>
          </a:p>
          <a:p>
            <a:pPr indent="-288925" lvl="1" marL="855662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The appropriate NCP separately configures the network layer protocols.</a:t>
            </a:r>
          </a:p>
          <a:p>
            <a:pPr indent="-288925" lvl="1" marL="855662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The NCP can bring them up and take them down at any time.</a:t>
            </a:r>
          </a:p>
          <a:p>
            <a:pPr indent="-288925" lvl="1" marL="855662"/>
            <a:endParaRPr dirty="0" lang="en-US" smtClean="0">
              <a:effectLst>
                <a:outerShdw algn="tl" blurRad="38100" dir="2700000" dist="38100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Picture 267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295400" y="1295400"/>
            <a:ext cx="6553200" cy="1233487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Text Box 269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Establishing a Link with LCP</a:t>
            </a:r>
          </a:p>
        </p:txBody>
      </p:sp>
      <p:sp>
        <p:nvSpPr>
          <p:cNvPr id="270" name="Text Box 270"/>
          <p:cNvSpPr>
            <a:spLocks/>
          </p:cNvSpPr>
          <p:nvPr>
            <p:ph type="body"/>
          </p:nvPr>
        </p:nvSpPr>
        <p:spPr>
          <a:xfrm>
            <a:off x="152400" y="2667000"/>
            <a:ext cx="8839200" cy="39624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457200" marL="511175">
              <a:spcBef>
                <a:spcPts val="500"/>
              </a:spcBef>
              <a:spcAft>
                <a:spcPts val="500"/>
              </a:spcAft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Phase 1 –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Link Establishment:</a:t>
            </a:r>
          </a:p>
          <a:p>
            <a:pPr indent="-457200" lvl="1" marL="1023937">
              <a:spcBef>
                <a:spcPts val="500"/>
              </a:spcBef>
              <a:spcAft>
                <a:spcPts val="500"/>
              </a:spcAft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In this phase each PPP device sends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LCP</a:t>
            </a:r>
            <a:r>
              <a:rPr b="1"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frames to configure and test the data link.</a:t>
            </a:r>
          </a:p>
          <a:p>
            <a:pPr indent="-457200" lvl="1" marL="1023937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LCP frames contain a configuration option field that allows devices to negotiate the use of options such as:</a:t>
            </a:r>
          </a:p>
          <a:p>
            <a:pPr indent="-457200" lvl="2" marL="147955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The maximum transmission unit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(MTU)</a:t>
            </a:r>
          </a:p>
          <a:p>
            <a:pPr indent="-457200" lvl="2" marL="1479550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Compression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of certain PPP fields</a:t>
            </a:r>
          </a:p>
          <a:p>
            <a:pPr indent="-457200" lvl="2" marL="147955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The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link-authentication protocol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.</a:t>
            </a:r>
            <a:r>
              <a:rPr b="1"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</a:t>
            </a:r>
          </a:p>
          <a:p>
            <a:pPr indent="-457200" lvl="2" marL="1479550"/>
            <a:endParaRPr b="1" dirty="0" lang="en-US" smtClean="0">
              <a:effectLst>
                <a:outerShdw algn="tl" blurRad="38100" dir="2700000" dist="38100">
                  <a:srgbClr val="C0C0C0"/>
                </a:outerShdw>
              </a:effectLst>
              <a:ea charset="0"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Picture 271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509962" y="838200"/>
            <a:ext cx="5429250" cy="32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Text Box 273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Establishing a Link with LCP</a:t>
            </a:r>
          </a:p>
        </p:txBody>
      </p:sp>
      <p:sp>
        <p:nvSpPr>
          <p:cNvPr id="274" name="Text Box 274"/>
          <p:cNvSpPr>
            <a:spLocks/>
          </p:cNvSpPr>
          <p:nvPr>
            <p:ph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457200" marL="457200"/>
            <a:endParaRPr dirty="0" lang="en-US" smtClean="0">
              <a:effectLst>
                <a:outerShdw algn="tl" blurRad="38100" dir="2700000" dist="38100">
                  <a:srgbClr val="C0C0C0"/>
                </a:outerShdw>
              </a:effectLst>
              <a:ea charset="0" typeface="Arial"/>
            </a:endParaRPr>
          </a:p>
          <a:p>
            <a:pPr indent="-457200" marL="45720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If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a configuration</a:t>
            </a:r>
            <a:b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</a:b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option is not</a:t>
            </a:r>
            <a:b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</a:b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included in an LCP</a:t>
            </a:r>
            <a:b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</a:b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packet, the default</a:t>
            </a:r>
            <a:b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</a:b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value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is assumed.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/>
            </a:r>
            <a:b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</a:br>
          </a:p>
          <a:p>
            <a:pPr indent="-457200" marL="457200"/>
            <a:endParaRPr dirty="0" lang="en-US" smtClean="0" sz="1000">
              <a:effectLst>
                <a:outerShdw algn="tl" blurRad="38100" dir="2700000" dist="38100">
                  <a:srgbClr val="C0C0C0"/>
                </a:outerShdw>
              </a:effectLst>
              <a:ea charset="0" typeface="Arial"/>
            </a:endParaRPr>
          </a:p>
          <a:p>
            <a:pPr indent="-457200" marL="45720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Before any network layer packets can be exchanged, LCP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must first open the connection and negotiate the configuration parameters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. </a:t>
            </a:r>
          </a:p>
          <a:p>
            <a:pPr indent="-457200" marL="457200"/>
            <a:endParaRPr dirty="0" lang="en-US" smtClean="0" sz="1000">
              <a:effectLst>
                <a:outerShdw algn="tl" blurRad="38100" dir="2700000" dist="38100">
                  <a:srgbClr val="C0C0C0"/>
                </a:outerShdw>
              </a:effectLst>
              <a:ea charset="0" typeface="Arial"/>
            </a:endParaRPr>
          </a:p>
          <a:p>
            <a:pPr indent="-457200" marL="45720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This phase is complete when a configuration acknowledgment frame has been sent and received.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 Box 275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Establishing a Link with LCP</a:t>
            </a:r>
          </a:p>
        </p:txBody>
      </p:sp>
      <p:sp>
        <p:nvSpPr>
          <p:cNvPr id="276" name="Text Box 276"/>
          <p:cNvSpPr>
            <a:spLocks/>
          </p:cNvSpPr>
          <p:nvPr>
            <p:ph type="body"/>
          </p:nvPr>
        </p:nvSpPr>
        <p:spPr>
          <a:xfrm>
            <a:off x="152400" y="1295400"/>
            <a:ext cx="8839200" cy="51816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457200" marL="457200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Authentication:</a:t>
            </a:r>
          </a:p>
          <a:p>
            <a:pPr indent="-457200" lvl="1" marL="969962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After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the link has been established and the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authentication protocol decided on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, the peer may be authenticated. </a:t>
            </a:r>
          </a:p>
          <a:p>
            <a:pPr indent="-457200" lvl="1" marL="969962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Authentication, if used, takes place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before the network layer protocol phase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is entered. </a:t>
            </a:r>
          </a:p>
        </p:txBody>
      </p:sp>
      <p:pic>
        <p:nvPicPr>
          <p:cNvPr id="277" name="Picture 277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28600" y="4191000"/>
            <a:ext cx="8661400" cy="143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Picture 279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57200" y="1295400"/>
            <a:ext cx="8305800" cy="2897187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Text Box 281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Establishing a Link with LCP</a:t>
            </a:r>
          </a:p>
        </p:txBody>
      </p:sp>
      <p:sp>
        <p:nvSpPr>
          <p:cNvPr id="282" name="Text Box 282"/>
          <p:cNvSpPr>
            <a:spLocks/>
          </p:cNvSpPr>
          <p:nvPr>
            <p:ph type="body"/>
          </p:nvPr>
        </p:nvSpPr>
        <p:spPr>
          <a:xfrm>
            <a:off x="152400" y="4267200"/>
            <a:ext cx="8839200" cy="22098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457200" marL="45720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As part of this phase, LCP also allows for an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optional link-quality determination test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. </a:t>
            </a:r>
          </a:p>
          <a:p>
            <a:pPr indent="-457200" lvl="1" marL="1023937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The link is tested to determine whether the link quality is good enough to bring up network layer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protocols.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Picture 283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447800" y="914400"/>
            <a:ext cx="6413500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Text Box 285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Network Layer Protocol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Negotiation</a:t>
            </a:r>
          </a:p>
        </p:txBody>
      </p:sp>
      <p:sp>
        <p:nvSpPr>
          <p:cNvPr id="286" name="Text Box 286"/>
          <p:cNvSpPr>
            <a:spLocks/>
          </p:cNvSpPr>
          <p:nvPr>
            <p:ph type="body"/>
          </p:nvPr>
        </p:nvSpPr>
        <p:spPr>
          <a:xfrm>
            <a:off x="152400" y="3733800"/>
            <a:ext cx="8839200" cy="29718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457200" marL="45720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PPP permits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multiple Network layer protocols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to operate on the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same communications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link.</a:t>
            </a:r>
          </a:p>
          <a:p>
            <a:pPr indent="-457200" lvl="1" marL="969962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For every Network layer protocol used, PPP uses a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separate NCP module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.</a:t>
            </a:r>
          </a:p>
          <a:p>
            <a:pPr indent="-457200" lvl="2" marL="1425575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IP uses the IPCP module.</a:t>
            </a:r>
          </a:p>
          <a:p>
            <a:pPr indent="-457200" lvl="2" marL="1425575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IP Version 6 uses the IPv6CP module.</a:t>
            </a:r>
          </a:p>
          <a:p>
            <a:pPr indent="-457200" lvl="2" marL="1425575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IPX uses the IPXCP module.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Picture 287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447800" y="914400"/>
            <a:ext cx="6413500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Text Box 289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Network Layer Protocol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Negotiation</a:t>
            </a:r>
          </a:p>
        </p:txBody>
      </p:sp>
      <p:sp>
        <p:nvSpPr>
          <p:cNvPr id="290" name="Text Box 290"/>
          <p:cNvSpPr>
            <a:spLocks/>
          </p:cNvSpPr>
          <p:nvPr>
            <p:ph type="body"/>
          </p:nvPr>
        </p:nvSpPr>
        <p:spPr>
          <a:xfrm>
            <a:off x="152400" y="3733800"/>
            <a:ext cx="8839200" cy="29718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457200" marL="45720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In this phase the PPP devices send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NCP packets to choose and configure one or more network layer protocols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(e.g. IP).   </a:t>
            </a:r>
          </a:p>
          <a:p>
            <a:pPr indent="-457200" marL="457200"/>
            <a:r>
              <a:rPr dirty="0" i="1" lang="en-US" smtClean="0" u="sng">
                <a:solidFill>
                  <a:srgbClr val="66FF66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Once each of the chosen network layer protocols has been configured</a:t>
            </a:r>
            <a:r>
              <a:rPr dirty="0" i="1" lang="en-US" smtClean="0">
                <a:solidFill>
                  <a:srgbClr val="66FF66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, packets from each network layer protocol can be sent over the link. </a:t>
            </a:r>
          </a:p>
          <a:p>
            <a:pPr indent="-457200" marL="45720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If LCP closes the link, it informs the network layer protocols so that they can take appropriate action.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Picture 291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57200" y="990600"/>
            <a:ext cx="8364537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Text Box 293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Network Layer Protocol Negotiation</a:t>
            </a:r>
          </a:p>
        </p:txBody>
      </p:sp>
      <p:sp>
        <p:nvSpPr>
          <p:cNvPr id="294" name="Text Box 294"/>
          <p:cNvSpPr>
            <a:spLocks/>
          </p:cNvSpPr>
          <p:nvPr>
            <p:ph type="body"/>
          </p:nvPr>
        </p:nvSpPr>
        <p:spPr>
          <a:xfrm>
            <a:off x="152400" y="5638800"/>
            <a:ext cx="8839200" cy="10668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457200" marL="45720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The </a:t>
            </a:r>
            <a:r>
              <a:rPr b="1"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pitchFamily="49" typeface="Courier New"/>
              </a:rPr>
              <a:t>show interfaces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command reveals the LCP and NCP states under PPP configuration.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295" name="Text Box 295"/>
          <p:cNvSpPr>
            <a:spLocks/>
          </p:cNvSpPr>
          <p:nvPr/>
        </p:nvSpPr>
        <p:spPr>
          <a:xfrm>
            <a:off x="1600200" y="990600"/>
            <a:ext cx="4724400" cy="381000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>
            <a:outerShdw blurRad="63500" dir="2700000" dist="38100">
              <a:srgbClr val="000000">
                <a:alpha val="39999"/>
              </a:srgbClr>
            </a:outerShdw>
          </a:effectLst>
        </p:spPr>
        <p:txBody>
          <a:bodyPr anchor="ctr" numCol="1" wrap="none"/>
          <a:lstStyle/>
          <a:p>
            <a:endParaRPr/>
          </a:p>
        </p:txBody>
      </p:sp>
      <p:cxnSp>
        <p:nvCxnSpPr>
          <p:cNvPr id="296" name="Connector 296"/>
          <p:cNvCxnSpPr/>
          <p:nvPr/>
        </p:nvCxnSpPr>
        <p:spPr>
          <a:xfrm flipV="1" rot="10800000">
            <a:off x="2286000" y="3201987"/>
            <a:ext cx="2133600" cy="303212"/>
          </a:xfrm>
          <a:prstGeom prst="line">
            <a:avLst/>
          </a:prstGeom>
          <a:noFill/>
          <a:ln w="50800">
            <a:solidFill>
              <a:srgbClr val="0070C0"/>
            </a:solidFill>
            <a:round/>
            <a:headEnd type="none"/>
            <a:tailEnd type="triangle"/>
          </a:ln>
          <a:effectLst>
            <a:outerShdw blurRad="63500" dir="2700000" dist="38100">
              <a:srgbClr val="000000">
                <a:alpha val="78000"/>
              </a:srgbClr>
            </a:outerShdw>
          </a:effectLst>
        </p:spPr>
      </p:cxnSp>
      <p:cxnSp>
        <p:nvCxnSpPr>
          <p:cNvPr id="298" name="Connector 298"/>
          <p:cNvCxnSpPr/>
          <p:nvPr/>
        </p:nvCxnSpPr>
        <p:spPr>
          <a:xfrm rot="10800000">
            <a:off x="3733800" y="3810000"/>
            <a:ext cx="1752600" cy="9525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/>
            <a:tailEnd type="triangle"/>
          </a:ln>
          <a:effectLst>
            <a:outerShdw blurRad="63500" dir="2700000" dist="38100">
              <a:srgbClr val="000000">
                <a:alpha val="78000"/>
              </a:srgbClr>
            </a:outerShdw>
          </a:effectLst>
        </p:spPr>
      </p:cxnSp>
      <p:sp>
        <p:nvSpPr>
          <p:cNvPr id="300" name="Text Box 300"/>
          <p:cNvSpPr txBox="1">
            <a:spLocks/>
          </p:cNvSpPr>
          <p:nvPr/>
        </p:nvSpPr>
        <p:spPr>
          <a:xfrm>
            <a:off x="5486400" y="3657600"/>
            <a:ext cx="990600" cy="495300"/>
          </a:xfrm>
          <a:prstGeom prst="rect">
            <a:avLst/>
          </a:prstGeom>
          <a:solidFill>
            <a:srgbClr val="8000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lIns="0" numCol="1" rIns="0">
            <a:spAutoFit/>
          </a:bodyPr>
          <a:lstStyle/>
          <a:p>
            <a:pPr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NCPs</a:t>
            </a:r>
          </a:p>
        </p:txBody>
      </p:sp>
      <p:sp>
        <p:nvSpPr>
          <p:cNvPr id="301" name="Text Box 301"/>
          <p:cNvSpPr txBox="1">
            <a:spLocks/>
          </p:cNvSpPr>
          <p:nvPr/>
        </p:nvSpPr>
        <p:spPr>
          <a:xfrm>
            <a:off x="4419600" y="2971800"/>
            <a:ext cx="4191000" cy="461962"/>
          </a:xfrm>
          <a:prstGeom prst="rect">
            <a:avLst/>
          </a:prstGeom>
          <a:solidFill>
            <a:srgbClr val="003366"/>
          </a:solidFill>
          <a:ln w="38100">
            <a:solidFill>
              <a:srgbClr val="0070C0"/>
            </a:solidFill>
            <a:round/>
            <a:headEnd/>
            <a:tailEnd/>
          </a:ln>
        </p:spPr>
        <p:txBody>
          <a:bodyPr lIns="0" numCol="1" rIns="0">
            <a:spAutoFit/>
          </a:bodyPr>
          <a:lstStyle/>
          <a:p>
            <a:pPr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LCP open = connection made.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ext Box 302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i="1" lang="en-US" smtClean="0">
                <a:solidFill>
                  <a:srgbClr val="FF00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FYI -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PPP Configuration Options</a:t>
            </a:r>
          </a:p>
        </p:txBody>
      </p:sp>
      <p:pic>
        <p:nvPicPr>
          <p:cNvPr id="303" name="Picture 303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295400" y="1143000"/>
            <a:ext cx="6934200" cy="552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ext Box 305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PPP Configuration Commands</a:t>
            </a:r>
          </a:p>
        </p:txBody>
      </p:sp>
      <p:sp>
        <p:nvSpPr>
          <p:cNvPr id="306" name="Text Box 306"/>
          <p:cNvSpPr>
            <a:spLocks/>
          </p:cNvSpPr>
          <p:nvPr>
            <p:ph type="body"/>
          </p:nvPr>
        </p:nvSpPr>
        <p:spPr>
          <a:xfrm>
            <a:off x="152400" y="1295400"/>
            <a:ext cx="8839200" cy="54102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457200" marL="457200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Enabling PPP:</a:t>
            </a:r>
          </a:p>
          <a:p>
            <a:pPr indent="-457200" lvl="1" marL="969962">
              <a:buNone/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	</a:t>
            </a:r>
            <a:r>
              <a:rPr b="1"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pitchFamily="49" typeface="Courier New"/>
              </a:rPr>
              <a:t>Router#config t</a:t>
            </a:r>
          </a:p>
          <a:p>
            <a:pPr indent="-457200" lvl="1" marL="969962">
              <a:buNone/>
            </a:pPr>
            <a:r>
              <a:rPr b="1"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pitchFamily="49" typeface="Courier New"/>
              </a:rPr>
              <a:t>	Router(config)#interface s0/2/0</a:t>
            </a:r>
          </a:p>
          <a:p>
            <a:pPr indent="-457200" lvl="1" marL="969962">
              <a:buNone/>
            </a:pPr>
            <a:r>
              <a:rPr b="1"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pitchFamily="49" typeface="Courier New"/>
              </a:rPr>
              <a:t>	Router(config-if)#</a:t>
            </a:r>
            <a:r>
              <a:rPr b="1"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pitchFamily="49" typeface="Courier New"/>
              </a:rPr>
              <a:t>encapsulation ppp</a:t>
            </a:r>
          </a:p>
          <a:p>
            <a:pPr indent="-457200" marL="457200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Configuring Compression:</a:t>
            </a:r>
          </a:p>
          <a:p>
            <a:pPr indent="-457200" lvl="1" marL="969962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You can configure point-to-point compression on serial interfaces after you have enabled PPP. Because this option invokes a software compression process,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it can affect system performance.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If the traffic already consists of compressed files (.zip, .tar, or .mpeg, for example), do not use this option.</a:t>
            </a:r>
          </a:p>
          <a:p>
            <a:pPr indent="-457200" lvl="1" marL="969962">
              <a:buNone/>
            </a:pPr>
            <a:r>
              <a:rPr b="1"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pitchFamily="49" typeface="Courier New"/>
              </a:rPr>
              <a:t>Router(config-if)#</a:t>
            </a:r>
            <a:r>
              <a:rPr b="1"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pitchFamily="49" typeface="Courier New"/>
              </a:rPr>
              <a:t>compress</a:t>
            </a:r>
            <a:r>
              <a:rPr b="1"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pitchFamily="49" typeface="Courier New"/>
              </a:rPr>
              <a:t> </a:t>
            </a:r>
            <a:r>
              <a:rPr b="1" dirty="0" i="1" lang="en-US" smtClean="0">
                <a:solidFill>
                  <a:srgbClr val="66FF66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pitchFamily="49" typeface="Courier New"/>
              </a:rPr>
              <a:t>[predictor|stac]</a:t>
            </a:r>
            <a:r>
              <a:rPr b="1"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pitchFamily="49" typeface="Courier New"/>
              </a:rPr>
              <a:t> </a:t>
            </a:r>
          </a:p>
          <a:p>
            <a:pPr indent="-457200" lvl="1" marL="969962">
              <a:buNone/>
            </a:pPr>
            <a:endParaRPr b="1" dirty="0" lang="en-US" smtClean="0">
              <a:effectLst>
                <a:outerShdw algn="tl" blurRad="38100" dir="2700000" dist="38100">
                  <a:srgbClr val="C0C0C0"/>
                </a:outerShdw>
              </a:effectLst>
              <a:latin charset="0" pitchFamily="49" typeface="Courier New"/>
              <a:ea charset="0" pitchFamily="49"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 Box 307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PPP Configuration Commands</a:t>
            </a:r>
          </a:p>
        </p:txBody>
      </p:sp>
      <p:sp>
        <p:nvSpPr>
          <p:cNvPr id="308" name="Text Box 308"/>
          <p:cNvSpPr>
            <a:spLocks/>
          </p:cNvSpPr>
          <p:nvPr>
            <p:ph type="body"/>
          </p:nvPr>
        </p:nvSpPr>
        <p:spPr>
          <a:xfrm>
            <a:off x="152400" y="1295400"/>
            <a:ext cx="8839200" cy="54102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457200" marL="457200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Link Quality Monitoring:</a:t>
            </a:r>
          </a:p>
          <a:p>
            <a:pPr indent="-457200" lvl="1" marL="969962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LCP provides an optional link quality determination during the LCP Negotiation. </a:t>
            </a:r>
          </a:p>
          <a:p>
            <a:pPr indent="-457200" lvl="1" marL="969962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If the link quality percentage is not maintained, the link is deemed to be of poor quality and is taken down.</a:t>
            </a:r>
          </a:p>
          <a:p>
            <a:pPr indent="-457200" lvl="1" marL="969962">
              <a:buNone/>
            </a:pPr>
            <a:r>
              <a:rPr b="1"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pitchFamily="49" typeface="Courier New"/>
              </a:rPr>
              <a:t>Router(config-if)#</a:t>
            </a:r>
            <a:r>
              <a:rPr b="1"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pitchFamily="49" typeface="Courier New"/>
              </a:rPr>
              <a:t>ppp quality</a:t>
            </a:r>
            <a:r>
              <a:rPr b="1"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pitchFamily="49" typeface="Courier New"/>
              </a:rPr>
              <a:t> </a:t>
            </a:r>
            <a:r>
              <a:rPr b="1" dirty="0" i="1" lang="en-US" smtClean="0">
                <a:solidFill>
                  <a:srgbClr val="66FF66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pitchFamily="49" typeface="Courier New"/>
              </a:rPr>
              <a:t>percentage</a:t>
            </a:r>
          </a:p>
          <a:p>
            <a:pPr indent="-457200" marL="457200"/>
            <a:endParaRPr dirty="0" lang="en-US" smtClean="0">
              <a:solidFill>
                <a:srgbClr val="FFFF00"/>
              </a:solidFill>
              <a:effectLst>
                <a:outerShdw algn="tl" blurRad="38100" dir="2700000" dist="38100">
                  <a:srgbClr val="C0C0C0"/>
                </a:outerShdw>
              </a:effectLst>
              <a:ea charset="0" pitchFamily="49" typeface="Courier New"/>
            </a:endParaRPr>
          </a:p>
          <a:p>
            <a:pPr indent="-457200" marL="457200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pitchFamily="49" typeface="Courier New"/>
              </a:rPr>
              <a:t>Load Balancing Across Links:</a:t>
            </a:r>
          </a:p>
          <a:p>
            <a:pPr indent="-457200" lvl="1" marL="969962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Multilink PPP (also referred to as MP, MPPP, MLP, or Multilink) provides a method for spreading traffic across multiple physical WAN links.</a:t>
            </a:r>
          </a:p>
          <a:p>
            <a:pPr indent="-457200" lvl="1" marL="969962">
              <a:buNone/>
            </a:pPr>
            <a:r>
              <a:rPr b="1"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pitchFamily="49" typeface="Courier New"/>
              </a:rPr>
              <a:t>Router(config-if)#</a:t>
            </a:r>
            <a:r>
              <a:rPr b="1"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pitchFamily="49" typeface="Courier New"/>
              </a:rPr>
              <a:t>ppp multilink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ext Box 309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Verifying a Serial PPP Configuration</a:t>
            </a:r>
          </a:p>
        </p:txBody>
      </p:sp>
      <p:sp>
        <p:nvSpPr>
          <p:cNvPr id="310" name="Text Box 310"/>
          <p:cNvSpPr>
            <a:spLocks/>
          </p:cNvSpPr>
          <p:nvPr>
            <p:ph type="body"/>
          </p:nvPr>
        </p:nvSpPr>
        <p:spPr>
          <a:xfrm>
            <a:off x="152400" y="1295400"/>
            <a:ext cx="8839200" cy="54102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457200" marL="45720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pitchFamily="49" typeface="Courier New"/>
              </a:rPr>
              <a:t>Use the </a:t>
            </a:r>
            <a:r>
              <a:rPr b="1"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pitchFamily="49" typeface="Courier New"/>
              </a:rPr>
              <a:t>show interfaces serial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pitchFamily="49" typeface="Courier New"/>
              </a:rPr>
              <a:t> command to verify proper configuration PPP encapsulation.</a:t>
            </a:r>
          </a:p>
          <a:p>
            <a:pPr indent="-457200" lvl="1" marL="969962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pitchFamily="49" typeface="Courier New"/>
              </a:rPr>
              <a:t>When you configure PPP, the output of the show interfaces serial command should show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pitchFamily="49" typeface="Courier New"/>
              </a:rPr>
              <a:t>"encapsulation ppp"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pitchFamily="49" typeface="Courier New"/>
              </a:rPr>
              <a:t>.</a:t>
            </a:r>
          </a:p>
          <a:p>
            <a:pPr indent="-457200" lvl="1" marL="969962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pitchFamily="49" typeface="Courier New"/>
              </a:rPr>
              <a:t>When you configure PPP, you can check its LCP and NCP states. </a:t>
            </a:r>
          </a:p>
          <a:p>
            <a:pPr indent="-457200" lvl="1" marL="969962"/>
            <a:endParaRPr dirty="0" lang="en-US" smtClean="0">
              <a:effectLst>
                <a:outerShdw algn="tl" blurRad="38100" dir="2700000" dist="38100">
                  <a:srgbClr val="C0C0C0"/>
                </a:outerShdw>
              </a:effectLst>
              <a:ea charset="0" pitchFamily="49" typeface="Courier New"/>
            </a:endParaRPr>
          </a:p>
        </p:txBody>
      </p:sp>
      <p:pic>
        <p:nvPicPr>
          <p:cNvPr id="311" name="Picture 311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57200" y="4267200"/>
            <a:ext cx="8394700" cy="169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 Box 313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Troubleshooting PPP Encapsulation</a:t>
            </a:r>
          </a:p>
        </p:txBody>
      </p:sp>
      <p:pic>
        <p:nvPicPr>
          <p:cNvPr id="314" name="Picture 314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28600" y="1371600"/>
            <a:ext cx="8713787" cy="501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 Box 316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Point-to-Point Protocol (PPP)</a:t>
            </a:r>
          </a:p>
        </p:txBody>
      </p:sp>
      <p:sp>
        <p:nvSpPr>
          <p:cNvPr id="317" name="Text Box 317"/>
          <p:cNvSpPr>
            <a:spLocks/>
          </p:cNvSpPr>
          <p:nvPr/>
        </p:nvSpPr>
        <p:spPr>
          <a:xfrm>
            <a:off x="762000" y="14478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="ctr" numCol="1"/>
          <a:lstStyle/>
          <a:p>
            <a:pPr indent="0" marL="0"/>
            <a:r>
              <a:rPr dirty="0" lang="en-US" smtClean="0" sz="3600">
                <a:solidFill>
                  <a:schemeClr val="bg1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PPP Authentication</a:t>
            </a:r>
          </a:p>
        </p:txBody>
      </p:sp>
      <p:pic>
        <p:nvPicPr>
          <p:cNvPr id="318" name="Picture 318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990600" y="2514600"/>
            <a:ext cx="7239000" cy="2125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 Box 320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PPP Authentication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Protocol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- PAP</a:t>
            </a:r>
          </a:p>
        </p:txBody>
      </p:sp>
      <p:sp>
        <p:nvSpPr>
          <p:cNvPr id="321" name="Text Box 321"/>
          <p:cNvSpPr>
            <a:spLocks/>
          </p:cNvSpPr>
          <p:nvPr>
            <p:ph type="body"/>
          </p:nvPr>
        </p:nvSpPr>
        <p:spPr>
          <a:xfrm>
            <a:off x="152400" y="3429000"/>
            <a:ext cx="8839200" cy="32766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457200" marL="457200">
              <a:lnSpc>
                <a:spcPct val="90000"/>
              </a:lnSpc>
            </a:pP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Password Authentication Protocol (PAP):</a:t>
            </a:r>
          </a:p>
          <a:p>
            <a:pPr indent="-457200" lvl="1" marL="1023937">
              <a:lnSpc>
                <a:spcPct val="90000"/>
              </a:lnSpc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Not a strong protocol.</a:t>
            </a:r>
          </a:p>
          <a:p>
            <a:pPr indent="-457200" lvl="1" marL="1023937">
              <a:lnSpc>
                <a:spcPct val="90000"/>
              </a:lnSpc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Username/Password sent in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clear text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.</a:t>
            </a:r>
          </a:p>
          <a:p>
            <a:pPr indent="-457200" lvl="1" marL="1023937">
              <a:lnSpc>
                <a:spcPct val="90000"/>
              </a:lnSpc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Uses a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two-way handshake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.</a:t>
            </a:r>
          </a:p>
          <a:p>
            <a:pPr indent="-457200" lvl="1" marL="1023937">
              <a:lnSpc>
                <a:spcPct val="90000"/>
              </a:lnSpc>
            </a:pP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Remote node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in control of attempts.</a:t>
            </a:r>
          </a:p>
          <a:p>
            <a:pPr indent="-457200" lvl="2" marL="1427162">
              <a:lnSpc>
                <a:spcPct val="90000"/>
              </a:lnSpc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Username/Password pair are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repeatedly sent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across the link until authentication is acknowledged or the link is terminated. </a:t>
            </a:r>
          </a:p>
        </p:txBody>
      </p:sp>
      <p:pic>
        <p:nvPicPr>
          <p:cNvPr id="322" name="Picture 322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990600" y="1219200"/>
            <a:ext cx="7239000" cy="2125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 Box 324"/>
          <p:cNvSpPr>
            <a:spLocks/>
          </p:cNvSpPr>
          <p:nvPr>
            <p:ph type="body"/>
          </p:nvPr>
        </p:nvSpPr>
        <p:spPr>
          <a:xfrm>
            <a:off x="152400" y="1143000"/>
            <a:ext cx="8839200" cy="53340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457200" marL="457200">
              <a:lnSpc>
                <a:spcPct val="90000"/>
              </a:lnSpc>
              <a:buNone/>
            </a:pPr>
            <a:r>
              <a:rPr b="1"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</a:rPr>
              <a:t>Rtr(config)#</a:t>
            </a:r>
            <a:r>
              <a:rPr b="1"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</a:rPr>
              <a:t>username </a:t>
            </a:r>
            <a:r>
              <a:rPr b="1" dirty="0" i="1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</a:rPr>
              <a:t>remote-host</a:t>
            </a:r>
            <a:r>
              <a:rPr b="1" dirty="0" i="1" lang="en-US" smtClean="0"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</a:rPr>
              <a:t/>
            </a:r>
            <a:br>
              <a:rPr b="1" dirty="0" i="1" lang="en-US" smtClean="0"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</a:rPr>
            </a:br>
            <a:r>
              <a:rPr b="1" dirty="0" i="1" lang="en-US" smtClean="0"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</a:rPr>
              <a:t>				</a:t>
            </a:r>
            <a:r>
              <a:rPr b="1"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</a:rPr>
              <a:t>password </a:t>
            </a:r>
            <a:r>
              <a:rPr b="1" dirty="0" i="1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</a:rPr>
              <a:t>remote-password</a:t>
            </a:r>
            <a:br>
              <a:rPr b="1" dirty="0" i="1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</a:rPr>
            </a:br>
          </a:p>
          <a:p>
            <a:pPr indent="-457200" marL="457200">
              <a:lnSpc>
                <a:spcPct val="90000"/>
              </a:lnSpc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This needs to match the </a:t>
            </a:r>
            <a:r>
              <a:rPr dirty="0" i="1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ppp pap sent-username and password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on the remote host.</a:t>
            </a:r>
          </a:p>
          <a:p>
            <a:pPr indent="-457200" marL="457200">
              <a:lnSpc>
                <a:spcPct val="90000"/>
              </a:lnSpc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When received and validated, routers with these username/password combinations will be allowed to connect.</a:t>
            </a:r>
          </a:p>
          <a:p>
            <a:pPr indent="-457200" marL="457200">
              <a:lnSpc>
                <a:spcPct val="90000"/>
              </a:lnSpc>
              <a:buNone/>
            </a:pPr>
            <a:endParaRPr dirty="0" lang="en-US" smtClean="0" sz="1000">
              <a:solidFill>
                <a:srgbClr val="FFFF00"/>
              </a:solidFill>
              <a:effectLst>
                <a:outerShdw algn="tl" blurRad="38100" dir="2700000" dist="38100">
                  <a:srgbClr val="C0C0C0"/>
                </a:outerShdw>
              </a:effectLst>
              <a:latin charset="0" pitchFamily="49" typeface="Courier New"/>
            </a:endParaRPr>
          </a:p>
          <a:p>
            <a:pPr indent="-457200" marL="457200">
              <a:lnSpc>
                <a:spcPct val="90000"/>
              </a:lnSpc>
              <a:buNone/>
            </a:pPr>
            <a:r>
              <a:rPr b="1"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</a:rPr>
              <a:t>Rtr(config-if)#</a:t>
            </a:r>
            <a:r>
              <a:rPr b="1"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</a:rPr>
              <a:t>ppp pap</a:t>
            </a:r>
            <a:br>
              <a:rPr b="1"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</a:rPr>
            </a:br>
            <a:r>
              <a:rPr b="1"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</a:rPr>
              <a:t>		sent-username </a:t>
            </a:r>
            <a:r>
              <a:rPr b="1" dirty="0" i="1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</a:rPr>
              <a:t>local-host-username</a:t>
            </a:r>
            <a:br>
              <a:rPr b="1" dirty="0" i="1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</a:rPr>
            </a:br>
            <a:r>
              <a:rPr b="1" dirty="0" i="1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</a:rPr>
              <a:t>			</a:t>
            </a:r>
            <a:r>
              <a:rPr b="1"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</a:rPr>
              <a:t>password </a:t>
            </a:r>
            <a:r>
              <a:rPr b="1" dirty="0" i="1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</a:rPr>
              <a:t>local-host-password</a:t>
            </a:r>
          </a:p>
          <a:p>
            <a:pPr indent="-457200" marL="457200">
              <a:lnSpc>
                <a:spcPct val="90000"/>
              </a:lnSpc>
            </a:pPr>
            <a:endParaRPr dirty="0" lang="en-US" smtClean="0" sz="900">
              <a:effectLst>
                <a:outerShdw algn="tl" blurRad="38100" dir="2700000" dist="38100">
                  <a:srgbClr val="C0C0C0"/>
                </a:outerShdw>
              </a:effectLst>
            </a:endParaRPr>
          </a:p>
          <a:p>
            <a:pPr indent="-457200" marL="457200">
              <a:lnSpc>
                <a:spcPct val="90000"/>
              </a:lnSpc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The passwords do not have to be the same on the remote and the local routers.</a:t>
            </a:r>
          </a:p>
          <a:p>
            <a:pPr indent="-457200" marL="457200">
              <a:lnSpc>
                <a:spcPct val="90000"/>
              </a:lnSpc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It should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 </a:t>
            </a:r>
            <a:r>
              <a:rPr dirty="0" lang="en-US" smtClean="0" u="sng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not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be the same as the enable-secret password.</a:t>
            </a:r>
          </a:p>
        </p:txBody>
      </p:sp>
      <p:sp>
        <p:nvSpPr>
          <p:cNvPr id="325" name="Text Box 325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Configuring PAP</a:t>
            </a:r>
          </a:p>
        </p:txBody>
      </p:sp>
      <p:sp>
        <p:nvSpPr>
          <p:cNvPr id="326" name="Text Box 326"/>
          <p:cNvSpPr>
            <a:spLocks/>
          </p:cNvSpPr>
          <p:nvPr/>
        </p:nvSpPr>
        <p:spPr>
          <a:xfrm>
            <a:off x="0" y="4126307"/>
            <a:ext cx="9144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ext Box 327"/>
          <p:cNvSpPr>
            <a:spLocks/>
          </p:cNvSpPr>
          <p:nvPr/>
        </p:nvSpPr>
        <p:spPr>
          <a:xfrm>
            <a:off x="228600" y="304800"/>
            <a:ext cx="6553200" cy="2895600"/>
          </a:xfrm>
          <a:prstGeom prst="rect">
            <a:avLst/>
          </a:prstGeom>
          <a:solidFill>
            <a:srgbClr val="006699"/>
          </a:solidFill>
          <a:ln>
            <a:solidFill>
              <a:schemeClr val="bg1"/>
            </a:solidFill>
            <a:round/>
            <a:headEnd/>
            <a:tailEnd/>
          </a:ln>
        </p:spPr>
        <p:txBody>
          <a:bodyPr numCol="1"/>
          <a:lstStyle/>
          <a:p>
            <a:pPr algn="l" indent="0" marL="0"/>
            <a:r>
              <a:rPr b="1" dirty="0" lang="en-US" smtClean="0" sz="2000">
                <a:latin charset="0" pitchFamily="49" typeface="Courier New"/>
              </a:rPr>
              <a:t>hostname SantaCruz</a:t>
            </a:r>
          </a:p>
          <a:p>
            <a:pPr algn="l" indent="0" marL="0"/>
            <a:r>
              <a:rPr b="1" dirty="0" lang="en-US" smtClean="0" sz="2000">
                <a:latin charset="0" pitchFamily="49" typeface="Courier New"/>
              </a:rPr>
              <a:t>username HQ password HQpass</a:t>
            </a:r>
          </a:p>
          <a:p>
            <a:pPr algn="l" indent="0" marL="0"/>
            <a:endParaRPr b="1" dirty="0" lang="en-US" smtClean="0" sz="2000">
              <a:latin charset="0" pitchFamily="49" typeface="Courier New"/>
            </a:endParaRPr>
          </a:p>
          <a:p>
            <a:pPr algn="l" indent="0" marL="0"/>
            <a:r>
              <a:rPr b="1" dirty="0" lang="en-US" smtClean="0" sz="2000">
                <a:latin charset="0" pitchFamily="49" typeface="Courier New"/>
              </a:rPr>
              <a:t>interface serial 0/2/0</a:t>
            </a:r>
          </a:p>
          <a:p>
            <a:pPr algn="l" indent="0" marL="0"/>
            <a:r>
              <a:rPr b="1" dirty="0" lang="en-US" smtClean="0" sz="2000">
                <a:latin charset="0" pitchFamily="49" typeface="Courier New"/>
              </a:rPr>
              <a:t>  ip address 172.25.3.5 255.255.255.252</a:t>
            </a:r>
          </a:p>
          <a:p>
            <a:pPr algn="l" indent="0" marL="0"/>
            <a:r>
              <a:rPr b="1" dirty="0" lang="en-US" smtClean="0" sz="2000">
                <a:latin charset="0" pitchFamily="49" typeface="Courier New"/>
              </a:rPr>
              <a:t>  encapsulation ppp</a:t>
            </a:r>
          </a:p>
          <a:p>
            <a:pPr algn="l" indent="0" marL="0"/>
            <a:r>
              <a:rPr b="1" dirty="0" lang="en-US" smtClean="0" sz="2000">
                <a:latin charset="0" pitchFamily="49" typeface="Courier New"/>
              </a:rPr>
              <a:t>  ppp authentication pap</a:t>
            </a:r>
          </a:p>
          <a:p>
            <a:pPr algn="l" indent="0" marL="0"/>
            <a:r>
              <a:rPr b="1" dirty="0" lang="en-US" smtClean="0" sz="2000">
                <a:latin charset="0" pitchFamily="49" typeface="Courier New"/>
              </a:rPr>
              <a:t>  ppp pap sent-username SantaCruz 				password SantaCruzpass</a:t>
            </a:r>
          </a:p>
        </p:txBody>
      </p:sp>
      <p:sp>
        <p:nvSpPr>
          <p:cNvPr id="328" name="Text Box 328"/>
          <p:cNvSpPr>
            <a:spLocks/>
          </p:cNvSpPr>
          <p:nvPr/>
        </p:nvSpPr>
        <p:spPr>
          <a:xfrm>
            <a:off x="228600" y="3429000"/>
            <a:ext cx="6553200" cy="2895600"/>
          </a:xfrm>
          <a:prstGeom prst="rect">
            <a:avLst/>
          </a:prstGeom>
          <a:solidFill>
            <a:srgbClr val="006699"/>
          </a:solidFill>
          <a:ln>
            <a:solidFill>
              <a:schemeClr val="bg1"/>
            </a:solidFill>
            <a:round/>
            <a:headEnd/>
            <a:tailEnd/>
          </a:ln>
        </p:spPr>
        <p:txBody>
          <a:bodyPr numCol="1"/>
          <a:lstStyle/>
          <a:p>
            <a:pPr algn="l" indent="0" marL="0"/>
            <a:r>
              <a:rPr b="1" dirty="0" lang="en-US" smtClean="0" sz="2000">
                <a:latin charset="0" pitchFamily="49" typeface="Courier New"/>
              </a:rPr>
              <a:t>hostname HQ</a:t>
            </a:r>
          </a:p>
          <a:p>
            <a:pPr algn="l" indent="0" marL="0"/>
            <a:r>
              <a:rPr b="1" dirty="0" lang="en-US" smtClean="0" sz="2000">
                <a:latin charset="0" pitchFamily="49" typeface="Courier New"/>
              </a:rPr>
              <a:t>username SantaCruz password SantaCruzpass</a:t>
            </a:r>
          </a:p>
          <a:p>
            <a:pPr algn="l" indent="0" marL="0"/>
            <a:endParaRPr b="1" dirty="0" lang="en-US" smtClean="0" sz="2000">
              <a:latin charset="0" pitchFamily="49" typeface="Courier New"/>
            </a:endParaRPr>
          </a:p>
          <a:p>
            <a:pPr algn="l" indent="0" marL="0"/>
            <a:r>
              <a:rPr b="1" dirty="0" lang="en-US" smtClean="0" sz="2000">
                <a:latin charset="0" pitchFamily="49" typeface="Courier New"/>
              </a:rPr>
              <a:t>interface serial 0/2/0</a:t>
            </a:r>
          </a:p>
          <a:p>
            <a:pPr algn="l" indent="0" marL="0"/>
            <a:r>
              <a:rPr b="1" dirty="0" lang="en-US" smtClean="0" sz="2000">
                <a:latin charset="0" pitchFamily="49" typeface="Courier New"/>
              </a:rPr>
              <a:t>  ip address 172.25.3.6 255.255.255.252</a:t>
            </a:r>
          </a:p>
          <a:p>
            <a:pPr algn="l" indent="0" marL="0"/>
            <a:r>
              <a:rPr b="1" dirty="0" lang="en-US" smtClean="0" sz="2000">
                <a:latin charset="0" pitchFamily="49" typeface="Courier New"/>
              </a:rPr>
              <a:t>  encapsulation ppp</a:t>
            </a:r>
          </a:p>
          <a:p>
            <a:pPr algn="l" indent="0" marL="0"/>
            <a:r>
              <a:rPr b="1" dirty="0" lang="en-US" smtClean="0" sz="2000">
                <a:latin charset="0" pitchFamily="49" typeface="Courier New"/>
              </a:rPr>
              <a:t>  ppp authentication pap</a:t>
            </a:r>
          </a:p>
          <a:p>
            <a:pPr algn="l" indent="0" marL="0"/>
            <a:r>
              <a:rPr b="1" dirty="0" lang="en-US" smtClean="0" sz="2000">
                <a:latin charset="0" pitchFamily="49" typeface="Courier New"/>
              </a:rPr>
              <a:t>  ppp pap sent-username HQ</a:t>
            </a:r>
            <a:br>
              <a:rPr b="1" dirty="0" lang="en-US" smtClean="0" sz="2000">
                <a:latin charset="0" pitchFamily="49" typeface="Courier New"/>
              </a:rPr>
            </a:br>
            <a:r>
              <a:rPr b="1" dirty="0" lang="en-US" smtClean="0" sz="2000">
                <a:latin charset="0" pitchFamily="49" typeface="Courier New"/>
              </a:rPr>
              <a:t>			password HQpass</a:t>
            </a:r>
          </a:p>
        </p:txBody>
      </p:sp>
      <p:pic>
        <p:nvPicPr>
          <p:cNvPr id="329" name="Picture 329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934200" y="990600"/>
            <a:ext cx="2033587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Text Box 331"/>
          <p:cNvSpPr txBox="1">
            <a:spLocks/>
          </p:cNvSpPr>
          <p:nvPr/>
        </p:nvSpPr>
        <p:spPr>
          <a:xfrm>
            <a:off x="7010400" y="228600"/>
            <a:ext cx="1828800" cy="579437"/>
          </a:xfrm>
          <a:prstGeom prst="rect">
            <a:avLst/>
          </a:prstGeom>
          <a:noFill/>
          <a:ln>
            <a:noFill/>
          </a:ln>
        </p:spPr>
        <p:txBody>
          <a:bodyPr lIns="0" numCol="1" rIns="0">
            <a:spAutoFit/>
          </a:bodyPr>
          <a:lstStyle/>
          <a:p>
            <a:pPr indent="0" marL="0"/>
            <a:r>
              <a:rPr dirty="0" lang="en-US" smtClean="0" sz="3200">
                <a:effectLst>
                  <a:outerShdw algn="tl" blurRad="38100" dir="2700000" dist="38100">
                    <a:srgbClr val="C0C0C0"/>
                  </a:outerShdw>
                </a:effectLst>
              </a:rPr>
              <a:t>PAP</a:t>
            </a:r>
          </a:p>
        </p:txBody>
      </p:sp>
      <p:grpSp>
        <p:nvGrpSpPr>
          <p:cNvPr id="333" name="Group 333"/>
          <p:cNvGrpSpPr>
            <a:grpSpLocks noChangeAspect="0" noGrp="0" noMove="0" noRot="0" noSelect="0" noUngrp="0"/>
          </p:cNvGrpSpPr>
          <p:nvPr/>
        </p:nvGrpSpPr>
        <p:grpSpPr>
          <a:xfrm>
            <a:off x="2895600" y="152400"/>
            <a:ext cx="3962400" cy="3581400"/>
            <a:chOff x="1824" y="96"/>
            <a:chExt cx="2496" cy="2256"/>
          </a:xfrm>
        </p:grpSpPr>
        <p:sp>
          <p:nvSpPr>
            <p:cNvPr id="334" name="Text Box 334"/>
            <p:cNvSpPr>
              <a:spLocks/>
            </p:cNvSpPr>
            <p:nvPr/>
          </p:nvSpPr>
          <p:spPr>
            <a:xfrm flipH="1">
              <a:off x="2832" y="336"/>
              <a:ext cx="288" cy="14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none"/>
              <a:tailEnd type="triangle"/>
            </a:ln>
          </p:spPr>
        </p:sp>
        <p:sp>
          <p:nvSpPr>
            <p:cNvPr id="335" name="Text Box 335"/>
            <p:cNvSpPr>
              <a:spLocks/>
            </p:cNvSpPr>
            <p:nvPr/>
          </p:nvSpPr>
          <p:spPr>
            <a:xfrm flipH="1">
              <a:off x="1824" y="720"/>
              <a:ext cx="1392" cy="1632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none"/>
              <a:tailEnd type="triangle"/>
            </a:ln>
          </p:spPr>
        </p:sp>
        <p:sp>
          <p:nvSpPr>
            <p:cNvPr id="336" name="Text Box 336"/>
            <p:cNvSpPr txBox="1">
              <a:spLocks/>
            </p:cNvSpPr>
            <p:nvPr/>
          </p:nvSpPr>
          <p:spPr>
            <a:xfrm>
              <a:off x="3120" y="96"/>
              <a:ext cx="1200" cy="658"/>
            </a:xfrm>
            <a:prstGeom prst="rect">
              <a:avLst/>
            </a:prstGeom>
            <a:solidFill>
              <a:srgbClr val="006600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45720" numCol="1" rIns="45720">
              <a:spAutoFit/>
            </a:bodyPr>
            <a:lstStyle/>
            <a:p>
              <a:pPr indent="0" marL="0"/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Remote usernames and passwords</a:t>
              </a:r>
            </a:p>
          </p:txBody>
        </p:sp>
      </p:grpSp>
      <p:grpSp>
        <p:nvGrpSpPr>
          <p:cNvPr id="338" name="Group 338"/>
          <p:cNvGrpSpPr>
            <a:grpSpLocks noChangeAspect="0" noGrp="0" noMove="0" noRot="0" noSelect="0" noUngrp="0"/>
          </p:cNvGrpSpPr>
          <p:nvPr/>
        </p:nvGrpSpPr>
        <p:grpSpPr>
          <a:xfrm>
            <a:off x="4343400" y="3124200"/>
            <a:ext cx="3352800" cy="3330575"/>
            <a:chOff x="2736" y="1968"/>
            <a:chExt cx="2112" cy="2098"/>
          </a:xfrm>
        </p:grpSpPr>
        <p:sp>
          <p:nvSpPr>
            <p:cNvPr id="339" name="Text Box 339"/>
            <p:cNvSpPr>
              <a:spLocks/>
            </p:cNvSpPr>
            <p:nvPr/>
          </p:nvSpPr>
          <p:spPr>
            <a:xfrm flipH="1" flipV="1">
              <a:off x="2736" y="1968"/>
              <a:ext cx="1248" cy="1488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 type="none"/>
              <a:tailEnd type="triangle"/>
            </a:ln>
          </p:spPr>
        </p:sp>
        <p:sp>
          <p:nvSpPr>
            <p:cNvPr id="340" name="Text Box 340"/>
            <p:cNvSpPr>
              <a:spLocks/>
            </p:cNvSpPr>
            <p:nvPr/>
          </p:nvSpPr>
          <p:spPr>
            <a:xfrm flipH="1">
              <a:off x="2832" y="3552"/>
              <a:ext cx="864" cy="144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 type="none"/>
              <a:tailEnd type="triangle"/>
            </a:ln>
          </p:spPr>
        </p:sp>
        <p:sp>
          <p:nvSpPr>
            <p:cNvPr id="341" name="Text Box 341"/>
            <p:cNvSpPr txBox="1">
              <a:spLocks/>
            </p:cNvSpPr>
            <p:nvPr/>
          </p:nvSpPr>
          <p:spPr>
            <a:xfrm>
              <a:off x="3648" y="3408"/>
              <a:ext cx="1200" cy="658"/>
            </a:xfrm>
            <a:prstGeom prst="rect">
              <a:avLst/>
            </a:prstGeom>
            <a:solidFill>
              <a:srgbClr val="006600"/>
            </a:soli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lIns="45720" numCol="1" rIns="45720">
              <a:spAutoFit/>
            </a:bodyPr>
            <a:lstStyle/>
            <a:p>
              <a:pPr indent="0" marL="0"/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Local usernames and passwords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Picture 342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922837" y="152400"/>
            <a:ext cx="4021137" cy="6400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5" name="Group 345"/>
          <p:cNvGrpSpPr>
            <a:grpSpLocks noChangeAspect="0" noGrp="0" noMove="0" noRot="0" noSelect="0" noUngrp="0"/>
          </p:cNvGrpSpPr>
          <p:nvPr/>
        </p:nvGrpSpPr>
        <p:grpSpPr>
          <a:xfrm>
            <a:off x="304800" y="152400"/>
            <a:ext cx="6858000" cy="1409700"/>
            <a:chOff x="192" y="96"/>
            <a:chExt cx="4320" cy="888"/>
          </a:xfrm>
        </p:grpSpPr>
        <p:sp>
          <p:nvSpPr>
            <p:cNvPr id="346" name="Text Box 346"/>
            <p:cNvSpPr txBox="1">
              <a:spLocks/>
            </p:cNvSpPr>
            <p:nvPr/>
          </p:nvSpPr>
          <p:spPr>
            <a:xfrm>
              <a:off x="4272" y="672"/>
              <a:ext cx="240" cy="312"/>
            </a:xfrm>
            <a:prstGeom prst="rect">
              <a:avLst/>
            </a:prstGeom>
            <a:solidFill>
              <a:srgbClr val="006699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0" numCol="1" rIns="0">
              <a:spAutoFit/>
            </a:bodyPr>
            <a:lstStyle/>
            <a:p>
              <a:pPr indent="0" marL="0"/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1</a:t>
              </a:r>
            </a:p>
          </p:txBody>
        </p:sp>
        <p:sp>
          <p:nvSpPr>
            <p:cNvPr id="347" name="Text Box 347"/>
            <p:cNvSpPr txBox="1">
              <a:spLocks/>
            </p:cNvSpPr>
            <p:nvPr/>
          </p:nvSpPr>
          <p:spPr>
            <a:xfrm>
              <a:off x="192" y="96"/>
              <a:ext cx="2640" cy="274"/>
            </a:xfrm>
            <a:prstGeom prst="rect">
              <a:avLst/>
            </a:prstGeom>
            <a:solidFill>
              <a:srgbClr val="006699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anchor="ctr" lIns="45720" numCol="1" rIns="45720">
              <a:spAutoFit/>
            </a:bodyPr>
            <a:lstStyle/>
            <a:p>
              <a:pPr algn="l" indent="0" marL="0"/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1. Establish PPP Link</a:t>
              </a:r>
            </a:p>
          </p:txBody>
        </p:sp>
      </p:grpSp>
      <p:grpSp>
        <p:nvGrpSpPr>
          <p:cNvPr id="349" name="Group 349"/>
          <p:cNvGrpSpPr>
            <a:grpSpLocks noChangeAspect="0" noGrp="0" noMove="0" noRot="0" noSelect="0" noUngrp="0"/>
          </p:cNvGrpSpPr>
          <p:nvPr/>
        </p:nvGrpSpPr>
        <p:grpSpPr>
          <a:xfrm>
            <a:off x="304800" y="685800"/>
            <a:ext cx="6858000" cy="1638300"/>
            <a:chOff x="192" y="432"/>
            <a:chExt cx="4320" cy="1032"/>
          </a:xfrm>
        </p:grpSpPr>
        <p:sp>
          <p:nvSpPr>
            <p:cNvPr id="350" name="Text Box 350"/>
            <p:cNvSpPr txBox="1">
              <a:spLocks/>
            </p:cNvSpPr>
            <p:nvPr/>
          </p:nvSpPr>
          <p:spPr>
            <a:xfrm>
              <a:off x="4272" y="1152"/>
              <a:ext cx="240" cy="312"/>
            </a:xfrm>
            <a:prstGeom prst="rect">
              <a:avLst/>
            </a:prstGeom>
            <a:solidFill>
              <a:srgbClr val="006699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0" numCol="1" rIns="0">
              <a:spAutoFit/>
            </a:bodyPr>
            <a:lstStyle/>
            <a:p>
              <a:pPr indent="0" marL="0"/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2</a:t>
              </a:r>
            </a:p>
          </p:txBody>
        </p:sp>
        <p:sp>
          <p:nvSpPr>
            <p:cNvPr id="351" name="Text Box 351"/>
            <p:cNvSpPr txBox="1">
              <a:spLocks/>
            </p:cNvSpPr>
            <p:nvPr/>
          </p:nvSpPr>
          <p:spPr>
            <a:xfrm>
              <a:off x="192" y="432"/>
              <a:ext cx="2640" cy="466"/>
            </a:xfrm>
            <a:prstGeom prst="rect">
              <a:avLst/>
            </a:prstGeom>
            <a:solidFill>
              <a:srgbClr val="006699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anchor="ctr" lIns="45720" numCol="1" rIns="45720">
              <a:spAutoFit/>
            </a:bodyPr>
            <a:lstStyle/>
            <a:p>
              <a:pPr algn="l" indent="0" marL="0"/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2. Configuration request for PAP</a:t>
              </a:r>
              <a:b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    authentication.</a:t>
              </a:r>
            </a:p>
          </p:txBody>
        </p:sp>
      </p:grpSp>
      <p:grpSp>
        <p:nvGrpSpPr>
          <p:cNvPr id="353" name="Group 353"/>
          <p:cNvGrpSpPr>
            <a:grpSpLocks noChangeAspect="0" noGrp="0" noMove="0" noRot="0" noSelect="0" noUngrp="0"/>
          </p:cNvGrpSpPr>
          <p:nvPr/>
        </p:nvGrpSpPr>
        <p:grpSpPr>
          <a:xfrm>
            <a:off x="304800" y="1524000"/>
            <a:ext cx="6858000" cy="1638300"/>
            <a:chOff x="192" y="960"/>
            <a:chExt cx="4320" cy="1032"/>
          </a:xfrm>
        </p:grpSpPr>
        <p:sp>
          <p:nvSpPr>
            <p:cNvPr id="354" name="Text Box 354"/>
            <p:cNvSpPr txBox="1">
              <a:spLocks/>
            </p:cNvSpPr>
            <p:nvPr/>
          </p:nvSpPr>
          <p:spPr>
            <a:xfrm>
              <a:off x="4272" y="1680"/>
              <a:ext cx="240" cy="312"/>
            </a:xfrm>
            <a:prstGeom prst="rect">
              <a:avLst/>
            </a:prstGeom>
            <a:solidFill>
              <a:srgbClr val="006699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0" numCol="1" rIns="0">
              <a:spAutoFit/>
            </a:bodyPr>
            <a:lstStyle/>
            <a:p>
              <a:pPr indent="0" marL="0"/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3</a:t>
              </a:r>
            </a:p>
          </p:txBody>
        </p:sp>
        <p:sp>
          <p:nvSpPr>
            <p:cNvPr id="355" name="Text Box 355"/>
            <p:cNvSpPr txBox="1">
              <a:spLocks/>
            </p:cNvSpPr>
            <p:nvPr/>
          </p:nvSpPr>
          <p:spPr>
            <a:xfrm>
              <a:off x="192" y="960"/>
              <a:ext cx="2640" cy="274"/>
            </a:xfrm>
            <a:prstGeom prst="rect">
              <a:avLst/>
            </a:prstGeom>
            <a:solidFill>
              <a:srgbClr val="006699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anchor="ctr" lIns="45720" numCol="1" rIns="45720">
              <a:spAutoFit/>
            </a:bodyPr>
            <a:lstStyle/>
            <a:p>
              <a:pPr algn="l" indent="0" marL="0"/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3. Configuration ACK.</a:t>
              </a:r>
            </a:p>
          </p:txBody>
        </p:sp>
      </p:grpSp>
      <p:grpSp>
        <p:nvGrpSpPr>
          <p:cNvPr id="357" name="Group 357"/>
          <p:cNvGrpSpPr>
            <a:grpSpLocks noChangeAspect="0" noGrp="0" noMove="0" noRot="0" noSelect="0" noUngrp="0"/>
          </p:cNvGrpSpPr>
          <p:nvPr/>
        </p:nvGrpSpPr>
        <p:grpSpPr>
          <a:xfrm>
            <a:off x="304800" y="2057400"/>
            <a:ext cx="6858000" cy="2019300"/>
            <a:chOff x="192" y="1296"/>
            <a:chExt cx="4320" cy="1272"/>
          </a:xfrm>
        </p:grpSpPr>
        <p:sp>
          <p:nvSpPr>
            <p:cNvPr id="358" name="Text Box 358"/>
            <p:cNvSpPr txBox="1">
              <a:spLocks/>
            </p:cNvSpPr>
            <p:nvPr/>
          </p:nvSpPr>
          <p:spPr>
            <a:xfrm>
              <a:off x="4272" y="2256"/>
              <a:ext cx="240" cy="312"/>
            </a:xfrm>
            <a:prstGeom prst="rect">
              <a:avLst/>
            </a:prstGeom>
            <a:solidFill>
              <a:srgbClr val="006699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0" numCol="1" rIns="0">
              <a:spAutoFit/>
            </a:bodyPr>
            <a:lstStyle/>
            <a:p>
              <a:pPr indent="0" marL="0"/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4</a:t>
              </a:r>
            </a:p>
          </p:txBody>
        </p:sp>
        <p:sp>
          <p:nvSpPr>
            <p:cNvPr id="359" name="Text Box 359"/>
            <p:cNvSpPr txBox="1">
              <a:spLocks/>
            </p:cNvSpPr>
            <p:nvPr/>
          </p:nvSpPr>
          <p:spPr>
            <a:xfrm>
              <a:off x="192" y="1296"/>
              <a:ext cx="2640" cy="850"/>
            </a:xfrm>
            <a:prstGeom prst="rect">
              <a:avLst/>
            </a:prstGeom>
            <a:solidFill>
              <a:srgbClr val="006699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anchor="ctr" lIns="45720" numCol="1" rIns="45720">
              <a:spAutoFit/>
            </a:bodyPr>
            <a:lstStyle/>
            <a:p>
              <a:pPr algn="l" indent="0" marL="0"/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4. SantaCruz sends the</a:t>
              </a:r>
              <a:b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    </a:t>
              </a:r>
              <a:r>
                <a:rPr dirty="0" i="1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SantaCruz</a:t>
              </a:r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 username and</a:t>
              </a:r>
              <a:b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   </a:t>
              </a:r>
              <a:r>
                <a:rPr dirty="0" i="1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 SantCruzpass </a:t>
              </a:r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password</a:t>
              </a:r>
              <a:b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    configured for the interface. </a:t>
              </a:r>
            </a:p>
          </p:txBody>
        </p:sp>
      </p:grpSp>
      <p:grpSp>
        <p:nvGrpSpPr>
          <p:cNvPr id="361" name="Group 361"/>
          <p:cNvGrpSpPr>
            <a:grpSpLocks noChangeAspect="0" noGrp="0" noMove="0" noRot="0" noSelect="0" noUngrp="0"/>
          </p:cNvGrpSpPr>
          <p:nvPr/>
        </p:nvGrpSpPr>
        <p:grpSpPr>
          <a:xfrm>
            <a:off x="304800" y="3505200"/>
            <a:ext cx="7848600" cy="1485900"/>
            <a:chOff x="192" y="2208"/>
            <a:chExt cx="4944" cy="936"/>
          </a:xfrm>
        </p:grpSpPr>
        <p:sp>
          <p:nvSpPr>
            <p:cNvPr id="362" name="Text Box 362"/>
            <p:cNvSpPr txBox="1">
              <a:spLocks/>
            </p:cNvSpPr>
            <p:nvPr/>
          </p:nvSpPr>
          <p:spPr>
            <a:xfrm>
              <a:off x="192" y="2208"/>
              <a:ext cx="2640" cy="658"/>
            </a:xfrm>
            <a:prstGeom prst="rect">
              <a:avLst/>
            </a:prstGeom>
            <a:solidFill>
              <a:srgbClr val="006699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anchor="ctr" lIns="45720" numCol="1" rIns="45720">
              <a:spAutoFit/>
            </a:bodyPr>
            <a:lstStyle/>
            <a:p>
              <a:pPr algn="l" indent="0" marL="0"/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5. HQ looks up the received name,</a:t>
              </a:r>
              <a:b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    retrieves the password and</a:t>
              </a:r>
              <a:b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    </a:t>
              </a:r>
              <a:r>
                <a:rPr dirty="0" i="1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compares configured to received</a:t>
              </a:r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. </a:t>
              </a:r>
            </a:p>
          </p:txBody>
        </p:sp>
        <p:sp>
          <p:nvSpPr>
            <p:cNvPr id="363" name="Text Box 363"/>
            <p:cNvSpPr txBox="1">
              <a:spLocks/>
            </p:cNvSpPr>
            <p:nvPr/>
          </p:nvSpPr>
          <p:spPr>
            <a:xfrm>
              <a:off x="4896" y="2832"/>
              <a:ext cx="240" cy="312"/>
            </a:xfrm>
            <a:prstGeom prst="rect">
              <a:avLst/>
            </a:prstGeom>
            <a:solidFill>
              <a:srgbClr val="006699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0" numCol="1" rIns="0">
              <a:spAutoFit/>
            </a:bodyPr>
            <a:lstStyle/>
            <a:p>
              <a:pPr indent="0" marL="0"/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5</a:t>
              </a:r>
            </a:p>
          </p:txBody>
        </p:sp>
      </p:grpSp>
      <p:grpSp>
        <p:nvGrpSpPr>
          <p:cNvPr id="365" name="Group 365"/>
          <p:cNvGrpSpPr>
            <a:grpSpLocks noChangeAspect="0" noGrp="0" noMove="0" noRot="0" noSelect="0" noUngrp="0"/>
          </p:cNvGrpSpPr>
          <p:nvPr/>
        </p:nvGrpSpPr>
        <p:grpSpPr>
          <a:xfrm>
            <a:off x="304800" y="4572000"/>
            <a:ext cx="7010400" cy="1928812"/>
            <a:chOff x="192" y="2880"/>
            <a:chExt cx="4416" cy="1215"/>
          </a:xfrm>
        </p:grpSpPr>
        <p:sp>
          <p:nvSpPr>
            <p:cNvPr id="366" name="Text Box 366"/>
            <p:cNvSpPr txBox="1">
              <a:spLocks/>
            </p:cNvSpPr>
            <p:nvPr/>
          </p:nvSpPr>
          <p:spPr>
            <a:xfrm>
              <a:off x="192" y="2976"/>
              <a:ext cx="2640" cy="1119"/>
            </a:xfrm>
            <a:prstGeom prst="rect">
              <a:avLst/>
            </a:prstGeom>
            <a:solidFill>
              <a:srgbClr val="006699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anchor="ctr" lIns="45720" numCol="1" rIns="45720">
              <a:spAutoFit/>
            </a:bodyPr>
            <a:lstStyle/>
            <a:p>
              <a:pPr algn="l" indent="0" marL="0"/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6. </a:t>
              </a:r>
              <a:r>
                <a:rPr dirty="0" i="1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If they are the same</a:t>
              </a:r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, send an</a:t>
              </a:r>
              <a:b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    </a:t>
              </a:r>
              <a:r>
                <a:rPr dirty="0" lang="en-US" smtClean="0" sz="2000">
                  <a:solidFill>
                    <a:srgbClr val="FF6600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ACK </a:t>
              </a:r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and allow access.</a:t>
              </a:r>
              <a:b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 sz="8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/>
              </a:r>
              <a:br>
                <a:rPr dirty="0" lang="en-US" smtClean="0" sz="80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    </a:t>
              </a:r>
              <a:r>
                <a:rPr dirty="0" i="1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If they are not the same</a:t>
              </a:r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, send a</a:t>
              </a:r>
              <a:b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   </a:t>
              </a:r>
              <a:r>
                <a:rPr dirty="0" lang="en-US" smtClean="0" sz="2000">
                  <a:solidFill>
                    <a:srgbClr val="FF6600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 NACK</a:t>
              </a:r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 and terminate the</a:t>
              </a:r>
              <a:b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</a:br>
              <a:r>
                <a:rPr dirty="0" lang="en-US" smtClean="0" sz="200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    connection.</a:t>
              </a:r>
            </a:p>
          </p:txBody>
        </p:sp>
        <p:sp>
          <p:nvSpPr>
            <p:cNvPr id="367" name="Text Box 367"/>
            <p:cNvSpPr txBox="1">
              <a:spLocks/>
            </p:cNvSpPr>
            <p:nvPr/>
          </p:nvSpPr>
          <p:spPr>
            <a:xfrm>
              <a:off x="4128" y="3312"/>
              <a:ext cx="240" cy="312"/>
            </a:xfrm>
            <a:prstGeom prst="rect">
              <a:avLst/>
            </a:prstGeom>
            <a:solidFill>
              <a:srgbClr val="006699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0" numCol="1" rIns="0">
              <a:spAutoFit/>
            </a:bodyPr>
            <a:lstStyle/>
            <a:p>
              <a:pPr indent="0" marL="0"/>
              <a:r>
                <a:rPr dirty="0" lang="en-US" smtClean="0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6</a:t>
              </a:r>
            </a:p>
          </p:txBody>
        </p:sp>
        <p:sp>
          <p:nvSpPr>
            <p:cNvPr id="368" name="Text Box 368"/>
            <p:cNvSpPr txBox="1">
              <a:spLocks/>
            </p:cNvSpPr>
            <p:nvPr/>
          </p:nvSpPr>
          <p:spPr>
            <a:xfrm>
              <a:off x="3552" y="2880"/>
              <a:ext cx="576" cy="274"/>
            </a:xfrm>
            <a:prstGeom prst="rect">
              <a:avLst/>
            </a:prstGeom>
            <a:solidFill>
              <a:srgbClr val="006600"/>
            </a:soli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lIns="0" numCol="1" rIns="0">
              <a:spAutoFit/>
            </a:bodyPr>
            <a:lstStyle/>
            <a:p>
              <a:pPr indent="0" marL="0"/>
              <a:r>
                <a:rPr dirty="0" lang="en-US" smtClean="0" sz="2000">
                  <a:solidFill>
                    <a:srgbClr val="FF6600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ACK</a:t>
              </a:r>
            </a:p>
          </p:txBody>
        </p:sp>
        <p:sp>
          <p:nvSpPr>
            <p:cNvPr id="369" name="Text Box 369"/>
            <p:cNvSpPr txBox="1">
              <a:spLocks/>
            </p:cNvSpPr>
            <p:nvPr/>
          </p:nvSpPr>
          <p:spPr>
            <a:xfrm>
              <a:off x="4032" y="3696"/>
              <a:ext cx="576" cy="274"/>
            </a:xfrm>
            <a:prstGeom prst="rect">
              <a:avLst/>
            </a:prstGeom>
            <a:solidFill>
              <a:srgbClr val="006600"/>
            </a:soli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lIns="0" numCol="1" rIns="0">
              <a:spAutoFit/>
            </a:bodyPr>
            <a:lstStyle/>
            <a:p>
              <a:pPr indent="0" marL="0"/>
              <a:r>
                <a:rPr dirty="0" lang="en-US" smtClean="0" sz="2000">
                  <a:solidFill>
                    <a:srgbClr val="FF6600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NACK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Text Box 370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PPP Authentication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Protocol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-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CHAP</a:t>
            </a:r>
          </a:p>
        </p:txBody>
      </p:sp>
      <p:sp>
        <p:nvSpPr>
          <p:cNvPr id="371" name="Text Box 371"/>
          <p:cNvSpPr>
            <a:spLocks/>
          </p:cNvSpPr>
          <p:nvPr>
            <p:ph type="body"/>
          </p:nvPr>
        </p:nvSpPr>
        <p:spPr>
          <a:xfrm>
            <a:off x="152400" y="3429000"/>
            <a:ext cx="8839200" cy="32766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457200" marL="457200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Challenge Handshake Authentication Protocol (CHAP):</a:t>
            </a:r>
          </a:p>
          <a:p>
            <a:pPr indent="-457200" lvl="1" marL="1023937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The preferred authentication protocol.</a:t>
            </a:r>
          </a:p>
          <a:p>
            <a:pPr indent="-457200" lvl="1" marL="1023937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Uses a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three-way handshake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.</a:t>
            </a:r>
          </a:p>
          <a:p>
            <a:pPr indent="-457200" lvl="1" marL="1023937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Challenge/Response messages use MD5 hashing on random values and the password. </a:t>
            </a:r>
          </a:p>
          <a:p>
            <a:pPr indent="-457200" lvl="1" marL="1023937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Challenge/Response sequence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repeated at random periods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during the connect.</a:t>
            </a:r>
          </a:p>
        </p:txBody>
      </p:sp>
      <p:pic>
        <p:nvPicPr>
          <p:cNvPr id="372" name="Picture 372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524000" y="990600"/>
            <a:ext cx="60960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Text Box 374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PPP Authentication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Protocol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-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CHAP</a:t>
            </a:r>
          </a:p>
        </p:txBody>
      </p:sp>
      <p:sp>
        <p:nvSpPr>
          <p:cNvPr id="375" name="Text Box 375"/>
          <p:cNvSpPr>
            <a:spLocks/>
          </p:cNvSpPr>
          <p:nvPr>
            <p:ph type="body"/>
          </p:nvPr>
        </p:nvSpPr>
        <p:spPr>
          <a:xfrm>
            <a:off x="152400" y="3429000"/>
            <a:ext cx="8839200" cy="32766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457200" marL="45720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CHAP provides protection against playback attack through the use of a variable and hashed challenge value that is unique and unpredictable. </a:t>
            </a:r>
          </a:p>
          <a:p>
            <a:pPr indent="-457200" marL="45720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The use of repeated challenges is intended to limit the time of exposure to any single attack. </a:t>
            </a:r>
          </a:p>
          <a:p>
            <a:pPr indent="-457200" marL="45720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Unlike PAP,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the local router or a third-party authentication server is in control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of the frequency and timing of the challenges.</a:t>
            </a:r>
          </a:p>
        </p:txBody>
      </p:sp>
      <p:pic>
        <p:nvPicPr>
          <p:cNvPr id="376" name="Picture 376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524000" y="990600"/>
            <a:ext cx="60960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Text Box 378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PPP Authentication – CHAP Challenge</a:t>
            </a:r>
          </a:p>
        </p:txBody>
      </p:sp>
      <p:sp>
        <p:nvSpPr>
          <p:cNvPr id="379" name="Text Box 379"/>
          <p:cNvSpPr>
            <a:spLocks/>
          </p:cNvSpPr>
          <p:nvPr>
            <p:ph type="body"/>
          </p:nvPr>
        </p:nvSpPr>
        <p:spPr>
          <a:xfrm>
            <a:off x="152400" y="3886200"/>
            <a:ext cx="8839200" cy="28194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457200" marL="457200">
              <a:lnSpc>
                <a:spcPct val="90000"/>
              </a:lnSpc>
              <a:buFont charset="0" typeface="Arial"/>
              <a:buChar char="•"/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A CHAP challenge packet is built by the HQ router with the following characteristics:</a:t>
            </a:r>
          </a:p>
          <a:p>
            <a:pPr indent="-457200" lvl="1" marL="1023937">
              <a:lnSpc>
                <a:spcPct val="90000"/>
              </a:lnSpc>
            </a:pP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01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= challenge packet type identifier.</a:t>
            </a:r>
          </a:p>
          <a:p>
            <a:pPr indent="-457200" lvl="1" marL="1023937">
              <a:lnSpc>
                <a:spcPct val="90000"/>
              </a:lnSpc>
            </a:pP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ID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= sequential number that identifies the challenge.</a:t>
            </a:r>
          </a:p>
          <a:p>
            <a:pPr indent="-457200" lvl="1" marL="1023937">
              <a:lnSpc>
                <a:spcPct val="90000"/>
              </a:lnSpc>
            </a:pP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random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= a reasonably random number generated by the router.</a:t>
            </a:r>
          </a:p>
          <a:p>
            <a:pPr indent="-457200" lvl="1" marL="1023937">
              <a:lnSpc>
                <a:spcPct val="90000"/>
              </a:lnSpc>
            </a:pP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HQ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= the authentication name of the challenger.</a:t>
            </a:r>
          </a:p>
        </p:txBody>
      </p:sp>
      <p:pic>
        <p:nvPicPr>
          <p:cNvPr id="380" name="Picture 380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371600" y="914400"/>
            <a:ext cx="6724650" cy="2389187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Text Box 382"/>
          <p:cNvSpPr>
            <a:spLocks/>
          </p:cNvSpPr>
          <p:nvPr/>
        </p:nvSpPr>
        <p:spPr>
          <a:xfrm>
            <a:off x="3657600" y="2590800"/>
            <a:ext cx="3124200" cy="533400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 lIns="0" numCol="1" rIns="0">
            <a:spAutoFit/>
          </a:bodyPr>
          <a:lstStyle/>
          <a:p>
            <a:endParaRPr/>
          </a:p>
        </p:txBody>
      </p:sp>
      <p:sp>
        <p:nvSpPr>
          <p:cNvPr id="383" name="Text Box 383"/>
          <p:cNvSpPr>
            <a:spLocks/>
          </p:cNvSpPr>
          <p:nvPr/>
        </p:nvSpPr>
        <p:spPr>
          <a:xfrm>
            <a:off x="3657600" y="1219200"/>
            <a:ext cx="1752600" cy="533400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 lIns="0" numCol="1" rIns="0">
            <a:spAutoFit/>
          </a:bodyPr>
          <a:lstStyle/>
          <a:p>
            <a:endParaRPr/>
          </a:p>
        </p:txBody>
      </p:sp>
      <p:sp>
        <p:nvSpPr>
          <p:cNvPr id="384" name="Text Box 384"/>
          <p:cNvSpPr>
            <a:spLocks/>
          </p:cNvSpPr>
          <p:nvPr/>
        </p:nvSpPr>
        <p:spPr>
          <a:xfrm>
            <a:off x="152400" y="3429000"/>
            <a:ext cx="8839200" cy="4572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l" indent="-457200" marL="457200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FontTx/>
              <a:buChar char="•"/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SantaCruz calls HQ and establishes a ppp link.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ext Box 385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CHAP Challenge</a:t>
            </a:r>
          </a:p>
        </p:txBody>
      </p:sp>
      <p:sp>
        <p:nvSpPr>
          <p:cNvPr id="386" name="Text Box 386"/>
          <p:cNvSpPr>
            <a:spLocks/>
          </p:cNvSpPr>
          <p:nvPr>
            <p:ph type="body"/>
          </p:nvPr>
        </p:nvSpPr>
        <p:spPr>
          <a:xfrm>
            <a:off x="152400" y="3429000"/>
            <a:ext cx="8839200" cy="32766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457200" marL="457200">
              <a:buFont charset="0" typeface="Arial"/>
              <a:buChar char="•"/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The ID and random values are kept on the HQ router or the </a:t>
            </a:r>
            <a:r>
              <a:rPr dirty="0" i="1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called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router.</a:t>
            </a:r>
          </a:p>
          <a:p>
            <a:pPr indent="-457200" marL="457200">
              <a:buFont charset="0" typeface="Arial"/>
              <a:buChar char="•"/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The challenge packet is sent to the </a:t>
            </a:r>
            <a:r>
              <a:rPr dirty="0" i="1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calling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router.</a:t>
            </a:r>
          </a:p>
          <a:p>
            <a:pPr indent="-457200" marL="457200">
              <a:buFont charset="0" typeface="Arial"/>
              <a:buChar char="•"/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A list of outstanding challenges is maintained.</a:t>
            </a:r>
          </a:p>
        </p:txBody>
      </p:sp>
      <p:pic>
        <p:nvPicPr>
          <p:cNvPr id="387" name="Picture 387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371600" y="914400"/>
            <a:ext cx="6724650" cy="2389187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Text Box 389"/>
          <p:cNvSpPr>
            <a:spLocks/>
          </p:cNvSpPr>
          <p:nvPr/>
        </p:nvSpPr>
        <p:spPr>
          <a:xfrm>
            <a:off x="3962400" y="2590800"/>
            <a:ext cx="1295400" cy="533400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 lIns="0" numCol="1" rIns="0">
            <a:spAutoFit/>
          </a:bodyPr>
          <a:lstStyle/>
          <a:p>
            <a:endParaRPr/>
          </a:p>
        </p:txBody>
      </p:sp>
      <p:sp>
        <p:nvSpPr>
          <p:cNvPr id="390" name="Text Box 390"/>
          <p:cNvSpPr>
            <a:spLocks/>
          </p:cNvSpPr>
          <p:nvPr/>
        </p:nvSpPr>
        <p:spPr>
          <a:xfrm flipV="1">
            <a:off x="4876800" y="1676400"/>
            <a:ext cx="1905000" cy="9144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none"/>
            <a:tailEnd type="triangle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Picture 391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505200" y="152400"/>
            <a:ext cx="5486400" cy="3529012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Text Box 393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CHAP Challenge</a:t>
            </a:r>
          </a:p>
        </p:txBody>
      </p:sp>
      <p:sp>
        <p:nvSpPr>
          <p:cNvPr id="394" name="Text Box 394"/>
          <p:cNvSpPr>
            <a:spLocks/>
          </p:cNvSpPr>
          <p:nvPr>
            <p:ph type="body"/>
          </p:nvPr>
        </p:nvSpPr>
        <p:spPr>
          <a:xfrm>
            <a:off x="152400" y="3810000"/>
            <a:ext cx="8839200" cy="4572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457200" marL="457200">
              <a:buFont charset="0" typeface="Arial"/>
              <a:buChar char="•"/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The name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HQ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is used to look up the password.</a:t>
            </a:r>
          </a:p>
        </p:txBody>
      </p:sp>
      <p:sp>
        <p:nvSpPr>
          <p:cNvPr id="395" name="Text Box 395"/>
          <p:cNvSpPr txBox="1">
            <a:spLocks/>
          </p:cNvSpPr>
          <p:nvPr/>
        </p:nvSpPr>
        <p:spPr>
          <a:xfrm>
            <a:off x="457200" y="1447800"/>
            <a:ext cx="2743200" cy="1373187"/>
          </a:xfrm>
          <a:prstGeom prst="rect">
            <a:avLst/>
          </a:prstGeom>
          <a:noFill/>
          <a:ln>
            <a:noFill/>
          </a:ln>
        </p:spPr>
        <p:txBody>
          <a:bodyPr lIns="0" numCol="1" rIns="0">
            <a:spAutoFit/>
          </a:bodyPr>
          <a:lstStyle/>
          <a:p>
            <a:pPr indent="0" marL="0"/>
            <a: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  <a:t>Receive</a:t>
            </a:r>
            <a:b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  <a: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  <a:t>CHAP</a:t>
            </a:r>
            <a:b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  <a: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  <a:t>Challenge</a:t>
            </a:r>
          </a:p>
        </p:txBody>
      </p:sp>
      <p:grpSp>
        <p:nvGrpSpPr>
          <p:cNvPr id="397" name="Group 397"/>
          <p:cNvGrpSpPr>
            <a:grpSpLocks noChangeAspect="0" noGrp="0" noMove="0" noRot="0" noSelect="0" noUngrp="0"/>
          </p:cNvGrpSpPr>
          <p:nvPr/>
        </p:nvGrpSpPr>
        <p:grpSpPr>
          <a:xfrm>
            <a:off x="4800600" y="1447800"/>
            <a:ext cx="2971800" cy="533400"/>
            <a:chOff x="3024" y="912"/>
            <a:chExt cx="1872" cy="336"/>
          </a:xfrm>
        </p:grpSpPr>
        <p:sp>
          <p:nvSpPr>
            <p:cNvPr id="398" name="Text Box 398"/>
            <p:cNvSpPr>
              <a:spLocks/>
            </p:cNvSpPr>
            <p:nvPr/>
          </p:nvSpPr>
          <p:spPr>
            <a:xfrm>
              <a:off x="4272" y="912"/>
              <a:ext cx="624" cy="336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anchor="ctr" lIns="0" numCol="1" rIns="0" wrap="none">
              <a:spAutoFit/>
            </a:bodyPr>
            <a:lstStyle/>
            <a:p>
              <a:endParaRPr/>
            </a:p>
          </p:txBody>
        </p:sp>
        <p:sp>
          <p:nvSpPr>
            <p:cNvPr id="399" name="Text Box 399"/>
            <p:cNvSpPr>
              <a:spLocks/>
            </p:cNvSpPr>
            <p:nvPr/>
          </p:nvSpPr>
          <p:spPr>
            <a:xfrm flipH="1" flipV="1">
              <a:off x="3024" y="1152"/>
              <a:ext cx="1248" cy="4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/>
              <a:tailEnd type="triangle"/>
            </a:ln>
          </p:spPr>
        </p:sp>
      </p:grpSp>
      <p:sp>
        <p:nvSpPr>
          <p:cNvPr id="400" name="Text Box 400"/>
          <p:cNvSpPr>
            <a:spLocks/>
          </p:cNvSpPr>
          <p:nvPr/>
        </p:nvSpPr>
        <p:spPr>
          <a:xfrm>
            <a:off x="152400" y="4343400"/>
            <a:ext cx="8839200" cy="7620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l" indent="-457200" marL="457200">
              <a:spcBef>
                <a:spcPct val="20000"/>
              </a:spcBef>
              <a:buClr>
                <a:srgbClr val="FFFF00"/>
              </a:buClr>
              <a:buFontTx/>
              <a:buChar char="•"/>
            </a:pPr>
            <a:r>
              <a:rPr dirty="0" lang="en-US" smtClean="0">
                <a:solidFill>
                  <a:schemeClr val="bg1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The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ID value, the random value and the password</a:t>
            </a:r>
            <a:r>
              <a:rPr dirty="0" lang="en-US" smtClean="0">
                <a:solidFill>
                  <a:schemeClr val="bg1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are fed into the MD5 hash generator.</a:t>
            </a:r>
          </a:p>
        </p:txBody>
      </p:sp>
      <p:sp>
        <p:nvSpPr>
          <p:cNvPr id="401" name="Text Box 401"/>
          <p:cNvSpPr>
            <a:spLocks/>
          </p:cNvSpPr>
          <p:nvPr/>
        </p:nvSpPr>
        <p:spPr>
          <a:xfrm>
            <a:off x="152400" y="5257800"/>
            <a:ext cx="8839200" cy="7620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l" indent="-457200" marL="457200">
              <a:spcBef>
                <a:spcPct val="20000"/>
              </a:spcBef>
              <a:buClr>
                <a:srgbClr val="FFFF00"/>
              </a:buClr>
              <a:buFontTx/>
              <a:buChar char="•"/>
            </a:pPr>
            <a:r>
              <a:rPr dirty="0" lang="en-US" smtClean="0">
                <a:solidFill>
                  <a:schemeClr val="bg1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The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result is the one-way MD5-hashed CHAP challenge</a:t>
            </a:r>
            <a:r>
              <a:rPr dirty="0" lang="en-US" smtClean="0">
                <a:solidFill>
                  <a:schemeClr val="bg1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that will be sent back in the CHAP response.</a:t>
            </a:r>
          </a:p>
        </p:txBody>
      </p:sp>
      <p:pic>
        <p:nvPicPr>
          <p:cNvPr id="402" name="Picture 40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86200" y="1981200"/>
            <a:ext cx="2514600" cy="1557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5" name="Group 405"/>
          <p:cNvGrpSpPr>
            <a:grpSpLocks noChangeAspect="0" noGrp="0" noMove="0" noRot="0" noSelect="0" noUngrp="0"/>
          </p:cNvGrpSpPr>
          <p:nvPr/>
        </p:nvGrpSpPr>
        <p:grpSpPr>
          <a:xfrm>
            <a:off x="4038600" y="1371600"/>
            <a:ext cx="2667000" cy="685800"/>
            <a:chOff x="2544" y="864"/>
            <a:chExt cx="1680" cy="432"/>
          </a:xfrm>
        </p:grpSpPr>
        <p:sp>
          <p:nvSpPr>
            <p:cNvPr id="406" name="Text Box 406"/>
            <p:cNvSpPr>
              <a:spLocks/>
            </p:cNvSpPr>
            <p:nvPr/>
          </p:nvSpPr>
          <p:spPr>
            <a:xfrm>
              <a:off x="3600" y="960"/>
              <a:ext cx="624" cy="288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anchor="ctr" lIns="0" numCol="1" rIns="0">
              <a:spAutoFit/>
            </a:bodyPr>
            <a:lstStyle/>
            <a:p>
              <a:endParaRPr/>
            </a:p>
          </p:txBody>
        </p:sp>
        <p:sp>
          <p:nvSpPr>
            <p:cNvPr id="407" name="Text Box 407"/>
            <p:cNvSpPr>
              <a:spLocks/>
            </p:cNvSpPr>
            <p:nvPr/>
          </p:nvSpPr>
          <p:spPr>
            <a:xfrm>
              <a:off x="2544" y="864"/>
              <a:ext cx="528" cy="4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anchor="ctr" lIns="0" numCol="1" rIns="0" wrap="none">
              <a:spAutoFit/>
            </a:bodyPr>
            <a:lstStyle/>
            <a:p>
              <a:endParaRPr/>
            </a:p>
          </p:txBody>
        </p:sp>
      </p:grpSp>
      <p:sp>
        <p:nvSpPr>
          <p:cNvPr id="408" name="Text Box 408"/>
          <p:cNvSpPr>
            <a:spLocks/>
          </p:cNvSpPr>
          <p:nvPr/>
        </p:nvSpPr>
        <p:spPr>
          <a:xfrm>
            <a:off x="4114800" y="3200400"/>
            <a:ext cx="914400" cy="457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 lIns="0" numCol="1" rIns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Picture 409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505200" y="152400"/>
            <a:ext cx="5495925" cy="3506787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Text Box 411"/>
          <p:cNvSpPr>
            <a:spLocks/>
          </p:cNvSpPr>
          <p:nvPr>
            <p:ph type="body"/>
          </p:nvPr>
        </p:nvSpPr>
        <p:spPr>
          <a:xfrm>
            <a:off x="152400" y="3657600"/>
            <a:ext cx="8839200" cy="29718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457200" marL="457200">
              <a:buFont charset="0" typeface="Arial"/>
              <a:buChar char="•"/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The response packet is assembled and sent.</a:t>
            </a:r>
          </a:p>
          <a:p>
            <a:pPr indent="-457200" lvl="1" marL="1023937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02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= CHAP response packet type identifier.</a:t>
            </a:r>
          </a:p>
          <a:p>
            <a:pPr indent="-457200" lvl="1" marL="1023937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ID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= copied from the challenge packet.</a:t>
            </a:r>
          </a:p>
          <a:p>
            <a:pPr indent="-457200" lvl="1" marL="1023937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hash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= the output from the MD5 hash generator.</a:t>
            </a:r>
          </a:p>
          <a:p>
            <a:pPr indent="-457200" lvl="1" marL="1023937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SantaCruz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= the hostname of the responding device.</a:t>
            </a:r>
            <a:b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</a:b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                      (</a:t>
            </a:r>
            <a:r>
              <a:rPr dirty="0" i="1" lang="en-US" smtClean="0" sz="200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From the </a:t>
            </a:r>
            <a:r>
              <a:rPr b="1" dirty="0" i="1" lang="en-US" smtClean="0" sz="200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typeface="Arial"/>
              </a:rPr>
              <a:t>hostname</a:t>
            </a:r>
            <a:r>
              <a:rPr dirty="0" i="1" lang="en-US" smtClean="0" sz="200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command or the</a:t>
            </a:r>
            <a:br>
              <a:rPr dirty="0" i="1" lang="en-US" smtClean="0" sz="200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</a:br>
            <a:r>
              <a:rPr dirty="0" i="1" lang="en-US" smtClean="0" sz="200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                                           </a:t>
            </a:r>
            <a:r>
              <a:rPr b="1" dirty="0" i="1" lang="en-US" smtClean="0" sz="200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typeface="Arial"/>
              </a:rPr>
              <a:t>ppp chap hostname</a:t>
            </a:r>
            <a:r>
              <a:rPr dirty="0" i="1" lang="en-US" smtClean="0" sz="200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command). </a:t>
            </a:r>
          </a:p>
        </p:txBody>
      </p:sp>
      <p:sp>
        <p:nvSpPr>
          <p:cNvPr id="412" name="Text Box 412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CHAP Challenge</a:t>
            </a:r>
          </a:p>
        </p:txBody>
      </p:sp>
      <p:sp>
        <p:nvSpPr>
          <p:cNvPr id="413" name="Text Box 413"/>
          <p:cNvSpPr txBox="1">
            <a:spLocks/>
          </p:cNvSpPr>
          <p:nvPr/>
        </p:nvSpPr>
        <p:spPr>
          <a:xfrm>
            <a:off x="457200" y="1447800"/>
            <a:ext cx="2743200" cy="946150"/>
          </a:xfrm>
          <a:prstGeom prst="rect">
            <a:avLst/>
          </a:prstGeom>
          <a:noFill/>
          <a:ln>
            <a:noFill/>
          </a:ln>
        </p:spPr>
        <p:txBody>
          <a:bodyPr lIns="0" numCol="1" rIns="0">
            <a:spAutoFit/>
          </a:bodyPr>
          <a:lstStyle/>
          <a:p>
            <a:pPr indent="0" marL="0"/>
            <a: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  <a:t>CHAP</a:t>
            </a:r>
            <a:b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  <a: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  <a:t>Response</a:t>
            </a:r>
          </a:p>
        </p:txBody>
      </p:sp>
      <p:sp>
        <p:nvSpPr>
          <p:cNvPr id="414" name="Text Box 414"/>
          <p:cNvSpPr>
            <a:spLocks/>
          </p:cNvSpPr>
          <p:nvPr/>
        </p:nvSpPr>
        <p:spPr>
          <a:xfrm>
            <a:off x="4724400" y="2209800"/>
            <a:ext cx="2743200" cy="457200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 lIns="0" numCol="1" rIns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Picture 415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352800" y="152400"/>
            <a:ext cx="5610225" cy="3490912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Text Box 417"/>
          <p:cNvSpPr>
            <a:spLocks/>
          </p:cNvSpPr>
          <p:nvPr>
            <p:ph type="body"/>
          </p:nvPr>
        </p:nvSpPr>
        <p:spPr>
          <a:xfrm>
            <a:off x="152400" y="3810000"/>
            <a:ext cx="8839200" cy="4572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457200" marL="457200">
              <a:buFont charset="0" typeface="Arial"/>
              <a:buChar char="•"/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The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ID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is used to find the original challenge packet.</a:t>
            </a:r>
          </a:p>
        </p:txBody>
      </p:sp>
      <p:sp>
        <p:nvSpPr>
          <p:cNvPr id="418" name="Text Box 418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CHAP Challenge</a:t>
            </a:r>
          </a:p>
        </p:txBody>
      </p:sp>
      <p:sp>
        <p:nvSpPr>
          <p:cNvPr id="419" name="Text Box 419"/>
          <p:cNvSpPr txBox="1">
            <a:spLocks/>
          </p:cNvSpPr>
          <p:nvPr/>
        </p:nvSpPr>
        <p:spPr>
          <a:xfrm>
            <a:off x="457200" y="1447800"/>
            <a:ext cx="2743200" cy="1373187"/>
          </a:xfrm>
          <a:prstGeom prst="rect">
            <a:avLst/>
          </a:prstGeom>
          <a:noFill/>
          <a:ln>
            <a:noFill/>
          </a:ln>
        </p:spPr>
        <p:txBody>
          <a:bodyPr lIns="0" numCol="1" rIns="0">
            <a:spAutoFit/>
          </a:bodyPr>
          <a:lstStyle/>
          <a:p>
            <a:pPr indent="0" marL="0"/>
            <a: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  <a:t>Receive</a:t>
            </a:r>
            <a:b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  <a: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  <a:t>CHAP</a:t>
            </a:r>
            <a:b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  <a: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  <a:t>Response</a:t>
            </a:r>
          </a:p>
        </p:txBody>
      </p:sp>
      <p:sp>
        <p:nvSpPr>
          <p:cNvPr id="420" name="Text Box 420"/>
          <p:cNvSpPr>
            <a:spLocks/>
          </p:cNvSpPr>
          <p:nvPr/>
        </p:nvSpPr>
        <p:spPr>
          <a:xfrm>
            <a:off x="152400" y="4343400"/>
            <a:ext cx="8839200" cy="8382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l" indent="-457200" marL="457200">
              <a:spcBef>
                <a:spcPct val="20000"/>
              </a:spcBef>
              <a:buClr>
                <a:srgbClr val="FFFF00"/>
              </a:buClr>
              <a:buFontTx/>
              <a:buChar char="•"/>
            </a:pPr>
            <a:r>
              <a:rPr dirty="0" lang="en-US" smtClean="0">
                <a:solidFill>
                  <a:schemeClr val="bg1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The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name is used to look up the password</a:t>
            </a:r>
            <a:r>
              <a:rPr dirty="0" lang="en-US" smtClean="0">
                <a:solidFill>
                  <a:schemeClr val="bg1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from a configured name or a security server.</a:t>
            </a:r>
          </a:p>
        </p:txBody>
      </p:sp>
      <p:sp>
        <p:nvSpPr>
          <p:cNvPr id="421" name="Text Box 421"/>
          <p:cNvSpPr>
            <a:spLocks/>
          </p:cNvSpPr>
          <p:nvPr/>
        </p:nvSpPr>
        <p:spPr>
          <a:xfrm>
            <a:off x="152400" y="5181600"/>
            <a:ext cx="8839200" cy="838200"/>
          </a:xfrm>
          <a:prstGeom prst="rect">
            <a:avLst/>
          </a:prstGeom>
          <a:noFill/>
          <a:ln>
            <a:noFill/>
          </a:ln>
        </p:spPr>
        <p:txBody>
          <a:bodyPr numCol="1"/>
          <a:lstStyle/>
          <a:p>
            <a:pPr algn="l" indent="-457200" marL="457200">
              <a:spcBef>
                <a:spcPct val="20000"/>
              </a:spcBef>
              <a:buClr>
                <a:srgbClr val="FFFF00"/>
              </a:buClr>
              <a:buFontTx/>
              <a:buChar char="•"/>
            </a:pPr>
            <a:r>
              <a:rPr dirty="0" lang="en-US" smtClean="0">
                <a:solidFill>
                  <a:schemeClr val="bg1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The 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original ID, the original random value and the password</a:t>
            </a:r>
            <a:r>
              <a:rPr dirty="0" lang="en-US" smtClean="0">
                <a:solidFill>
                  <a:schemeClr val="bg1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are fed into the MD5 hash generator.</a:t>
            </a:r>
          </a:p>
        </p:txBody>
      </p:sp>
      <p:grpSp>
        <p:nvGrpSpPr>
          <p:cNvPr id="423" name="Group 423"/>
          <p:cNvGrpSpPr>
            <a:grpSpLocks noChangeAspect="0" noGrp="0" noMove="0" noRot="0" noSelect="0" noUngrp="0"/>
          </p:cNvGrpSpPr>
          <p:nvPr/>
        </p:nvGrpSpPr>
        <p:grpSpPr>
          <a:xfrm>
            <a:off x="5486400" y="990600"/>
            <a:ext cx="3429000" cy="914400"/>
            <a:chOff x="3456" y="624"/>
            <a:chExt cx="2160" cy="576"/>
          </a:xfrm>
        </p:grpSpPr>
        <p:sp>
          <p:nvSpPr>
            <p:cNvPr id="424" name="Text Box 424"/>
            <p:cNvSpPr>
              <a:spLocks/>
            </p:cNvSpPr>
            <p:nvPr/>
          </p:nvSpPr>
          <p:spPr>
            <a:xfrm>
              <a:off x="3456" y="912"/>
              <a:ext cx="672" cy="288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anchor="ctr" lIns="0" numCol="1" rIns="0" wrap="none">
              <a:spAutoFit/>
            </a:bodyPr>
            <a:lstStyle/>
            <a:p>
              <a:endParaRPr/>
            </a:p>
          </p:txBody>
        </p:sp>
        <p:sp>
          <p:nvSpPr>
            <p:cNvPr id="425" name="Text Box 425"/>
            <p:cNvSpPr>
              <a:spLocks/>
            </p:cNvSpPr>
            <p:nvPr/>
          </p:nvSpPr>
          <p:spPr>
            <a:xfrm>
              <a:off x="5088" y="624"/>
              <a:ext cx="528" cy="384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anchor="ctr" lIns="0" numCol="1" rIns="0" wrap="none">
              <a:spAutoFit/>
            </a:bodyPr>
            <a:lstStyle/>
            <a:p>
              <a:endParaRPr/>
            </a:p>
          </p:txBody>
        </p:sp>
      </p:grpSp>
      <p:grpSp>
        <p:nvGrpSpPr>
          <p:cNvPr id="427" name="Group 427"/>
          <p:cNvGrpSpPr>
            <a:grpSpLocks noChangeAspect="0" noGrp="0" noMove="0" noRot="0" noSelect="0" noUngrp="0"/>
          </p:cNvGrpSpPr>
          <p:nvPr/>
        </p:nvGrpSpPr>
        <p:grpSpPr>
          <a:xfrm>
            <a:off x="4953000" y="1828800"/>
            <a:ext cx="762000" cy="838200"/>
            <a:chOff x="3120" y="1152"/>
            <a:chExt cx="480" cy="528"/>
          </a:xfrm>
        </p:grpSpPr>
        <p:sp>
          <p:nvSpPr>
            <p:cNvPr id="428" name="Text Box 428"/>
            <p:cNvSpPr>
              <a:spLocks/>
            </p:cNvSpPr>
            <p:nvPr/>
          </p:nvSpPr>
          <p:spPr>
            <a:xfrm>
              <a:off x="3120" y="1392"/>
              <a:ext cx="240" cy="288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anchor="ctr" lIns="0" numCol="1" rIns="0">
              <a:spAutoFit/>
            </a:bodyPr>
            <a:lstStyle/>
            <a:p>
              <a:endParaRPr/>
            </a:p>
          </p:txBody>
        </p:sp>
        <p:sp>
          <p:nvSpPr>
            <p:cNvPr id="429" name="Text Box 429"/>
            <p:cNvSpPr>
              <a:spLocks/>
            </p:cNvSpPr>
            <p:nvPr/>
          </p:nvSpPr>
          <p:spPr>
            <a:xfrm flipV="1">
              <a:off x="3312" y="1152"/>
              <a:ext cx="288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/>
              <a:tailEnd type="triangle"/>
            </a:ln>
          </p:spPr>
        </p:sp>
      </p:grpSp>
      <p:grpSp>
        <p:nvGrpSpPr>
          <p:cNvPr id="431" name="Group 431"/>
          <p:cNvGrpSpPr>
            <a:grpSpLocks noChangeAspect="0" noGrp="0" noMove="0" noRot="0" noSelect="0" noUngrp="0"/>
          </p:cNvGrpSpPr>
          <p:nvPr/>
        </p:nvGrpSpPr>
        <p:grpSpPr>
          <a:xfrm>
            <a:off x="5867400" y="1447800"/>
            <a:ext cx="2286000" cy="1219200"/>
            <a:chOff x="3696" y="912"/>
            <a:chExt cx="1440" cy="768"/>
          </a:xfrm>
        </p:grpSpPr>
        <p:sp>
          <p:nvSpPr>
            <p:cNvPr id="432" name="Text Box 432"/>
            <p:cNvSpPr>
              <a:spLocks/>
            </p:cNvSpPr>
            <p:nvPr/>
          </p:nvSpPr>
          <p:spPr>
            <a:xfrm>
              <a:off x="3696" y="1392"/>
              <a:ext cx="816" cy="288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anchor="ctr" lIns="0" numCol="1" rIns="0" wrap="none">
              <a:spAutoFit/>
            </a:bodyPr>
            <a:lstStyle/>
            <a:p>
              <a:endParaRPr/>
            </a:p>
          </p:txBody>
        </p:sp>
        <p:sp>
          <p:nvSpPr>
            <p:cNvPr id="433" name="Text Box 433"/>
            <p:cNvSpPr>
              <a:spLocks/>
            </p:cNvSpPr>
            <p:nvPr/>
          </p:nvSpPr>
          <p:spPr>
            <a:xfrm flipV="1">
              <a:off x="4368" y="912"/>
              <a:ext cx="768" cy="48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/>
              <a:tailEnd type="triangle"/>
            </a:ln>
          </p:spPr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Picture 434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352800" y="152400"/>
            <a:ext cx="5610225" cy="3490912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Text Box 436"/>
          <p:cNvSpPr>
            <a:spLocks/>
          </p:cNvSpPr>
          <p:nvPr>
            <p:ph type="body"/>
          </p:nvPr>
        </p:nvSpPr>
        <p:spPr>
          <a:xfrm>
            <a:off x="152400" y="3810000"/>
            <a:ext cx="8839200" cy="17526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457200" marL="457200">
              <a:buFont charset="0" typeface="Arial"/>
              <a:buChar char="•"/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The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hash value received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in the response packet is then </a:t>
            </a:r>
            <a:r>
              <a:rPr dirty="0" i="1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compared to the calculated MD5 hash value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.</a:t>
            </a:r>
          </a:p>
          <a:p>
            <a:pPr indent="-457200" marL="457200">
              <a:buFont charset="0" typeface="Arial"/>
              <a:buChar char="•"/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CHAP authentication succeeds if the calculated and the received hash values are equal.</a:t>
            </a:r>
          </a:p>
        </p:txBody>
      </p:sp>
      <p:sp>
        <p:nvSpPr>
          <p:cNvPr id="437" name="Text Box 437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CHAP Challenge</a:t>
            </a:r>
          </a:p>
        </p:txBody>
      </p:sp>
      <p:sp>
        <p:nvSpPr>
          <p:cNvPr id="438" name="Text Box 438"/>
          <p:cNvSpPr txBox="1">
            <a:spLocks/>
          </p:cNvSpPr>
          <p:nvPr/>
        </p:nvSpPr>
        <p:spPr>
          <a:xfrm>
            <a:off x="457200" y="1447800"/>
            <a:ext cx="2743200" cy="1373187"/>
          </a:xfrm>
          <a:prstGeom prst="rect">
            <a:avLst/>
          </a:prstGeom>
          <a:noFill/>
          <a:ln>
            <a:noFill/>
          </a:ln>
        </p:spPr>
        <p:txBody>
          <a:bodyPr lIns="0" numCol="1" rIns="0">
            <a:spAutoFit/>
          </a:bodyPr>
          <a:lstStyle/>
          <a:p>
            <a:pPr indent="0" marL="0"/>
            <a: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  <a:t>Receive</a:t>
            </a:r>
            <a:b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  <a: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  <a:t>CHAP</a:t>
            </a:r>
            <a:b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  <a: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  <a:t>Response</a:t>
            </a:r>
          </a:p>
        </p:txBody>
      </p:sp>
      <p:sp>
        <p:nvSpPr>
          <p:cNvPr id="439" name="Text Box 439"/>
          <p:cNvSpPr>
            <a:spLocks/>
          </p:cNvSpPr>
          <p:nvPr/>
        </p:nvSpPr>
        <p:spPr>
          <a:xfrm>
            <a:off x="5181600" y="2209800"/>
            <a:ext cx="838200" cy="457200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 lIns="0" numCol="1" rIns="0" wrap="none">
            <a:spAutoFit/>
          </a:bodyPr>
          <a:lstStyle/>
          <a:p>
            <a:endParaRPr/>
          </a:p>
        </p:txBody>
      </p:sp>
      <p:sp>
        <p:nvSpPr>
          <p:cNvPr id="440" name="Text Box 440"/>
          <p:cNvSpPr>
            <a:spLocks/>
          </p:cNvSpPr>
          <p:nvPr/>
        </p:nvSpPr>
        <p:spPr>
          <a:xfrm>
            <a:off x="8077200" y="2667000"/>
            <a:ext cx="762000" cy="457200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 lIns="0" numCol="1" rIns="0" wrap="none">
            <a:spAutoFit/>
          </a:bodyPr>
          <a:lstStyle/>
          <a:p>
            <a:endParaRPr/>
          </a:p>
        </p:txBody>
      </p:sp>
      <p:sp>
        <p:nvSpPr>
          <p:cNvPr id="441" name="Text Box 441"/>
          <p:cNvSpPr>
            <a:spLocks/>
          </p:cNvSpPr>
          <p:nvPr/>
        </p:nvSpPr>
        <p:spPr>
          <a:xfrm>
            <a:off x="6096000" y="2667000"/>
            <a:ext cx="1828800" cy="2286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triangle"/>
            <a:tailEnd type="triangle"/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Picture 442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352800" y="152400"/>
            <a:ext cx="5610225" cy="3490912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Text Box 444"/>
          <p:cNvSpPr>
            <a:spLocks/>
          </p:cNvSpPr>
          <p:nvPr>
            <p:ph type="body"/>
          </p:nvPr>
        </p:nvSpPr>
        <p:spPr>
          <a:xfrm>
            <a:off x="152400" y="3810000"/>
            <a:ext cx="8839200" cy="26670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457200" marL="457200">
              <a:buFont charset="0" typeface="Arial"/>
              <a:buChar char="•"/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If authentication is </a:t>
            </a:r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successful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, a CHAP success packet is built from the following components:</a:t>
            </a:r>
          </a:p>
          <a:p>
            <a:pPr indent="-457200" lvl="1" marL="1023937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03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= CHAP success message type.</a:t>
            </a:r>
          </a:p>
          <a:p>
            <a:pPr indent="-457200" lvl="1" marL="1023937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ID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= copied from the response packet.</a:t>
            </a:r>
          </a:p>
          <a:p>
            <a:pPr indent="-457200" lvl="1" marL="1023937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“Welcome In”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is simply a text message providing a user-readable explanation.</a:t>
            </a:r>
          </a:p>
        </p:txBody>
      </p:sp>
      <p:sp>
        <p:nvSpPr>
          <p:cNvPr id="445" name="Text Box 445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CHAP Challenge</a:t>
            </a:r>
          </a:p>
        </p:txBody>
      </p:sp>
      <p:sp>
        <p:nvSpPr>
          <p:cNvPr id="446" name="Text Box 446"/>
          <p:cNvSpPr txBox="1">
            <a:spLocks/>
          </p:cNvSpPr>
          <p:nvPr/>
        </p:nvSpPr>
        <p:spPr>
          <a:xfrm>
            <a:off x="457200" y="1447800"/>
            <a:ext cx="2743200" cy="1373187"/>
          </a:xfrm>
          <a:prstGeom prst="rect">
            <a:avLst/>
          </a:prstGeom>
          <a:noFill/>
          <a:ln>
            <a:noFill/>
          </a:ln>
        </p:spPr>
        <p:txBody>
          <a:bodyPr lIns="0" numCol="1" rIns="0">
            <a:spAutoFit/>
          </a:bodyPr>
          <a:lstStyle/>
          <a:p>
            <a:pPr indent="0" marL="0"/>
            <a: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  <a:t>Success</a:t>
            </a:r>
            <a:b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  <a: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  <a:t>OR</a:t>
            </a:r>
            <a:b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  <a: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  <a:t>Failure</a:t>
            </a:r>
          </a:p>
        </p:txBody>
      </p:sp>
      <p:grpSp>
        <p:nvGrpSpPr>
          <p:cNvPr id="447" name="Group 447"/>
          <p:cNvGrpSpPr>
            <a:grpSpLocks noChangeAspect="0" noGrp="0" noMove="0" noRot="0" noSelect="0" noUngrp="0"/>
          </p:cNvGrpSpPr>
          <p:nvPr/>
        </p:nvGrpSpPr>
        <p:grpSpPr>
          <a:xfrm>
            <a:off x="5105400" y="1066800"/>
            <a:ext cx="3657600" cy="914400"/>
            <a:chOff x="3216" y="672"/>
            <a:chExt cx="2304" cy="576"/>
          </a:xfrm>
        </p:grpSpPr>
        <p:sp>
          <p:nvSpPr>
            <p:cNvPr id="448" name="Text Box 448"/>
            <p:cNvSpPr>
              <a:spLocks/>
            </p:cNvSpPr>
            <p:nvPr/>
          </p:nvSpPr>
          <p:spPr>
            <a:xfrm>
              <a:off x="3216" y="672"/>
              <a:ext cx="528" cy="288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anchor="ctr" lIns="0" numCol="1" rIns="0" wrap="none">
              <a:spAutoFit/>
            </a:bodyPr>
            <a:lstStyle/>
            <a:p>
              <a:endParaRPr/>
            </a:p>
          </p:txBody>
        </p:sp>
        <p:sp>
          <p:nvSpPr>
            <p:cNvPr id="449" name="Text Box 449"/>
            <p:cNvSpPr>
              <a:spLocks/>
            </p:cNvSpPr>
            <p:nvPr/>
          </p:nvSpPr>
          <p:spPr>
            <a:xfrm>
              <a:off x="5040" y="960"/>
              <a:ext cx="480" cy="288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anchor="ctr" lIns="0" numCol="1" rIns="0" wrap="none">
              <a:spAutoFit/>
            </a:bodyPr>
            <a:lstStyle/>
            <a:p>
              <a:endParaRPr/>
            </a:p>
          </p:txBody>
        </p:sp>
        <p:sp>
          <p:nvSpPr>
            <p:cNvPr id="450" name="Text Box 450"/>
            <p:cNvSpPr>
              <a:spLocks/>
            </p:cNvSpPr>
            <p:nvPr/>
          </p:nvSpPr>
          <p:spPr>
            <a:xfrm>
              <a:off x="3792" y="912"/>
              <a:ext cx="1152" cy="14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/>
              <a:tailEnd type="triangle"/>
            </a:ln>
          </p:spPr>
        </p:sp>
      </p:grpSp>
      <p:grpSp>
        <p:nvGrpSpPr>
          <p:cNvPr id="452" name="Group 452"/>
          <p:cNvGrpSpPr>
            <a:grpSpLocks noChangeAspect="0" noGrp="0" noMove="0" noRot="0" noSelect="0" noUngrp="0"/>
          </p:cNvGrpSpPr>
          <p:nvPr/>
        </p:nvGrpSpPr>
        <p:grpSpPr>
          <a:xfrm>
            <a:off x="4267200" y="1447800"/>
            <a:ext cx="3200400" cy="914400"/>
            <a:chOff x="2688" y="912"/>
            <a:chExt cx="2016" cy="576"/>
          </a:xfrm>
        </p:grpSpPr>
        <p:sp>
          <p:nvSpPr>
            <p:cNvPr id="453" name="Text Box 453"/>
            <p:cNvSpPr txBox="1">
              <a:spLocks/>
            </p:cNvSpPr>
            <p:nvPr/>
          </p:nvSpPr>
          <p:spPr>
            <a:xfrm>
              <a:off x="2688" y="960"/>
              <a:ext cx="288" cy="25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0" numCol="1" rIns="0">
              <a:spAutoFit/>
            </a:bodyPr>
            <a:lstStyle/>
            <a:p>
              <a:pPr indent="0" marL="0"/>
              <a:r>
                <a:rPr dirty="0" lang="en-US" smtClean="0" sz="1800">
                  <a:solidFill>
                    <a:schemeClr val="tx1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03</a:t>
              </a:r>
            </a:p>
          </p:txBody>
        </p:sp>
        <p:sp>
          <p:nvSpPr>
            <p:cNvPr id="454" name="Text Box 454"/>
            <p:cNvSpPr>
              <a:spLocks/>
            </p:cNvSpPr>
            <p:nvPr/>
          </p:nvSpPr>
          <p:spPr>
            <a:xfrm>
              <a:off x="2976" y="1200"/>
              <a:ext cx="336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/>
              <a:tailEnd type="triangle"/>
            </a:ln>
          </p:spPr>
        </p:sp>
        <p:sp>
          <p:nvSpPr>
            <p:cNvPr id="455" name="Text Box 455"/>
            <p:cNvSpPr>
              <a:spLocks/>
            </p:cNvSpPr>
            <p:nvPr/>
          </p:nvSpPr>
          <p:spPr>
            <a:xfrm flipH="1">
              <a:off x="3936" y="1152"/>
              <a:ext cx="336" cy="3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/>
              <a:tailEnd type="triangle"/>
            </a:ln>
          </p:spPr>
        </p:sp>
        <p:sp>
          <p:nvSpPr>
            <p:cNvPr id="456" name="Text Box 456"/>
            <p:cNvSpPr txBox="1">
              <a:spLocks/>
            </p:cNvSpPr>
            <p:nvPr/>
          </p:nvSpPr>
          <p:spPr>
            <a:xfrm>
              <a:off x="3408" y="912"/>
              <a:ext cx="1296" cy="25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0" numCol="1" rIns="0">
              <a:spAutoFit/>
            </a:bodyPr>
            <a:lstStyle/>
            <a:p>
              <a:pPr indent="0" marL="0"/>
              <a:r>
                <a:rPr dirty="0" lang="en-US" smtClean="0" sz="1800">
                  <a:solidFill>
                    <a:schemeClr val="tx1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Welcome In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Picture 457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352800" y="152400"/>
            <a:ext cx="5610225" cy="3490912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Text Box 459"/>
          <p:cNvSpPr>
            <a:spLocks/>
          </p:cNvSpPr>
          <p:nvPr>
            <p:ph type="body"/>
          </p:nvPr>
        </p:nvSpPr>
        <p:spPr>
          <a:xfrm>
            <a:off x="152400" y="3810000"/>
            <a:ext cx="8839200" cy="26670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457200" marL="457200">
              <a:buFont charset="0" typeface="Arial"/>
              <a:buChar char="•"/>
            </a:pP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If authentication fails, a CHAP failure packet is built from the following components:</a:t>
            </a:r>
          </a:p>
          <a:p>
            <a:pPr indent="-457200" lvl="1" marL="1023937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04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= CHAP failure message type.</a:t>
            </a:r>
          </a:p>
          <a:p>
            <a:pPr indent="-457200" lvl="1" marL="1023937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ID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= copied from the response packet.</a:t>
            </a:r>
          </a:p>
          <a:p>
            <a:pPr indent="-457200" lvl="1" marL="1023937"/>
            <a:r>
              <a:rPr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“Authentication failure”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 or other text message, providing a user-readable explanation.</a:t>
            </a:r>
          </a:p>
        </p:txBody>
      </p:sp>
      <p:sp>
        <p:nvSpPr>
          <p:cNvPr id="460" name="Text Box 460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CHAP Challenge</a:t>
            </a:r>
          </a:p>
        </p:txBody>
      </p:sp>
      <p:sp>
        <p:nvSpPr>
          <p:cNvPr id="461" name="Text Box 461"/>
          <p:cNvSpPr txBox="1">
            <a:spLocks/>
          </p:cNvSpPr>
          <p:nvPr/>
        </p:nvSpPr>
        <p:spPr>
          <a:xfrm>
            <a:off x="457200" y="1447800"/>
            <a:ext cx="2743200" cy="1373187"/>
          </a:xfrm>
          <a:prstGeom prst="rect">
            <a:avLst/>
          </a:prstGeom>
          <a:noFill/>
          <a:ln>
            <a:noFill/>
          </a:ln>
        </p:spPr>
        <p:txBody>
          <a:bodyPr lIns="0" numCol="1" rIns="0">
            <a:spAutoFit/>
          </a:bodyPr>
          <a:lstStyle/>
          <a:p>
            <a:pPr indent="0" marL="0"/>
            <a: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  <a:t>Success</a:t>
            </a:r>
            <a:b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  <a: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  <a:t>OR</a:t>
            </a:r>
            <a:b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</a:br>
            <a:r>
              <a:rPr dirty="0" i="1" lang="en-US" smtClean="0" sz="2800">
                <a:effectLst>
                  <a:outerShdw algn="tl" blurRad="38100" dir="2700000" dist="38100">
                    <a:srgbClr val="C0C0C0"/>
                  </a:outerShdw>
                </a:effectLst>
              </a:rPr>
              <a:t>Failure</a:t>
            </a:r>
          </a:p>
        </p:txBody>
      </p:sp>
      <p:grpSp>
        <p:nvGrpSpPr>
          <p:cNvPr id="462" name="Group 462"/>
          <p:cNvGrpSpPr>
            <a:grpSpLocks noChangeAspect="0" noGrp="0" noMove="0" noRot="0" noSelect="0" noUngrp="0"/>
          </p:cNvGrpSpPr>
          <p:nvPr/>
        </p:nvGrpSpPr>
        <p:grpSpPr>
          <a:xfrm>
            <a:off x="4267200" y="1447800"/>
            <a:ext cx="3200400" cy="914400"/>
            <a:chOff x="2688" y="912"/>
            <a:chExt cx="2016" cy="576"/>
          </a:xfrm>
        </p:grpSpPr>
        <p:sp>
          <p:nvSpPr>
            <p:cNvPr id="463" name="Text Box 463"/>
            <p:cNvSpPr txBox="1">
              <a:spLocks/>
            </p:cNvSpPr>
            <p:nvPr/>
          </p:nvSpPr>
          <p:spPr>
            <a:xfrm>
              <a:off x="2688" y="960"/>
              <a:ext cx="288" cy="25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0" numCol="1" rIns="0">
              <a:spAutoFit/>
            </a:bodyPr>
            <a:lstStyle/>
            <a:p>
              <a:pPr indent="0" marL="0"/>
              <a:r>
                <a:rPr dirty="0" lang="en-US" smtClean="0" sz="1800">
                  <a:solidFill>
                    <a:schemeClr val="tx1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03</a:t>
              </a:r>
            </a:p>
          </p:txBody>
        </p:sp>
        <p:sp>
          <p:nvSpPr>
            <p:cNvPr id="464" name="Text Box 464"/>
            <p:cNvSpPr>
              <a:spLocks/>
            </p:cNvSpPr>
            <p:nvPr/>
          </p:nvSpPr>
          <p:spPr>
            <a:xfrm>
              <a:off x="2976" y="1200"/>
              <a:ext cx="336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/>
              <a:tailEnd type="triangle"/>
            </a:ln>
          </p:spPr>
        </p:sp>
        <p:sp>
          <p:nvSpPr>
            <p:cNvPr id="465" name="Text Box 465"/>
            <p:cNvSpPr>
              <a:spLocks/>
            </p:cNvSpPr>
            <p:nvPr/>
          </p:nvSpPr>
          <p:spPr>
            <a:xfrm flipH="1">
              <a:off x="3936" y="1152"/>
              <a:ext cx="336" cy="3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/>
              <a:tailEnd type="triangle"/>
            </a:ln>
          </p:spPr>
        </p:sp>
        <p:sp>
          <p:nvSpPr>
            <p:cNvPr id="466" name="Text Box 466"/>
            <p:cNvSpPr txBox="1">
              <a:spLocks/>
            </p:cNvSpPr>
            <p:nvPr/>
          </p:nvSpPr>
          <p:spPr>
            <a:xfrm>
              <a:off x="3408" y="912"/>
              <a:ext cx="1296" cy="25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0" numCol="1" rIns="0">
              <a:spAutoFit/>
            </a:bodyPr>
            <a:lstStyle/>
            <a:p>
              <a:pPr indent="0" marL="0"/>
              <a:r>
                <a:rPr dirty="0" lang="en-US" smtClean="0" sz="1800">
                  <a:solidFill>
                    <a:schemeClr val="tx1"/>
                  </a:solidFill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Welcome In</a:t>
              </a:r>
            </a:p>
          </p:txBody>
        </p:sp>
      </p:grpSp>
      <p:sp>
        <p:nvSpPr>
          <p:cNvPr id="467" name="Text Box 467"/>
          <p:cNvSpPr txBox="1">
            <a:spLocks/>
          </p:cNvSpPr>
          <p:nvPr/>
        </p:nvSpPr>
        <p:spPr>
          <a:xfrm>
            <a:off x="4267200" y="1524000"/>
            <a:ext cx="457200" cy="40481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lIns="0" numCol="1" rIns="0">
            <a:spAutoFit/>
          </a:bodyPr>
          <a:lstStyle/>
          <a:p>
            <a:pPr indent="0" marL="0"/>
            <a:r>
              <a:rPr dirty="0" lang="en-US" smtClean="0" sz="1800">
                <a:solidFill>
                  <a:schemeClr val="tx1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03</a:t>
            </a:r>
          </a:p>
        </p:txBody>
      </p:sp>
      <p:sp>
        <p:nvSpPr>
          <p:cNvPr id="468" name="Text Box 468"/>
          <p:cNvSpPr>
            <a:spLocks/>
          </p:cNvSpPr>
          <p:nvPr/>
        </p:nvSpPr>
        <p:spPr>
          <a:xfrm>
            <a:off x="4724400" y="1905000"/>
            <a:ext cx="5334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/>
            <a:tailEnd type="triangle"/>
          </a:ln>
        </p:spPr>
      </p:sp>
      <p:sp>
        <p:nvSpPr>
          <p:cNvPr id="469" name="Text Box 469"/>
          <p:cNvSpPr>
            <a:spLocks/>
          </p:cNvSpPr>
          <p:nvPr/>
        </p:nvSpPr>
        <p:spPr>
          <a:xfrm flipH="1">
            <a:off x="6248400" y="1828800"/>
            <a:ext cx="533400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/>
            <a:tailEnd type="triangle"/>
          </a:ln>
        </p:spPr>
      </p:sp>
      <p:sp>
        <p:nvSpPr>
          <p:cNvPr id="470" name="Text Box 470"/>
          <p:cNvSpPr txBox="1">
            <a:spLocks/>
          </p:cNvSpPr>
          <p:nvPr/>
        </p:nvSpPr>
        <p:spPr>
          <a:xfrm>
            <a:off x="5410200" y="1447800"/>
            <a:ext cx="2057400" cy="40481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lIns="0" numCol="1" rIns="0">
            <a:spAutoFit/>
          </a:bodyPr>
          <a:lstStyle/>
          <a:p>
            <a:pPr indent="0" marL="0"/>
            <a:r>
              <a:rPr dirty="0" lang="en-US" smtClean="0" sz="1800">
                <a:solidFill>
                  <a:schemeClr val="tx1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Welcome In</a:t>
            </a:r>
          </a:p>
        </p:txBody>
      </p:sp>
      <p:sp>
        <p:nvSpPr>
          <p:cNvPr id="471" name="Text Box 471"/>
          <p:cNvSpPr txBox="1">
            <a:spLocks/>
          </p:cNvSpPr>
          <p:nvPr/>
        </p:nvSpPr>
        <p:spPr>
          <a:xfrm>
            <a:off x="3886200" y="2590800"/>
            <a:ext cx="457200" cy="404812"/>
          </a:xfrm>
          <a:prstGeom prst="rect">
            <a:avLst/>
          </a:prstGeom>
          <a:solidFill>
            <a:schemeClr val="bg1"/>
          </a:solidFill>
          <a:ln w="38100">
            <a:solidFill>
              <a:srgbClr val="003366"/>
            </a:solidFill>
            <a:round/>
            <a:headEnd/>
            <a:tailEnd/>
          </a:ln>
        </p:spPr>
        <p:txBody>
          <a:bodyPr lIns="0" numCol="1" rIns="0">
            <a:spAutoFit/>
          </a:bodyPr>
          <a:lstStyle/>
          <a:p>
            <a:pPr indent="0" marL="0"/>
            <a:r>
              <a:rPr dirty="0" lang="en-US" smtClean="0" sz="1800">
                <a:solidFill>
                  <a:schemeClr val="tx1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04</a:t>
            </a:r>
          </a:p>
        </p:txBody>
      </p:sp>
      <p:sp>
        <p:nvSpPr>
          <p:cNvPr id="472" name="Text Box 472"/>
          <p:cNvSpPr>
            <a:spLocks/>
          </p:cNvSpPr>
          <p:nvPr/>
        </p:nvSpPr>
        <p:spPr>
          <a:xfrm>
            <a:off x="4343400" y="2819400"/>
            <a:ext cx="914400" cy="381000"/>
          </a:xfrm>
          <a:prstGeom prst="line">
            <a:avLst/>
          </a:prstGeom>
          <a:noFill/>
          <a:ln w="38100">
            <a:solidFill>
              <a:srgbClr val="003366"/>
            </a:solidFill>
            <a:round/>
            <a:headEnd type="none"/>
            <a:tailEnd type="triangle"/>
          </a:ln>
        </p:spPr>
      </p:sp>
      <p:sp>
        <p:nvSpPr>
          <p:cNvPr id="473" name="Text Box 473"/>
          <p:cNvSpPr>
            <a:spLocks/>
          </p:cNvSpPr>
          <p:nvPr/>
        </p:nvSpPr>
        <p:spPr>
          <a:xfrm flipH="1">
            <a:off x="6705600" y="2819400"/>
            <a:ext cx="304800" cy="457200"/>
          </a:xfrm>
          <a:prstGeom prst="line">
            <a:avLst/>
          </a:prstGeom>
          <a:noFill/>
          <a:ln w="38100">
            <a:solidFill>
              <a:srgbClr val="003366"/>
            </a:solidFill>
            <a:round/>
            <a:headEnd type="none"/>
            <a:tailEnd type="triangle"/>
          </a:ln>
        </p:spPr>
      </p:sp>
      <p:sp>
        <p:nvSpPr>
          <p:cNvPr id="474" name="Text Box 474"/>
          <p:cNvSpPr txBox="1">
            <a:spLocks/>
          </p:cNvSpPr>
          <p:nvPr/>
        </p:nvSpPr>
        <p:spPr>
          <a:xfrm>
            <a:off x="6705600" y="2438400"/>
            <a:ext cx="2286000" cy="404812"/>
          </a:xfrm>
          <a:prstGeom prst="rect">
            <a:avLst/>
          </a:prstGeom>
          <a:solidFill>
            <a:schemeClr val="bg1"/>
          </a:solidFill>
          <a:ln w="38100">
            <a:solidFill>
              <a:srgbClr val="003366"/>
            </a:solidFill>
            <a:round/>
            <a:headEnd/>
            <a:tailEnd/>
          </a:ln>
        </p:spPr>
        <p:txBody>
          <a:bodyPr lIns="0" numCol="1" rIns="0">
            <a:spAutoFit/>
          </a:bodyPr>
          <a:lstStyle/>
          <a:p>
            <a:pPr indent="0" marL="0"/>
            <a:r>
              <a:rPr dirty="0" lang="en-US" smtClean="0" sz="1800">
                <a:solidFill>
                  <a:schemeClr val="tx1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Authentication Failed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Text Box 475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algn="ctr"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PPP Configuration Command Summary</a:t>
            </a:r>
          </a:p>
        </p:txBody>
      </p:sp>
      <p:sp>
        <p:nvSpPr>
          <p:cNvPr id="476" name="Text Box 476"/>
          <p:cNvSpPr>
            <a:spLocks/>
          </p:cNvSpPr>
          <p:nvPr>
            <p:ph type="body"/>
          </p:nvPr>
        </p:nvSpPr>
        <p:spPr>
          <a:xfrm>
            <a:off x="152400" y="1371600"/>
            <a:ext cx="8839200" cy="51054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>
              <a:buNone/>
            </a:pPr>
            <a:r>
              <a:rPr b="1" dirty="0" lang="en-US" smtClean="0">
                <a:latin charset="0" pitchFamily="49" typeface="Courier New"/>
              </a:rPr>
              <a:t>Router(config)#username</a:t>
            </a:r>
            <a:r>
              <a:rPr b="1" dirty="0" lang="en-US" smtClean="0">
                <a:solidFill>
                  <a:srgbClr val="FFFF00"/>
                </a:solidFill>
                <a:latin charset="0" pitchFamily="49" typeface="Courier New"/>
              </a:rPr>
              <a:t> name </a:t>
            </a:r>
            <a:r>
              <a:rPr b="1" dirty="0" lang="en-US" smtClean="0">
                <a:latin charset="0" pitchFamily="49" typeface="Courier New"/>
              </a:rPr>
              <a:t>password</a:t>
            </a:r>
            <a:r>
              <a:rPr b="1" dirty="0" lang="en-US" smtClean="0">
                <a:solidFill>
                  <a:srgbClr val="FFFF00"/>
                </a:solidFill>
                <a:latin charset="0" pitchFamily="49" typeface="Courier New"/>
              </a:rPr>
              <a:t> password</a:t>
            </a:r>
          </a:p>
          <a:p>
            <a:pPr indent="-342900" marL="342900">
              <a:buNone/>
            </a:pPr>
            <a:endParaRPr b="1" dirty="0" lang="en-US" smtClean="0">
              <a:solidFill>
                <a:srgbClr val="FFFF00"/>
              </a:solidFill>
              <a:latin charset="0" pitchFamily="49" typeface="Courier New"/>
            </a:endParaRPr>
          </a:p>
          <a:p>
            <a:pPr indent="-342900" marL="342900">
              <a:buNone/>
            </a:pPr>
            <a:r>
              <a:rPr b="1" dirty="0" lang="en-US" smtClean="0">
                <a:latin charset="0" pitchFamily="49" typeface="Courier New"/>
              </a:rPr>
              <a:t>Router(config)#interface serial 0/2/0</a:t>
            </a:r>
          </a:p>
          <a:p>
            <a:pPr indent="-342900" marL="342900">
              <a:buNone/>
            </a:pPr>
            <a:r>
              <a:rPr b="1" dirty="0" lang="en-US" smtClean="0">
                <a:latin charset="0" pitchFamily="49" typeface="Courier New"/>
              </a:rPr>
              <a:t>Router(config-if)#ip address </a:t>
            </a:r>
            <a:r>
              <a:rPr b="1" dirty="0" lang="en-US" smtClean="0">
                <a:solidFill>
                  <a:srgbClr val="FFFF00"/>
                </a:solidFill>
                <a:latin charset="0" pitchFamily="49" typeface="Courier New"/>
              </a:rPr>
              <a:t>address subnetmask</a:t>
            </a:r>
          </a:p>
          <a:p>
            <a:pPr indent="-342900" marL="342900">
              <a:buNone/>
            </a:pPr>
            <a:r>
              <a:rPr b="1" dirty="0" lang="en-US" smtClean="0">
                <a:latin charset="0" pitchFamily="49" typeface="Courier New"/>
              </a:rPr>
              <a:t>Router(config-if)#</a:t>
            </a:r>
            <a:r>
              <a:rPr b="1" dirty="0" lang="en-US" smtClean="0">
                <a:solidFill>
                  <a:srgbClr val="FFFF00"/>
                </a:solidFill>
                <a:latin charset="0" pitchFamily="49" typeface="Courier New"/>
              </a:rPr>
              <a:t>encapsulation ppp</a:t>
            </a:r>
          </a:p>
          <a:p>
            <a:pPr indent="-342900" marL="342900">
              <a:buNone/>
            </a:pPr>
            <a:r>
              <a:rPr b="1" dirty="0" lang="en-US" smtClean="0">
                <a:latin charset="0" pitchFamily="49" typeface="Courier New"/>
              </a:rPr>
              <a:t>Router(config-if)#ppp authentication </a:t>
            </a:r>
            <a:r>
              <a:rPr b="1" dirty="0" lang="en-US" smtClean="0">
                <a:solidFill>
                  <a:srgbClr val="FFFF00"/>
                </a:solidFill>
                <a:latin charset="0" pitchFamily="49" typeface="Courier New"/>
              </a:rPr>
              <a:t>chap</a:t>
            </a:r>
          </a:p>
          <a:p>
            <a:pPr indent="-342900" marL="342900">
              <a:buNone/>
            </a:pPr>
            <a:r>
              <a:rPr b="1" dirty="0" lang="en-US" smtClean="0">
                <a:solidFill>
                  <a:srgbClr val="FFFF00"/>
                </a:solidFill>
                <a:latin charset="0" pitchFamily="49" typeface="Courier New"/>
              </a:rPr>
              <a:t>					</a:t>
            </a:r>
            <a:r>
              <a:rPr dirty="0" lang="en-US" smtClean="0" sz="3200">
                <a:solidFill>
                  <a:srgbClr val="FFFF00"/>
                </a:solidFill>
              </a:rPr>
              <a:t>OR</a:t>
            </a:r>
          </a:p>
          <a:p>
            <a:pPr indent="-342900" marL="342900">
              <a:buNone/>
            </a:pPr>
            <a:r>
              <a:rPr b="1" dirty="0" lang="en-US" smtClean="0">
                <a:latin charset="0" pitchFamily="49" typeface="Courier New"/>
              </a:rPr>
              <a:t>Router(config-if)#ppp authentication </a:t>
            </a:r>
            <a:r>
              <a:rPr b="1" dirty="0" lang="en-US" smtClean="0">
                <a:solidFill>
                  <a:srgbClr val="FFFF00"/>
                </a:solidFill>
                <a:latin charset="0" pitchFamily="49" typeface="Courier New"/>
              </a:rPr>
              <a:t>pap</a:t>
            </a:r>
          </a:p>
          <a:p>
            <a:pPr indent="-342900" marL="342900">
              <a:buNone/>
            </a:pPr>
            <a:r>
              <a:rPr b="1" dirty="0" lang="en-US" smtClean="0">
                <a:latin charset="0" pitchFamily="49" typeface="Courier New"/>
              </a:rPr>
              <a:t>Router(config-if)#ppp pap sent-username </a:t>
            </a:r>
            <a:r>
              <a:rPr b="1" dirty="0" lang="en-US" smtClean="0">
                <a:solidFill>
                  <a:srgbClr val="FFFF00"/>
                </a:solidFill>
                <a:latin charset="0" pitchFamily="49" typeface="Courier New"/>
              </a:rPr>
              <a:t>name</a:t>
            </a:r>
            <a:r>
              <a:rPr b="1" dirty="0" lang="en-US" smtClean="0">
                <a:latin charset="0" pitchFamily="49" typeface="Courier New"/>
              </a:rPr>
              <a:t> 						 password </a:t>
            </a:r>
            <a:r>
              <a:rPr b="1" dirty="0" lang="en-US" smtClean="0">
                <a:solidFill>
                  <a:srgbClr val="FFFF00"/>
                </a:solidFill>
                <a:latin charset="0" pitchFamily="49" typeface="Courier New"/>
              </a:rPr>
              <a:t>password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Text Box 477"/>
          <p:cNvSpPr>
            <a:spLocks/>
          </p:cNvSpPr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ctr" bIns="45720" lIns="91440" numCol="1" rIns="91440" tIns="45720" wrap="square"/>
          <a:lstStyle/>
          <a:p>
            <a:pPr indent="0" marL="0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</a:t>
            </a:r>
            <a:r>
              <a:rPr b="1" dirty="0" i="1" lang="en-US" smtClean="0"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</a:rPr>
              <a:t>debug ppp</a:t>
            </a:r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</a:rPr>
              <a:t> Command Summary</a:t>
            </a:r>
            <a:r>
              <a:rPr b="1"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</a:rPr>
              <a:t> </a:t>
            </a:r>
          </a:p>
        </p:txBody>
      </p:sp>
      <p:sp>
        <p:nvSpPr>
          <p:cNvPr id="478" name="Text Box 478"/>
          <p:cNvSpPr>
            <a:spLocks/>
          </p:cNvSpPr>
          <p:nvPr>
            <p:ph type="body"/>
          </p:nvPr>
        </p:nvSpPr>
        <p:spPr>
          <a:xfrm>
            <a:off x="152400" y="1371600"/>
            <a:ext cx="8839200" cy="5334000"/>
          </a:xfrm>
          <a:prstGeom prst="rect">
            <a:avLst/>
          </a:prstGeom>
        </p:spPr>
        <p:txBody>
          <a:bodyPr anchor="t" bIns="45720" lIns="91440" numCol="1" rIns="91440" tIns="45720" wrap="square"/>
          <a:lstStyle/>
          <a:p>
            <a:pPr indent="-342900" marL="342900"/>
            <a:r>
              <a:rPr b="1"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typeface="Arial"/>
              </a:rPr>
              <a:t>debug ppp</a:t>
            </a:r>
            <a:r>
              <a:rPr b="1" dirty="0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typeface="Arial"/>
              </a:rPr>
              <a:t> </a:t>
            </a:r>
            <a:r>
              <a:rPr b="1" dirty="0" i="1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typeface="Arial"/>
              </a:rPr>
              <a:t>argument</a:t>
            </a:r>
          </a:p>
          <a:p>
            <a:pPr indent="-288925" lvl="1" marL="855662"/>
            <a:r>
              <a:rPr b="1"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typeface="Arial"/>
              </a:rPr>
              <a:t>debug ppp</a:t>
            </a:r>
            <a:r>
              <a:rPr b="1" dirty="0" i="1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typeface="Arial"/>
              </a:rPr>
              <a:t> authentication</a:t>
            </a:r>
          </a:p>
          <a:p>
            <a:pPr indent="-285750" lvl="3" marL="1711325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Display the authentication exchange sequence.</a:t>
            </a:r>
          </a:p>
          <a:p>
            <a:pPr indent="-288925" lvl="1" marL="855662"/>
            <a:r>
              <a:rPr b="1"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typeface="Arial"/>
              </a:rPr>
              <a:t>debug ppp</a:t>
            </a:r>
            <a:r>
              <a:rPr b="1" dirty="0" i="1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typeface="Arial"/>
              </a:rPr>
              <a:t> chap</a:t>
            </a:r>
          </a:p>
          <a:p>
            <a:pPr indent="-285750" lvl="3" marL="1711325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Display CHAP packet exchanges.</a:t>
            </a:r>
          </a:p>
          <a:p>
            <a:pPr indent="-288925" lvl="1" marL="855662"/>
            <a:r>
              <a:rPr b="1"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typeface="Arial"/>
              </a:rPr>
              <a:t>debug ppp</a:t>
            </a:r>
            <a:r>
              <a:rPr b="1" dirty="0" i="1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typeface="Arial"/>
              </a:rPr>
              <a:t> error</a:t>
            </a:r>
          </a:p>
          <a:p>
            <a:pPr indent="-285750" lvl="3" marL="1711325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Display protocol errors and error statistics.</a:t>
            </a:r>
          </a:p>
          <a:p>
            <a:pPr indent="-288925" lvl="1" marL="855662"/>
            <a:r>
              <a:rPr b="1"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typeface="Arial"/>
              </a:rPr>
              <a:t>debug ppp</a:t>
            </a:r>
            <a:r>
              <a:rPr b="1" dirty="0" i="1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typeface="Arial"/>
              </a:rPr>
              <a:t> negotiation</a:t>
            </a:r>
          </a:p>
          <a:p>
            <a:pPr indent="-285750" lvl="3" marL="1711325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Display packets during connection establishment.</a:t>
            </a:r>
          </a:p>
          <a:p>
            <a:pPr indent="-288925" lvl="1" marL="855662"/>
            <a:r>
              <a:rPr b="1"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typeface="Arial"/>
              </a:rPr>
              <a:t>debug ppp</a:t>
            </a:r>
            <a:r>
              <a:rPr b="1" dirty="0" i="1" lang="en-US" smtClean="0">
                <a:solidFill>
                  <a:srgbClr val="FFFF00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charset="0" pitchFamily="49" typeface="Courier New"/>
                <a:ea charset="0" typeface="Arial"/>
              </a:rPr>
              <a:t> packet</a:t>
            </a:r>
          </a:p>
          <a:p>
            <a:pPr indent="-285750" lvl="3" marL="1711325"/>
            <a:r>
              <a:rPr dirty="0" lang="en-US" smtClean="0">
                <a:effectLst>
                  <a:outerShdw algn="tl" blurRad="38100" dir="2700000" dist="38100">
                    <a:srgbClr val="C0C0C0"/>
                  </a:outerShdw>
                </a:effectLst>
                <a:ea charset="0" typeface="Arial"/>
              </a:rPr>
              <a:t>Display packets being sent and received.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algn="ctr" cap="flat" cmpd="sng" w="9525">
          <a:solidFill>
            <a:schemeClr val="phClr">
              <a:shade val="95000"/>
              <a:satMod val="105000"/>
            </a:schemeClr>
          </a:solidFill>
          <a:prstDash val="solid"/>
        </a:ln>
        <a:ln algn="ctr" cap="flat" cmpd="sng" w="25400">
          <a:solidFill>
            <a:schemeClr val="phClr"/>
          </a:solidFill>
          <a:prstDash val="solid"/>
        </a:ln>
        <a:ln algn="ctr" cap="flat" cmpd="sng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accent1="accent1" accent2="accent2" accent3="accent3" accent4="accent4" accent5="accent5" accent6="accent6" bg1="dk2" bg2="dk1" folHlink="folHlink" hlink="hlink" tx1="lt1" tx2="lt2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algn="ctr" cap="flat" cmpd="sng" w="9525">
          <a:solidFill>
            <a:schemeClr val="phClr">
              <a:shade val="95000"/>
              <a:satMod val="105000"/>
            </a:schemeClr>
          </a:solidFill>
          <a:prstDash val="solid"/>
        </a:ln>
        <a:ln algn="ctr" cap="flat" cmpd="sng" w="25400">
          <a:solidFill>
            <a:schemeClr val="phClr"/>
          </a:solidFill>
          <a:prstDash val="solid"/>
        </a:ln>
        <a:ln algn="ctr" cap="flat" cmpd="sng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accent1="accent1" accent2="accent2" accent3="accent3" accent4="accent4" accent5="accent5" accent6="accent6" bg1="lt1" bg2="lt2" folHlink="folHlink" hlink="hlink" tx1="dk1" tx2="dk2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accent1="accent1" accent2="accent2" accent3="accent3" accent4="accent4" accent5="accent5" accent6="accent6" bg1="dk2" bg2="dk1" folHlink="folHlink" hlink="hlink" tx1="lt1" tx2="lt2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accent1="accent1" accent2="accent2" accent3="accent3" accent4="accent4" accent5="accent5" accent6="accent6" bg1="dk2" bg2="dk1" folHlink="folHlink" hlink="hlink" tx1="lt1" tx2="lt2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Words>1926</Words>
  <Paragraphs>385</Paragraphs>
  <Slides>49</Slides>
  <Notes>0</Notes>
  <TotalTime>0</TotalTime>
  <HiddenSlides>0</HiddenSlides>
  <ScaleCrop>false</ScaleCrop>
  <HyperlinksChanged>false</HyperlinksChanged>
  <Application>Microsoft Office PowerPoint</Application>
  <PresentationFormat/>
</Properties>
</file>